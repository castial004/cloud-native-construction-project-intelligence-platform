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8"/>
  </p:notesMasterIdLst>
  <p:sldIdLst>
    <p:sldId id="256" r:id="rId2"/>
    <p:sldId id="257" r:id="rId3"/>
    <p:sldId id="273" r:id="rId4"/>
    <p:sldId id="259" r:id="rId5"/>
    <p:sldId id="274" r:id="rId6"/>
    <p:sldId id="275" r:id="rId7"/>
    <p:sldId id="262" r:id="rId8"/>
    <p:sldId id="263" r:id="rId9"/>
    <p:sldId id="264" r:id="rId10"/>
    <p:sldId id="276" r:id="rId11"/>
    <p:sldId id="266" r:id="rId12"/>
    <p:sldId id="267" r:id="rId13"/>
    <p:sldId id="268" r:id="rId14"/>
    <p:sldId id="269" r:id="rId15"/>
    <p:sldId id="272" r:id="rId16"/>
    <p:sldId id="271" r:id="rId17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10"/>
  </p:normalViewPr>
  <p:slideViewPr>
    <p:cSldViewPr snapToGrid="0" snapToObjects="1">
      <p:cViewPr varScale="1">
        <p:scale>
          <a:sx n="79" d="100"/>
          <a:sy n="79" d="100"/>
        </p:scale>
        <p:origin x="188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5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KPI</c:v>
                </c:pt>
              </c:strCache>
            </c:strRef>
          </c:tx>
          <c:spPr>
            <a:solidFill>
              <a:srgbClr val="2E8CFF"/>
            </a:solidFill>
            <a:effectLst/>
          </c:spPr>
          <c:invertIfNegative val="0"/>
          <c:cat>
            <c:strRef>
              <c:f>Sheet1!$A$2:$A$4</c:f>
              <c:strCache>
                <c:ptCount val="3"/>
                <c:pt idx="0">
                  <c:v>Budget</c:v>
                </c:pt>
                <c:pt idx="1">
                  <c:v>EV</c:v>
                </c:pt>
                <c:pt idx="2">
                  <c:v>CPI×40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82</c:v>
                </c:pt>
                <c:pt idx="1">
                  <c:v>68</c:v>
                </c:pt>
                <c:pt idx="2">
                  <c:v>74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ABDB-4E54-958B-067FE6879A9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4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26314A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7C8AA3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Budget</c:v>
                </c:pt>
              </c:strCache>
            </c:strRef>
          </c:tx>
          <c:spPr>
            <a:solidFill>
              <a:srgbClr val="7C8AA3"/>
            </a:solidFill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Q1</c:v>
                </c:pt>
                <c:pt idx="1">
                  <c:v>Q2</c:v>
                </c:pt>
                <c:pt idx="2">
                  <c:v>Q3</c:v>
                </c:pt>
                <c:pt idx="3">
                  <c:v>Q4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40</c:v>
                </c:pt>
                <c:pt idx="1">
                  <c:v>55</c:v>
                </c:pt>
                <c:pt idx="2">
                  <c:v>65</c:v>
                </c:pt>
                <c:pt idx="3">
                  <c:v>80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3071-4343-9387-51E9F30B7255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Actual</c:v>
                </c:pt>
              </c:strCache>
            </c:strRef>
          </c:tx>
          <c:spPr>
            <a:solidFill>
              <a:srgbClr val="35E8E0"/>
            </a:solidFill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Q1</c:v>
                </c:pt>
                <c:pt idx="1">
                  <c:v>Q2</c:v>
                </c:pt>
                <c:pt idx="2">
                  <c:v>Q3</c:v>
                </c:pt>
                <c:pt idx="3">
                  <c:v>Q4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42</c:v>
                </c:pt>
                <c:pt idx="1">
                  <c:v>58</c:v>
                </c:pt>
                <c:pt idx="2">
                  <c:v>70</c:v>
                </c:pt>
                <c:pt idx="3">
                  <c:v>92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3071-4343-9387-51E9F30B725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3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26314A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7C8AA3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SPI</c:v>
                </c:pt>
              </c:strCache>
            </c:strRef>
          </c:tx>
          <c:spPr>
            <a:ln w="28575" cap="flat">
              <a:solidFill>
                <a:srgbClr val="FFD400"/>
              </a:solidFill>
              <a:prstDash val="solid"/>
              <a:round/>
            </a:ln>
            <a:effectLst/>
          </c:spPr>
          <c:marker>
            <c:symbol val="none"/>
          </c:marker>
          <c:cat>
            <c:strRef>
              <c:f>Sheet1!$A$2:$A$7</c:f>
              <c:strCache>
                <c:ptCount val="6"/>
                <c:pt idx="0">
                  <c:v>J</c:v>
                </c:pt>
                <c:pt idx="1">
                  <c:v>F</c:v>
                </c:pt>
                <c:pt idx="2">
                  <c:v>M</c:v>
                </c:pt>
                <c:pt idx="3">
                  <c:v>A</c:v>
                </c:pt>
                <c:pt idx="4">
                  <c:v>M</c:v>
                </c:pt>
                <c:pt idx="5">
                  <c:v>J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1</c:v>
                </c:pt>
                <c:pt idx="1">
                  <c:v>0.97</c:v>
                </c:pt>
                <c:pt idx="2">
                  <c:v>0.93</c:v>
                </c:pt>
                <c:pt idx="3">
                  <c:v>0.9</c:v>
                </c:pt>
                <c:pt idx="4">
                  <c:v>0.88</c:v>
                </c:pt>
                <c:pt idx="5">
                  <c:v>0.85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E3CE-410F-9BD7-6F52361C2CD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26314A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7C8AA3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Risk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35E8E0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1B05-4EC3-B252-B44B29CEF66D}"/>
              </c:ext>
            </c:extLst>
          </c:dPt>
          <c:dPt>
            <c:idx val="1"/>
            <c:bubble3D val="0"/>
            <c:spPr>
              <a:solidFill>
                <a:srgbClr val="FFD400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1B05-4EC3-B252-B44B29CEF66D}"/>
              </c:ext>
            </c:extLst>
          </c:dPt>
          <c:dPt>
            <c:idx val="2"/>
            <c:bubble3D val="0"/>
            <c:spPr>
              <a:solidFill>
                <a:srgbClr val="FF3B5C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1B05-4EC3-B252-B44B29CEF66D}"/>
              </c:ext>
            </c:extLst>
          </c:dPt>
          <c:cat>
            <c:strRef>
              <c:f>Sheet1!$A$2:$A$4</c:f>
              <c:strCache>
                <c:ptCount val="3"/>
                <c:pt idx="0">
                  <c:v>Low Risk</c:v>
                </c:pt>
                <c:pt idx="1">
                  <c:v>Medium Risk</c:v>
                </c:pt>
                <c:pt idx="2">
                  <c:v>High Risk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55</c:v>
                </c:pt>
                <c:pt idx="1">
                  <c:v>30</c:v>
                </c:pt>
                <c:pt idx="2">
                  <c:v>15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1B05-4EC3-B252-B44B29CEF66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  <c:holeSize val="55"/>
      </c:doughnutChart>
      <c:spPr>
        <a:noFill/>
        <a:ln>
          <a:noFill/>
        </a:ln>
        <a:effectLst/>
      </c:spPr>
    </c:plotArea>
    <c:legend>
      <c:legendPos val="r"/>
      <c:overlay val="0"/>
      <c:txPr>
        <a:bodyPr/>
        <a:lstStyle/>
        <a:p>
          <a:pPr>
            <a:defRPr sz="1000">
              <a:solidFill>
                <a:srgbClr val="AEB9CC"/>
              </a:solidFill>
            </a:defRPr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Uptime</c:v>
                </c:pt>
              </c:strCache>
            </c:strRef>
          </c:tx>
          <c:spPr>
            <a:solidFill>
              <a:srgbClr val="35E8E0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0" i="0" u="none" strike="noStrike">
                    <a:solidFill>
                      <a:srgbClr val="0A0E1A"/>
                    </a:solidFill>
                    <a:latin typeface="Arial"/>
                  </a:defRPr>
                </a:pPr>
                <a:endParaRPr lang="en-US"/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Ingestion</c:v>
                </c:pt>
                <c:pt idx="1">
                  <c:v>Analytics</c:v>
                </c:pt>
                <c:pt idx="2">
                  <c:v>Risk API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99</c:v>
                </c:pt>
                <c:pt idx="1">
                  <c:v>98</c:v>
                </c:pt>
                <c:pt idx="2">
                  <c:v>97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0357-4A74-A22A-D37994F38F78}"/>
            </c:ext>
          </c:extLst>
        </c:ser>
        <c:dLbls>
          <c:dLblPos val="inEnd"/>
          <c:showLegendKey val="0"/>
          <c:showVal val="1"/>
          <c:showCatName val="0"/>
          <c:showSerName val="0"/>
          <c:showPercent val="0"/>
          <c:showBubbleSize val="0"/>
        </c:dLbls>
        <c:gapWidth val="4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26314A"/>
            </a:solidFill>
            <a:prstDash val="solid"/>
            <a:round/>
          </a:ln>
        </c:spPr>
        <c:txPr>
          <a:bodyPr/>
          <a:lstStyle/>
          <a:p>
            <a:pPr>
              <a:defRPr sz="950" b="0" i="0" u="none" strike="noStrike">
                <a:solidFill>
                  <a:srgbClr val="AEB9CC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1"/>
        <c:axPos val="b"/>
        <c:numFmt formatCode="General" sourceLinked="0"/>
        <c:majorTickMark val="out"/>
        <c:minorTickMark val="none"/>
        <c:tickLblPos val="low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5084614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A306CA-775A-AF9C-25A8-D9E8C3CF06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03248DF-9881-9F5F-16EC-8EBCD6B11C3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F5A78DF-3EBA-6CDD-C5CA-0EDEC19E9AA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FA68E7B-0216-8D0D-1085-9B6109B3F1F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977062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CC76BB-4814-B36D-3877-B95187CB14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5EE9842-6692-C356-84A9-59E8C787379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56AD1E9-88BD-E73C-EBF9-C5FF0B71136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490CCBB-0B1F-FA2D-91C5-0C6F630FEEB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992006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07ACA7-9B90-4408-DB59-C7DEDCD9A3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6BA9651-9407-DE67-02EE-C12EC173F03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C5D5680-F8C9-0C52-D09D-80D9272D5A7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BD05BD2-7D48-34A1-12CA-76D4B69417C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241575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83A629-1278-329A-0010-9B9E3E9213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08DCBFB-F976-1ED1-A1B5-6C55E1741C3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0EBF760-8E7B-0C96-94A7-00E6B412505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7A86DE3-ADFB-A638-6C2A-FB31B784201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401120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image" Target="../media/image7.png"/><Relationship Id="rId7" Type="http://schemas.openxmlformats.org/officeDocument/2006/relationships/image" Target="../media/image1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Relationship Id="rId9" Type="http://schemas.openxmlformats.org/officeDocument/2006/relationships/image" Target="../media/image1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7" Type="http://schemas.openxmlformats.org/officeDocument/2006/relationships/image" Target="../media/image19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0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0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8.png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.png"/><Relationship Id="rId3" Type="http://schemas.openxmlformats.org/officeDocument/2006/relationships/image" Target="../media/image7.png"/><Relationship Id="rId7" Type="http://schemas.openxmlformats.org/officeDocument/2006/relationships/image" Target="../media/image1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5.png"/><Relationship Id="rId5" Type="http://schemas.openxmlformats.org/officeDocument/2006/relationships/image" Target="../media/image24.png"/><Relationship Id="rId4" Type="http://schemas.openxmlformats.org/officeDocument/2006/relationships/image" Target="../media/image23.png"/><Relationship Id="rId9" Type="http://schemas.openxmlformats.org/officeDocument/2006/relationships/image" Target="../media/image27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32.png"/><Relationship Id="rId3" Type="http://schemas.openxmlformats.org/officeDocument/2006/relationships/image" Target="../media/image7.png"/><Relationship Id="rId7" Type="http://schemas.openxmlformats.org/officeDocument/2006/relationships/image" Target="../media/image3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0.png"/><Relationship Id="rId11" Type="http://schemas.openxmlformats.org/officeDocument/2006/relationships/image" Target="../media/image34.png"/><Relationship Id="rId5" Type="http://schemas.openxmlformats.org/officeDocument/2006/relationships/image" Target="../media/image29.png"/><Relationship Id="rId10" Type="http://schemas.openxmlformats.org/officeDocument/2006/relationships/image" Target="../media/image26.png"/><Relationship Id="rId4" Type="http://schemas.openxmlformats.org/officeDocument/2006/relationships/image" Target="../media/image28.png"/><Relationship Id="rId9" Type="http://schemas.openxmlformats.org/officeDocument/2006/relationships/image" Target="../media/image33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39.png"/><Relationship Id="rId3" Type="http://schemas.openxmlformats.org/officeDocument/2006/relationships/image" Target="../media/image7.png"/><Relationship Id="rId7" Type="http://schemas.openxmlformats.org/officeDocument/2006/relationships/image" Target="../media/image38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7.png"/><Relationship Id="rId5" Type="http://schemas.openxmlformats.org/officeDocument/2006/relationships/image" Target="../media/image36.png"/><Relationship Id="rId10" Type="http://schemas.openxmlformats.org/officeDocument/2006/relationships/image" Target="../media/image41.png"/><Relationship Id="rId4" Type="http://schemas.openxmlformats.org/officeDocument/2006/relationships/image" Target="../media/image35.png"/><Relationship Id="rId9" Type="http://schemas.openxmlformats.org/officeDocument/2006/relationships/image" Target="../media/image40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png"/><Relationship Id="rId3" Type="http://schemas.openxmlformats.org/officeDocument/2006/relationships/image" Target="../media/image7.png"/><Relationship Id="rId7" Type="http://schemas.openxmlformats.org/officeDocument/2006/relationships/image" Target="../media/image25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7.png"/><Relationship Id="rId11" Type="http://schemas.openxmlformats.org/officeDocument/2006/relationships/image" Target="../media/image44.png"/><Relationship Id="rId5" Type="http://schemas.openxmlformats.org/officeDocument/2006/relationships/image" Target="../media/image43.png"/><Relationship Id="rId10" Type="http://schemas.openxmlformats.org/officeDocument/2006/relationships/image" Target="../media/image13.png"/><Relationship Id="rId4" Type="http://schemas.openxmlformats.org/officeDocument/2006/relationships/image" Target="../media/image42.png"/><Relationship Id="rId9" Type="http://schemas.openxmlformats.org/officeDocument/2006/relationships/image" Target="../media/image26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png"/><Relationship Id="rId13" Type="http://schemas.openxmlformats.org/officeDocument/2006/relationships/image" Target="../media/image51.png"/><Relationship Id="rId3" Type="http://schemas.openxmlformats.org/officeDocument/2006/relationships/image" Target="../media/image7.png"/><Relationship Id="rId7" Type="http://schemas.openxmlformats.org/officeDocument/2006/relationships/image" Target="../media/image43.png"/><Relationship Id="rId12" Type="http://schemas.openxmlformats.org/officeDocument/2006/relationships/image" Target="../media/image50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6.png"/><Relationship Id="rId11" Type="http://schemas.openxmlformats.org/officeDocument/2006/relationships/image" Target="../media/image49.png"/><Relationship Id="rId5" Type="http://schemas.openxmlformats.org/officeDocument/2006/relationships/image" Target="../media/image46.png"/><Relationship Id="rId10" Type="http://schemas.openxmlformats.org/officeDocument/2006/relationships/image" Target="../media/image48.png"/><Relationship Id="rId4" Type="http://schemas.openxmlformats.org/officeDocument/2006/relationships/image" Target="../media/image45.png"/><Relationship Id="rId9" Type="http://schemas.openxmlformats.org/officeDocument/2006/relationships/image" Target="../media/image47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7.png"/><Relationship Id="rId5" Type="http://schemas.openxmlformats.org/officeDocument/2006/relationships/image" Target="../media/image46.png"/><Relationship Id="rId4" Type="http://schemas.openxmlformats.org/officeDocument/2006/relationships/image" Target="../media/image17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chart" Target="../charts/chart5.xml"/><Relationship Id="rId3" Type="http://schemas.openxmlformats.org/officeDocument/2006/relationships/image" Target="../media/image7.png"/><Relationship Id="rId7" Type="http://schemas.openxmlformats.org/officeDocument/2006/relationships/chart" Target="../charts/chart4.xml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6" Type="http://schemas.openxmlformats.org/officeDocument/2006/relationships/chart" Target="../charts/chart3.xml"/><Relationship Id="rId5" Type="http://schemas.openxmlformats.org/officeDocument/2006/relationships/chart" Target="../charts/chart2.xml"/><Relationship Id="rId4" Type="http://schemas.openxmlformats.org/officeDocument/2006/relationships/chart" Target="../charts/char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png"/><Relationship Id="rId7" Type="http://schemas.openxmlformats.org/officeDocument/2006/relationships/image" Target="../media/image26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.png"/><Relationship Id="rId5" Type="http://schemas.openxmlformats.org/officeDocument/2006/relationships/image" Target="../media/image18.png"/><Relationship Id="rId4" Type="http://schemas.openxmlformats.org/officeDocument/2006/relationships/image" Target="../media/image23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work/backgrounds/bg_titl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640080" y="1048432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kern="0" spc="300" dirty="0">
                <a:solidFill>
                  <a:srgbClr val="2E8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 ANALYTICS PROJECT</a:t>
            </a:r>
            <a:endParaRPr lang="en-US" sz="2800" dirty="0"/>
          </a:p>
        </p:txBody>
      </p:sp>
      <p:sp>
        <p:nvSpPr>
          <p:cNvPr id="4" name="Text 1"/>
          <p:cNvSpPr txBox="1"/>
          <p:nvPr/>
        </p:nvSpPr>
        <p:spPr>
          <a:xfrm>
            <a:off x="609905" y="1773455"/>
            <a:ext cx="87782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48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Cloud-Native Construction</a:t>
            </a:r>
            <a:endParaRPr lang="en-US" sz="4200" dirty="0"/>
          </a:p>
          <a:p>
            <a:pPr marL="0" indent="0">
              <a:lnSpc>
                <a:spcPts val="48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Project Intelligence Platform</a:t>
            </a:r>
            <a:endParaRPr lang="en-US" sz="4200" dirty="0"/>
          </a:p>
        </p:txBody>
      </p:sp>
      <p:sp>
        <p:nvSpPr>
          <p:cNvPr id="5" name="Text 2"/>
          <p:cNvSpPr txBox="1"/>
          <p:nvPr/>
        </p:nvSpPr>
        <p:spPr>
          <a:xfrm>
            <a:off x="640080" y="3677813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i="1" dirty="0">
                <a:solidFill>
                  <a:srgbClr val="4FD1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Predictive delay and cost monitoring across Power BI, Docker and Kubernetes</a:t>
            </a:r>
            <a:endParaRPr lang="en-US" dirty="0"/>
          </a:p>
        </p:txBody>
      </p:sp>
      <p:sp>
        <p:nvSpPr>
          <p:cNvPr id="6" name="Shape 3"/>
          <p:cNvSpPr/>
          <p:nvPr/>
        </p:nvSpPr>
        <p:spPr>
          <a:xfrm>
            <a:off x="9966960" y="914400"/>
            <a:ext cx="1188720" cy="548640"/>
          </a:xfrm>
          <a:prstGeom prst="line">
            <a:avLst/>
          </a:prstGeom>
          <a:noFill/>
          <a:ln w="15875">
            <a:solidFill>
              <a:srgbClr val="26314A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9966960" y="914400"/>
            <a:ext cx="640080" cy="1280160"/>
          </a:xfrm>
          <a:prstGeom prst="line">
            <a:avLst/>
          </a:prstGeom>
          <a:noFill/>
          <a:ln w="15875">
            <a:solidFill>
              <a:srgbClr val="26314A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11155680" y="1463040"/>
            <a:ext cx="365760" cy="1280160"/>
          </a:xfrm>
          <a:prstGeom prst="line">
            <a:avLst/>
          </a:prstGeom>
          <a:noFill/>
          <a:ln w="15875">
            <a:solidFill>
              <a:srgbClr val="26314A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9692640" y="2194560"/>
            <a:ext cx="914400" cy="731520"/>
          </a:xfrm>
          <a:prstGeom prst="line">
            <a:avLst/>
          </a:prstGeom>
          <a:noFill/>
          <a:ln w="15875">
            <a:solidFill>
              <a:srgbClr val="26314A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10607040" y="2194560"/>
            <a:ext cx="274320" cy="1463040"/>
          </a:xfrm>
          <a:prstGeom prst="line">
            <a:avLst/>
          </a:prstGeom>
          <a:noFill/>
          <a:ln w="15875">
            <a:solidFill>
              <a:srgbClr val="26314A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10881360" y="2743200"/>
            <a:ext cx="640080" cy="914400"/>
          </a:xfrm>
          <a:prstGeom prst="line">
            <a:avLst/>
          </a:prstGeom>
          <a:noFill/>
          <a:ln w="15875">
            <a:solidFill>
              <a:srgbClr val="26314A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9966960" y="914400"/>
            <a:ext cx="164592" cy="164592"/>
          </a:xfrm>
          <a:prstGeom prst="ellipse">
            <a:avLst/>
          </a:prstGeom>
          <a:solidFill>
            <a:srgbClr val="2E8CFF"/>
          </a:solidFill>
          <a:ln/>
        </p:spPr>
      </p:sp>
      <p:sp>
        <p:nvSpPr>
          <p:cNvPr id="13" name="Shape 10"/>
          <p:cNvSpPr/>
          <p:nvPr/>
        </p:nvSpPr>
        <p:spPr>
          <a:xfrm>
            <a:off x="11155680" y="1463040"/>
            <a:ext cx="109728" cy="109728"/>
          </a:xfrm>
          <a:prstGeom prst="ellipse">
            <a:avLst/>
          </a:prstGeom>
          <a:solidFill>
            <a:srgbClr val="35E8E0"/>
          </a:solidFill>
          <a:ln/>
        </p:spPr>
      </p:sp>
      <p:sp>
        <p:nvSpPr>
          <p:cNvPr id="14" name="Shape 11"/>
          <p:cNvSpPr/>
          <p:nvPr/>
        </p:nvSpPr>
        <p:spPr>
          <a:xfrm>
            <a:off x="10607040" y="2194560"/>
            <a:ext cx="128016" cy="128016"/>
          </a:xfrm>
          <a:prstGeom prst="ellipse">
            <a:avLst/>
          </a:prstGeom>
          <a:solidFill>
            <a:srgbClr val="FFD400"/>
          </a:solidFill>
          <a:ln/>
        </p:spPr>
      </p:sp>
      <p:sp>
        <p:nvSpPr>
          <p:cNvPr id="15" name="Shape 12"/>
          <p:cNvSpPr/>
          <p:nvPr/>
        </p:nvSpPr>
        <p:spPr>
          <a:xfrm>
            <a:off x="11521440" y="2743200"/>
            <a:ext cx="91440" cy="91440"/>
          </a:xfrm>
          <a:prstGeom prst="ellipse">
            <a:avLst/>
          </a:prstGeom>
          <a:solidFill>
            <a:srgbClr val="2E8CFF"/>
          </a:solidFill>
          <a:ln/>
        </p:spPr>
      </p:sp>
      <p:sp>
        <p:nvSpPr>
          <p:cNvPr id="16" name="Shape 13"/>
          <p:cNvSpPr/>
          <p:nvPr/>
        </p:nvSpPr>
        <p:spPr>
          <a:xfrm>
            <a:off x="9692640" y="2926080"/>
            <a:ext cx="91440" cy="91440"/>
          </a:xfrm>
          <a:prstGeom prst="ellipse">
            <a:avLst/>
          </a:prstGeom>
          <a:solidFill>
            <a:srgbClr val="FF3B5C"/>
          </a:solidFill>
          <a:ln/>
        </p:spPr>
      </p:sp>
      <p:sp>
        <p:nvSpPr>
          <p:cNvPr id="17" name="Shape 14"/>
          <p:cNvSpPr/>
          <p:nvPr/>
        </p:nvSpPr>
        <p:spPr>
          <a:xfrm>
            <a:off x="10881360" y="3657600"/>
            <a:ext cx="146304" cy="146304"/>
          </a:xfrm>
          <a:prstGeom prst="ellipse">
            <a:avLst/>
          </a:prstGeom>
          <a:solidFill>
            <a:srgbClr val="35E8E0"/>
          </a:solidFill>
          <a:ln/>
        </p:spPr>
      </p:sp>
      <p:pic>
        <p:nvPicPr>
          <p:cNvPr id="18" name="Image 1" descr="/home/claude/work/icons/docker_soli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" y="4791456"/>
            <a:ext cx="566928" cy="566928"/>
          </a:xfrm>
          <a:prstGeom prst="rect">
            <a:avLst/>
          </a:prstGeom>
        </p:spPr>
      </p:pic>
      <p:sp>
        <p:nvSpPr>
          <p:cNvPr id="19" name="Text 15"/>
          <p:cNvSpPr txBox="1"/>
          <p:nvPr/>
        </p:nvSpPr>
        <p:spPr>
          <a:xfrm>
            <a:off x="393192" y="5606235"/>
            <a:ext cx="10241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AEB9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</a:t>
            </a:r>
            <a:endParaRPr lang="en-US" sz="1300" dirty="0"/>
          </a:p>
        </p:txBody>
      </p:sp>
      <p:pic>
        <p:nvPicPr>
          <p:cNvPr id="20" name="Image 2" descr="/home/claude/work/icons/kubernetes_soli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331720" y="4791456"/>
            <a:ext cx="566928" cy="566928"/>
          </a:xfrm>
          <a:prstGeom prst="rect">
            <a:avLst/>
          </a:prstGeom>
        </p:spPr>
      </p:pic>
      <p:sp>
        <p:nvSpPr>
          <p:cNvPr id="21" name="Text 16"/>
          <p:cNvSpPr txBox="1"/>
          <p:nvPr/>
        </p:nvSpPr>
        <p:spPr>
          <a:xfrm>
            <a:off x="2084832" y="5606235"/>
            <a:ext cx="10241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AEB9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Kubernetes</a:t>
            </a:r>
            <a:endParaRPr lang="en-US" sz="1300" dirty="0"/>
          </a:p>
        </p:txBody>
      </p:sp>
      <p:pic>
        <p:nvPicPr>
          <p:cNvPr id="22" name="Image 3" descr="/home/claude/work/icons/postgresql_soli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023360" y="4791456"/>
            <a:ext cx="566928" cy="566928"/>
          </a:xfrm>
          <a:prstGeom prst="rect">
            <a:avLst/>
          </a:prstGeom>
        </p:spPr>
      </p:pic>
      <p:sp>
        <p:nvSpPr>
          <p:cNvPr id="23" name="Text 17"/>
          <p:cNvSpPr txBox="1"/>
          <p:nvPr/>
        </p:nvSpPr>
        <p:spPr>
          <a:xfrm>
            <a:off x="3776472" y="5606235"/>
            <a:ext cx="10241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AEB9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</a:t>
            </a:r>
            <a:endParaRPr lang="en-US" sz="1300" dirty="0"/>
          </a:p>
        </p:txBody>
      </p:sp>
      <p:pic>
        <p:nvPicPr>
          <p:cNvPr id="24" name="Image 4" descr="/home/claude/work/icons/python_soli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715000" y="4791456"/>
            <a:ext cx="566928" cy="566928"/>
          </a:xfrm>
          <a:prstGeom prst="rect">
            <a:avLst/>
          </a:prstGeom>
        </p:spPr>
      </p:pic>
      <p:sp>
        <p:nvSpPr>
          <p:cNvPr id="25" name="Text 18"/>
          <p:cNvSpPr txBox="1"/>
          <p:nvPr/>
        </p:nvSpPr>
        <p:spPr>
          <a:xfrm>
            <a:off x="5468112" y="5606235"/>
            <a:ext cx="10241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AEB9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</a:t>
            </a:r>
            <a:endParaRPr lang="en-US" sz="1300" dirty="0"/>
          </a:p>
        </p:txBody>
      </p:sp>
      <p:pic>
        <p:nvPicPr>
          <p:cNvPr id="26" name="Image 5" descr="/home/claude/work/icons/powerbi_soli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406640" y="4791456"/>
            <a:ext cx="566928" cy="566928"/>
          </a:xfrm>
          <a:prstGeom prst="rect">
            <a:avLst/>
          </a:prstGeom>
        </p:spPr>
      </p:pic>
      <p:sp>
        <p:nvSpPr>
          <p:cNvPr id="27" name="Text 19"/>
          <p:cNvSpPr txBox="1"/>
          <p:nvPr/>
        </p:nvSpPr>
        <p:spPr>
          <a:xfrm>
            <a:off x="7159752" y="5606235"/>
            <a:ext cx="10241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AEB9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BI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work/backgrounds/bg_conten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548640" y="3200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2E8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OVERVIEW</a:t>
            </a:r>
            <a:endParaRPr lang="en-US" sz="13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621792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Agenda</a:t>
            </a:r>
            <a:endParaRPr lang="en-US" sz="3000" dirty="0"/>
          </a:p>
        </p:txBody>
      </p:sp>
      <p:sp>
        <p:nvSpPr>
          <p:cNvPr id="5" name="Shape 2"/>
          <p:cNvSpPr/>
          <p:nvPr/>
        </p:nvSpPr>
        <p:spPr>
          <a:xfrm>
            <a:off x="548640" y="1600200"/>
            <a:ext cx="3611880" cy="1965960"/>
          </a:xfrm>
          <a:prstGeom prst="roundRect">
            <a:avLst>
              <a:gd name="adj" fmla="val 4186"/>
            </a:avLst>
          </a:prstGeom>
          <a:solidFill>
            <a:srgbClr val="141B2E"/>
          </a:solidFill>
          <a:ln w="12700">
            <a:solidFill>
              <a:srgbClr val="26314A"/>
            </a:solidFill>
            <a:prstDash val="solid"/>
          </a:ln>
          <a:effectLst>
            <a:outerShdw blurRad="127000" dist="38100" dir="5400000" algn="bl" rotWithShape="0">
              <a:srgbClr val="000000">
                <a:alpha val="35000"/>
              </a:srgbClr>
            </a:outerShdw>
          </a:effectLst>
        </p:spPr>
      </p:sp>
      <p:pic>
        <p:nvPicPr>
          <p:cNvPr id="6" name="Image 1" descr="/home/claude/work/icons/lightbulb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9808" y="1801368"/>
            <a:ext cx="502920" cy="502920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3474720" y="1764792"/>
            <a:ext cx="502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2000" b="1" dirty="0">
                <a:solidFill>
                  <a:srgbClr val="26314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01</a:t>
            </a:r>
            <a:endParaRPr lang="en-US" sz="2000" dirty="0"/>
          </a:p>
        </p:txBody>
      </p:sp>
      <p:sp>
        <p:nvSpPr>
          <p:cNvPr id="8" name="Text 4"/>
          <p:cNvSpPr txBox="1"/>
          <p:nvPr/>
        </p:nvSpPr>
        <p:spPr>
          <a:xfrm>
            <a:off x="749808" y="2423160"/>
            <a:ext cx="32095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Abstract &amp; Motivation</a:t>
            </a:r>
            <a:endParaRPr lang="en-US" sz="1600" dirty="0"/>
          </a:p>
        </p:txBody>
      </p:sp>
      <p:sp>
        <p:nvSpPr>
          <p:cNvPr id="9" name="Text 5"/>
          <p:cNvSpPr txBox="1"/>
          <p:nvPr/>
        </p:nvSpPr>
        <p:spPr>
          <a:xfrm>
            <a:off x="749808" y="2862072"/>
            <a:ext cx="320954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00"/>
              </a:lnSpc>
              <a:buNone/>
            </a:pPr>
            <a:r>
              <a:rPr lang="en-US" sz="1300" dirty="0">
                <a:solidFill>
                  <a:srgbClr val="AEB9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unifying visualization, prediction and deployment into one platform matters for project control.</a:t>
            </a:r>
            <a:endParaRPr lang="en-US" sz="1300" dirty="0"/>
          </a:p>
        </p:txBody>
      </p:sp>
      <p:sp>
        <p:nvSpPr>
          <p:cNvPr id="10" name="Shape 6"/>
          <p:cNvSpPr/>
          <p:nvPr/>
        </p:nvSpPr>
        <p:spPr>
          <a:xfrm>
            <a:off x="4343400" y="1600200"/>
            <a:ext cx="3611880" cy="1965960"/>
          </a:xfrm>
          <a:prstGeom prst="roundRect">
            <a:avLst>
              <a:gd name="adj" fmla="val 4186"/>
            </a:avLst>
          </a:prstGeom>
          <a:solidFill>
            <a:srgbClr val="141B2E"/>
          </a:solidFill>
          <a:ln w="12700">
            <a:solidFill>
              <a:srgbClr val="26314A"/>
            </a:solidFill>
            <a:prstDash val="solid"/>
          </a:ln>
          <a:effectLst>
            <a:outerShdw blurRad="127000" dist="38100" dir="5400000" algn="bl" rotWithShape="0">
              <a:srgbClr val="000000">
                <a:alpha val="35000"/>
              </a:srgbClr>
            </a:outerShdw>
          </a:effectLst>
        </p:spPr>
      </p:sp>
      <p:pic>
        <p:nvPicPr>
          <p:cNvPr id="11" name="Image 2" descr="/home/claude/work/icons/sitemap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44568" y="1801368"/>
            <a:ext cx="502920" cy="502920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7269480" y="1764792"/>
            <a:ext cx="502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2000" b="1" dirty="0">
                <a:solidFill>
                  <a:srgbClr val="26314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02</a:t>
            </a:r>
            <a:endParaRPr lang="en-US" sz="2000" dirty="0"/>
          </a:p>
        </p:txBody>
      </p:sp>
      <p:sp>
        <p:nvSpPr>
          <p:cNvPr id="13" name="Text 8"/>
          <p:cNvSpPr txBox="1"/>
          <p:nvPr/>
        </p:nvSpPr>
        <p:spPr>
          <a:xfrm>
            <a:off x="4544568" y="2423160"/>
            <a:ext cx="32095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Definition</a:t>
            </a:r>
            <a:endParaRPr lang="en-US" sz="1600" dirty="0"/>
          </a:p>
        </p:txBody>
      </p:sp>
      <p:sp>
        <p:nvSpPr>
          <p:cNvPr id="14" name="Text 9"/>
          <p:cNvSpPr txBox="1"/>
          <p:nvPr/>
        </p:nvSpPr>
        <p:spPr>
          <a:xfrm>
            <a:off x="4544568" y="2862072"/>
            <a:ext cx="320954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00"/>
              </a:lnSpc>
              <a:buNone/>
            </a:pPr>
            <a:r>
              <a:rPr lang="en-US" sz="1300" dirty="0">
                <a:solidFill>
                  <a:srgbClr val="AEB9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fragmented project-control data leaves teams reacting to delays instead of forecasting them.</a:t>
            </a:r>
            <a:endParaRPr lang="en-US" sz="1300" dirty="0"/>
          </a:p>
        </p:txBody>
      </p:sp>
      <p:sp>
        <p:nvSpPr>
          <p:cNvPr id="15" name="Shape 10"/>
          <p:cNvSpPr/>
          <p:nvPr/>
        </p:nvSpPr>
        <p:spPr>
          <a:xfrm>
            <a:off x="8138160" y="1600200"/>
            <a:ext cx="3611880" cy="1965960"/>
          </a:xfrm>
          <a:prstGeom prst="roundRect">
            <a:avLst>
              <a:gd name="adj" fmla="val 4186"/>
            </a:avLst>
          </a:prstGeom>
          <a:solidFill>
            <a:srgbClr val="141B2E"/>
          </a:solidFill>
          <a:ln w="12700">
            <a:solidFill>
              <a:srgbClr val="26314A"/>
            </a:solidFill>
            <a:prstDash val="solid"/>
          </a:ln>
          <a:effectLst>
            <a:outerShdw blurRad="127000" dist="38100" dir="5400000" algn="bl" rotWithShape="0">
              <a:srgbClr val="000000">
                <a:alpha val="35000"/>
              </a:srgbClr>
            </a:outerShdw>
          </a:effectLst>
        </p:spPr>
      </p:sp>
      <p:pic>
        <p:nvPicPr>
          <p:cNvPr id="16" name="Image 3" descr="/home/claude/work/icons/book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39328" y="1801368"/>
            <a:ext cx="502920" cy="502920"/>
          </a:xfrm>
          <a:prstGeom prst="rect">
            <a:avLst/>
          </a:prstGeom>
        </p:spPr>
      </p:pic>
      <p:sp>
        <p:nvSpPr>
          <p:cNvPr id="17" name="Text 11"/>
          <p:cNvSpPr txBox="1"/>
          <p:nvPr/>
        </p:nvSpPr>
        <p:spPr>
          <a:xfrm>
            <a:off x="11064240" y="1764792"/>
            <a:ext cx="502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2000" b="1" dirty="0">
                <a:solidFill>
                  <a:srgbClr val="26314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03</a:t>
            </a:r>
            <a:endParaRPr lang="en-US" sz="2000" dirty="0"/>
          </a:p>
        </p:txBody>
      </p:sp>
      <p:sp>
        <p:nvSpPr>
          <p:cNvPr id="18" name="Text 12"/>
          <p:cNvSpPr txBox="1"/>
          <p:nvPr/>
        </p:nvSpPr>
        <p:spPr>
          <a:xfrm>
            <a:off x="8339328" y="2423160"/>
            <a:ext cx="32095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Literature Review</a:t>
            </a:r>
            <a:endParaRPr lang="en-US" sz="1600" dirty="0"/>
          </a:p>
        </p:txBody>
      </p:sp>
      <p:sp>
        <p:nvSpPr>
          <p:cNvPr id="19" name="Text 13"/>
          <p:cNvSpPr txBox="1"/>
          <p:nvPr/>
        </p:nvSpPr>
        <p:spPr>
          <a:xfrm>
            <a:off x="8339328" y="2862072"/>
            <a:ext cx="320954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00"/>
              </a:lnSpc>
              <a:buNone/>
            </a:pPr>
            <a:r>
              <a:rPr lang="en-US" sz="1300" dirty="0">
                <a:solidFill>
                  <a:srgbClr val="AEB9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 peer-reviewed studies spanning visualization, BI reporting, cloud lifecycles and delay prediction.</a:t>
            </a:r>
            <a:endParaRPr lang="en-US" sz="1300" dirty="0"/>
          </a:p>
        </p:txBody>
      </p:sp>
      <p:sp>
        <p:nvSpPr>
          <p:cNvPr id="20" name="Shape 14"/>
          <p:cNvSpPr/>
          <p:nvPr/>
        </p:nvSpPr>
        <p:spPr>
          <a:xfrm>
            <a:off x="548640" y="3794760"/>
            <a:ext cx="3611880" cy="1965960"/>
          </a:xfrm>
          <a:prstGeom prst="roundRect">
            <a:avLst>
              <a:gd name="adj" fmla="val 4186"/>
            </a:avLst>
          </a:prstGeom>
          <a:solidFill>
            <a:srgbClr val="141B2E"/>
          </a:solidFill>
          <a:ln w="12700">
            <a:solidFill>
              <a:srgbClr val="26314A"/>
            </a:solidFill>
            <a:prstDash val="solid"/>
          </a:ln>
          <a:effectLst>
            <a:outerShdw blurRad="127000" dist="38100" dir="5400000" algn="bl" rotWithShape="0">
              <a:srgbClr val="000000">
                <a:alpha val="35000"/>
              </a:srgbClr>
            </a:outerShdw>
          </a:effectLst>
        </p:spPr>
      </p:sp>
      <p:pic>
        <p:nvPicPr>
          <p:cNvPr id="21" name="Image 4" descr="/home/claude/work/icons/bullsey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49808" y="3995928"/>
            <a:ext cx="502920" cy="502920"/>
          </a:xfrm>
          <a:prstGeom prst="rect">
            <a:avLst/>
          </a:prstGeom>
        </p:spPr>
      </p:pic>
      <p:sp>
        <p:nvSpPr>
          <p:cNvPr id="22" name="Text 15"/>
          <p:cNvSpPr txBox="1"/>
          <p:nvPr/>
        </p:nvSpPr>
        <p:spPr>
          <a:xfrm>
            <a:off x="3474720" y="3959352"/>
            <a:ext cx="502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2000" b="1" dirty="0">
                <a:solidFill>
                  <a:srgbClr val="26314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04</a:t>
            </a:r>
            <a:endParaRPr lang="en-US" sz="2000" dirty="0"/>
          </a:p>
        </p:txBody>
      </p:sp>
      <p:sp>
        <p:nvSpPr>
          <p:cNvPr id="23" name="Text 16"/>
          <p:cNvSpPr txBox="1"/>
          <p:nvPr/>
        </p:nvSpPr>
        <p:spPr>
          <a:xfrm>
            <a:off x="749808" y="4617720"/>
            <a:ext cx="32095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Gap &amp; Objectives</a:t>
            </a:r>
            <a:endParaRPr lang="en-US" sz="1600" dirty="0"/>
          </a:p>
        </p:txBody>
      </p:sp>
      <p:sp>
        <p:nvSpPr>
          <p:cNvPr id="24" name="Text 17"/>
          <p:cNvSpPr txBox="1"/>
          <p:nvPr/>
        </p:nvSpPr>
        <p:spPr>
          <a:xfrm>
            <a:off x="749808" y="5056632"/>
            <a:ext cx="320954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00"/>
              </a:lnSpc>
              <a:buNone/>
            </a:pPr>
            <a:r>
              <a:rPr lang="en-US" sz="1300" dirty="0">
                <a:solidFill>
                  <a:srgbClr val="AEB9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no existing study addresses, and the five concrete objectives that close the gap.</a:t>
            </a:r>
            <a:endParaRPr lang="en-US" sz="1300" dirty="0"/>
          </a:p>
        </p:txBody>
      </p:sp>
      <p:sp>
        <p:nvSpPr>
          <p:cNvPr id="25" name="Shape 18"/>
          <p:cNvSpPr/>
          <p:nvPr/>
        </p:nvSpPr>
        <p:spPr>
          <a:xfrm>
            <a:off x="4343400" y="3794760"/>
            <a:ext cx="3611880" cy="1965960"/>
          </a:xfrm>
          <a:prstGeom prst="roundRect">
            <a:avLst>
              <a:gd name="adj" fmla="val 4186"/>
            </a:avLst>
          </a:prstGeom>
          <a:solidFill>
            <a:srgbClr val="141B2E"/>
          </a:solidFill>
          <a:ln w="12700">
            <a:solidFill>
              <a:srgbClr val="26314A"/>
            </a:solidFill>
            <a:prstDash val="solid"/>
          </a:ln>
          <a:effectLst>
            <a:outerShdw blurRad="127000" dist="38100" dir="5400000" algn="bl" rotWithShape="0">
              <a:srgbClr val="000000">
                <a:alpha val="35000"/>
              </a:srgbClr>
            </a:outerShdw>
          </a:effectLst>
        </p:spPr>
      </p:sp>
      <p:pic>
        <p:nvPicPr>
          <p:cNvPr id="26" name="Image 5" descr="/home/claude/work/icons/network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544568" y="3995928"/>
            <a:ext cx="502920" cy="502920"/>
          </a:xfrm>
          <a:prstGeom prst="rect">
            <a:avLst/>
          </a:prstGeom>
        </p:spPr>
      </p:pic>
      <p:sp>
        <p:nvSpPr>
          <p:cNvPr id="27" name="Text 19"/>
          <p:cNvSpPr txBox="1"/>
          <p:nvPr/>
        </p:nvSpPr>
        <p:spPr>
          <a:xfrm>
            <a:off x="7269480" y="3959352"/>
            <a:ext cx="502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2000" b="1" dirty="0">
                <a:solidFill>
                  <a:srgbClr val="26314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05</a:t>
            </a:r>
            <a:endParaRPr lang="en-US" sz="2000" dirty="0"/>
          </a:p>
        </p:txBody>
      </p:sp>
      <p:sp>
        <p:nvSpPr>
          <p:cNvPr id="28" name="Text 20"/>
          <p:cNvSpPr txBox="1"/>
          <p:nvPr/>
        </p:nvSpPr>
        <p:spPr>
          <a:xfrm>
            <a:off x="4544568" y="4617720"/>
            <a:ext cx="32095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&amp; Data Model</a:t>
            </a:r>
            <a:endParaRPr lang="en-US" sz="1600" dirty="0"/>
          </a:p>
        </p:txBody>
      </p:sp>
      <p:sp>
        <p:nvSpPr>
          <p:cNvPr id="29" name="Text 21"/>
          <p:cNvSpPr txBox="1"/>
          <p:nvPr/>
        </p:nvSpPr>
        <p:spPr>
          <a:xfrm>
            <a:off x="4544568" y="5056632"/>
            <a:ext cx="320954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00"/>
              </a:lnSpc>
              <a:buNone/>
            </a:pPr>
            <a:r>
              <a:rPr lang="en-US" sz="1300" dirty="0">
                <a:solidFill>
                  <a:srgbClr val="AEB9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data flow, major components, deployment topology and the underlying data schema.</a:t>
            </a:r>
            <a:endParaRPr lang="en-US" sz="1300" dirty="0"/>
          </a:p>
        </p:txBody>
      </p:sp>
      <p:sp>
        <p:nvSpPr>
          <p:cNvPr id="30" name="Shape 22"/>
          <p:cNvSpPr/>
          <p:nvPr/>
        </p:nvSpPr>
        <p:spPr>
          <a:xfrm>
            <a:off x="8138160" y="3794760"/>
            <a:ext cx="3611880" cy="1965960"/>
          </a:xfrm>
          <a:prstGeom prst="roundRect">
            <a:avLst>
              <a:gd name="adj" fmla="val 4186"/>
            </a:avLst>
          </a:prstGeom>
          <a:solidFill>
            <a:srgbClr val="141B2E"/>
          </a:solidFill>
          <a:ln w="12700">
            <a:solidFill>
              <a:srgbClr val="26314A"/>
            </a:solidFill>
            <a:prstDash val="solid"/>
          </a:ln>
          <a:effectLst>
            <a:outerShdw blurRad="127000" dist="38100" dir="5400000" algn="bl" rotWithShape="0">
              <a:srgbClr val="000000">
                <a:alpha val="35000"/>
              </a:srgbClr>
            </a:outerShdw>
          </a:effectLst>
        </p:spPr>
      </p:sp>
      <p:pic>
        <p:nvPicPr>
          <p:cNvPr id="31" name="Image 6" descr="/home/claude/work/icons/chartpi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339328" y="3995928"/>
            <a:ext cx="502920" cy="502920"/>
          </a:xfrm>
          <a:prstGeom prst="rect">
            <a:avLst/>
          </a:prstGeom>
        </p:spPr>
      </p:pic>
      <p:sp>
        <p:nvSpPr>
          <p:cNvPr id="32" name="Text 23"/>
          <p:cNvSpPr txBox="1"/>
          <p:nvPr/>
        </p:nvSpPr>
        <p:spPr>
          <a:xfrm>
            <a:off x="11064240" y="3959352"/>
            <a:ext cx="502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2000" b="1" dirty="0">
                <a:solidFill>
                  <a:srgbClr val="26314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06</a:t>
            </a:r>
            <a:endParaRPr lang="en-US" sz="2000" dirty="0"/>
          </a:p>
        </p:txBody>
      </p:sp>
      <p:sp>
        <p:nvSpPr>
          <p:cNvPr id="33" name="Text 24"/>
          <p:cNvSpPr txBox="1"/>
          <p:nvPr/>
        </p:nvSpPr>
        <p:spPr>
          <a:xfrm>
            <a:off x="8339328" y="4617720"/>
            <a:ext cx="32095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Dashboards, Evaluation &amp; Outcome</a:t>
            </a:r>
            <a:endParaRPr lang="en-US" sz="1600" dirty="0"/>
          </a:p>
        </p:txBody>
      </p:sp>
      <p:sp>
        <p:nvSpPr>
          <p:cNvPr id="34" name="Text 25"/>
          <p:cNvSpPr txBox="1"/>
          <p:nvPr/>
        </p:nvSpPr>
        <p:spPr>
          <a:xfrm>
            <a:off x="8339328" y="5056632"/>
            <a:ext cx="320954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00"/>
              </a:lnSpc>
              <a:buNone/>
            </a:pPr>
            <a:r>
              <a:rPr lang="en-US" sz="1300" dirty="0">
                <a:solidFill>
                  <a:srgbClr val="AEB9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BI dashboard design, how success is measured, and the concluding takeaways.</a:t>
            </a:r>
            <a:endParaRPr lang="en-US" sz="1300" dirty="0"/>
          </a:p>
        </p:txBody>
      </p:sp>
      <p:sp>
        <p:nvSpPr>
          <p:cNvPr id="35" name="Text 26"/>
          <p:cNvSpPr txBox="1"/>
          <p:nvPr/>
        </p:nvSpPr>
        <p:spPr>
          <a:xfrm>
            <a:off x="548640" y="653796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100" dirty="0">
                <a:solidFill>
                  <a:srgbClr val="7C8A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CLOUD-NATIVE CONSTRUCTION INTELLIGENCE PLATFORM</a:t>
            </a:r>
            <a:endParaRPr lang="en-US" sz="900" dirty="0"/>
          </a:p>
        </p:txBody>
      </p:sp>
      <p:sp>
        <p:nvSpPr>
          <p:cNvPr id="36" name="Text 27"/>
          <p:cNvSpPr txBox="1"/>
          <p:nvPr/>
        </p:nvSpPr>
        <p:spPr>
          <a:xfrm>
            <a:off x="11430000" y="6537960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C8A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84E882-D949-7F2F-08F0-B1AB570FE3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work/backgrounds/bg_content.png">
            <a:extLst>
              <a:ext uri="{FF2B5EF4-FFF2-40B4-BE49-F238E27FC236}">
                <a16:creationId xmlns:a16="http://schemas.microsoft.com/office/drawing/2014/main" id="{0F56E69A-DD40-A52D-B046-FAE8F79FA83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55" name="Text 0">
            <a:extLst>
              <a:ext uri="{FF2B5EF4-FFF2-40B4-BE49-F238E27FC236}">
                <a16:creationId xmlns:a16="http://schemas.microsoft.com/office/drawing/2014/main" id="{54865856-4DA1-74B9-B0DA-708251064F13}"/>
              </a:ext>
            </a:extLst>
          </p:cNvPr>
          <p:cNvSpPr txBox="1"/>
          <p:nvPr/>
        </p:nvSpPr>
        <p:spPr>
          <a:xfrm>
            <a:off x="640080" y="4572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</a:t>
            </a:r>
            <a:endParaRPr lang="en-US" sz="1400" dirty="0"/>
          </a:p>
        </p:txBody>
      </p:sp>
      <p:sp>
        <p:nvSpPr>
          <p:cNvPr id="56" name="Text 1">
            <a:extLst>
              <a:ext uri="{FF2B5EF4-FFF2-40B4-BE49-F238E27FC236}">
                <a16:creationId xmlns:a16="http://schemas.microsoft.com/office/drawing/2014/main" id="{5C7682FD-6289-5BCA-264D-A4AF5F89F82D}"/>
              </a:ext>
            </a:extLst>
          </p:cNvPr>
          <p:cNvSpPr txBox="1"/>
          <p:nvPr/>
        </p:nvSpPr>
        <p:spPr>
          <a:xfrm>
            <a:off x="640080" y="749808"/>
            <a:ext cx="9601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4F6F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Abstract</a:t>
            </a:r>
            <a:endParaRPr lang="en-US" sz="3400" dirty="0"/>
          </a:p>
        </p:txBody>
      </p:sp>
      <p:sp>
        <p:nvSpPr>
          <p:cNvPr id="57" name="Shape 2">
            <a:extLst>
              <a:ext uri="{FF2B5EF4-FFF2-40B4-BE49-F238E27FC236}">
                <a16:creationId xmlns:a16="http://schemas.microsoft.com/office/drawing/2014/main" id="{7593CF66-F70E-89D1-E0C0-93AA41D539FC}"/>
              </a:ext>
            </a:extLst>
          </p:cNvPr>
          <p:cNvSpPr/>
          <p:nvPr/>
        </p:nvSpPr>
        <p:spPr>
          <a:xfrm>
            <a:off x="640080" y="1600200"/>
            <a:ext cx="6675120" cy="4480560"/>
          </a:xfrm>
          <a:prstGeom prst="roundRect">
            <a:avLst>
              <a:gd name="adj" fmla="val 1837"/>
            </a:avLst>
          </a:prstGeom>
          <a:solidFill>
            <a:srgbClr val="141C2E"/>
          </a:solidFill>
          <a:ln w="9525">
            <a:solidFill>
              <a:srgbClr val="26314A"/>
            </a:solidFill>
            <a:prstDash val="solid"/>
          </a:ln>
          <a:effectLst>
            <a:outerShdw blurRad="1270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58" name="Shape 3">
            <a:extLst>
              <a:ext uri="{FF2B5EF4-FFF2-40B4-BE49-F238E27FC236}">
                <a16:creationId xmlns:a16="http://schemas.microsoft.com/office/drawing/2014/main" id="{241FFB4A-8BBF-5F29-B459-9EFAECE19999}"/>
              </a:ext>
            </a:extLst>
          </p:cNvPr>
          <p:cNvSpPr/>
          <p:nvPr/>
        </p:nvSpPr>
        <p:spPr>
          <a:xfrm>
            <a:off x="896112" y="1947672"/>
            <a:ext cx="82296" cy="82296"/>
          </a:xfrm>
          <a:prstGeom prst="ellipse">
            <a:avLst/>
          </a:prstGeom>
          <a:solidFill>
            <a:srgbClr val="F5A623"/>
          </a:solidFill>
          <a:ln/>
        </p:spPr>
      </p:sp>
      <p:sp>
        <p:nvSpPr>
          <p:cNvPr id="59" name="Text 4">
            <a:extLst>
              <a:ext uri="{FF2B5EF4-FFF2-40B4-BE49-F238E27FC236}">
                <a16:creationId xmlns:a16="http://schemas.microsoft.com/office/drawing/2014/main" id="{4B2FB50E-8B1F-2295-2994-3BEF2A63F3DC}"/>
              </a:ext>
            </a:extLst>
          </p:cNvPr>
          <p:cNvSpPr txBox="1"/>
          <p:nvPr/>
        </p:nvSpPr>
        <p:spPr>
          <a:xfrm>
            <a:off x="1097280" y="1801368"/>
            <a:ext cx="6035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F4F6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Construction projects generate schedule, cost, progress and site-status data continuously — but it stays scattered across spreadsheets and disconnected control tools, with no shared source of truth.</a:t>
            </a:r>
            <a:endParaRPr lang="en-US" sz="1400" dirty="0"/>
          </a:p>
        </p:txBody>
      </p:sp>
      <p:sp>
        <p:nvSpPr>
          <p:cNvPr id="60" name="Shape 5">
            <a:extLst>
              <a:ext uri="{FF2B5EF4-FFF2-40B4-BE49-F238E27FC236}">
                <a16:creationId xmlns:a16="http://schemas.microsoft.com/office/drawing/2014/main" id="{57717138-A884-C220-C118-15F63FB2A18A}"/>
              </a:ext>
            </a:extLst>
          </p:cNvPr>
          <p:cNvSpPr/>
          <p:nvPr/>
        </p:nvSpPr>
        <p:spPr>
          <a:xfrm>
            <a:off x="896112" y="3026664"/>
            <a:ext cx="82296" cy="82296"/>
          </a:xfrm>
          <a:prstGeom prst="ellipse">
            <a:avLst/>
          </a:prstGeom>
          <a:solidFill>
            <a:srgbClr val="2DD4BF"/>
          </a:solidFill>
          <a:ln/>
        </p:spPr>
      </p:sp>
      <p:sp>
        <p:nvSpPr>
          <p:cNvPr id="61" name="Text 6">
            <a:extLst>
              <a:ext uri="{FF2B5EF4-FFF2-40B4-BE49-F238E27FC236}">
                <a16:creationId xmlns:a16="http://schemas.microsoft.com/office/drawing/2014/main" id="{3688CEF8-A8B2-D8C3-726A-5FB733F40B98}"/>
              </a:ext>
            </a:extLst>
          </p:cNvPr>
          <p:cNvSpPr txBox="1"/>
          <p:nvPr/>
        </p:nvSpPr>
        <p:spPr>
          <a:xfrm>
            <a:off x="1097280" y="2880360"/>
            <a:ext cx="6035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F4F6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 work proves the value of dashboards, BIM monitoring and delay prediction individually, but treats them as separate concerns rather than one deployable system engineers can install and operate.</a:t>
            </a:r>
            <a:endParaRPr lang="en-US" sz="1400" dirty="0"/>
          </a:p>
        </p:txBody>
      </p:sp>
      <p:sp>
        <p:nvSpPr>
          <p:cNvPr id="62" name="Shape 7">
            <a:extLst>
              <a:ext uri="{FF2B5EF4-FFF2-40B4-BE49-F238E27FC236}">
                <a16:creationId xmlns:a16="http://schemas.microsoft.com/office/drawing/2014/main" id="{A7884944-D260-064B-43E4-19B9A9188962}"/>
              </a:ext>
            </a:extLst>
          </p:cNvPr>
          <p:cNvSpPr/>
          <p:nvPr/>
        </p:nvSpPr>
        <p:spPr>
          <a:xfrm>
            <a:off x="896112" y="4105656"/>
            <a:ext cx="82296" cy="82296"/>
          </a:xfrm>
          <a:prstGeom prst="ellipse">
            <a:avLst/>
          </a:prstGeom>
          <a:solidFill>
            <a:srgbClr val="F5A623"/>
          </a:solidFill>
          <a:ln/>
        </p:spPr>
      </p:sp>
      <p:sp>
        <p:nvSpPr>
          <p:cNvPr id="63" name="Text 8">
            <a:extLst>
              <a:ext uri="{FF2B5EF4-FFF2-40B4-BE49-F238E27FC236}">
                <a16:creationId xmlns:a16="http://schemas.microsoft.com/office/drawing/2014/main" id="{46229397-AD0B-CE7E-99B2-5F83B68CC553}"/>
              </a:ext>
            </a:extLst>
          </p:cNvPr>
          <p:cNvSpPr txBox="1"/>
          <p:nvPr/>
        </p:nvSpPr>
        <p:spPr>
          <a:xfrm>
            <a:off x="1097280" y="3959352"/>
            <a:ext cx="6035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F4F6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project proposes a cloud-native platform that ingests project-control data, computes CPI/SPI performance indicators, scores delay risk with a probabilistic model, and visualizes it all through Power BI.</a:t>
            </a:r>
            <a:endParaRPr lang="en-US" sz="1400" dirty="0"/>
          </a:p>
        </p:txBody>
      </p:sp>
      <p:sp>
        <p:nvSpPr>
          <p:cNvPr id="64" name="Shape 9">
            <a:extLst>
              <a:ext uri="{FF2B5EF4-FFF2-40B4-BE49-F238E27FC236}">
                <a16:creationId xmlns:a16="http://schemas.microsoft.com/office/drawing/2014/main" id="{1DA15595-B635-6158-C009-EB2B3E0AE069}"/>
              </a:ext>
            </a:extLst>
          </p:cNvPr>
          <p:cNvSpPr/>
          <p:nvPr/>
        </p:nvSpPr>
        <p:spPr>
          <a:xfrm>
            <a:off x="896112" y="5184648"/>
            <a:ext cx="82296" cy="82296"/>
          </a:xfrm>
          <a:prstGeom prst="ellipse">
            <a:avLst/>
          </a:prstGeom>
          <a:solidFill>
            <a:srgbClr val="2DD4BF"/>
          </a:solidFill>
          <a:ln/>
        </p:spPr>
      </p:sp>
      <p:sp>
        <p:nvSpPr>
          <p:cNvPr id="65" name="Text 10">
            <a:extLst>
              <a:ext uri="{FF2B5EF4-FFF2-40B4-BE49-F238E27FC236}">
                <a16:creationId xmlns:a16="http://schemas.microsoft.com/office/drawing/2014/main" id="{3878FC55-E1A6-90B5-9D9A-F8F7B2753C93}"/>
              </a:ext>
            </a:extLst>
          </p:cNvPr>
          <p:cNvSpPr txBox="1"/>
          <p:nvPr/>
        </p:nvSpPr>
        <p:spPr>
          <a:xfrm>
            <a:off x="1097280" y="5038344"/>
            <a:ext cx="6035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F4F6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and Kubernetes package and orchestrate the backend for repeatable deployment, health monitoring, secret management and horizontal scaling under changing workloads.</a:t>
            </a:r>
            <a:endParaRPr lang="en-US" sz="1400" dirty="0"/>
          </a:p>
        </p:txBody>
      </p:sp>
      <p:sp>
        <p:nvSpPr>
          <p:cNvPr id="66" name="Shape 11">
            <a:extLst>
              <a:ext uri="{FF2B5EF4-FFF2-40B4-BE49-F238E27FC236}">
                <a16:creationId xmlns:a16="http://schemas.microsoft.com/office/drawing/2014/main" id="{3582B959-AE25-CF76-D48C-3482AD84D6C9}"/>
              </a:ext>
            </a:extLst>
          </p:cNvPr>
          <p:cNvSpPr/>
          <p:nvPr/>
        </p:nvSpPr>
        <p:spPr>
          <a:xfrm>
            <a:off x="7543800" y="1600200"/>
            <a:ext cx="3977640" cy="2057400"/>
          </a:xfrm>
          <a:prstGeom prst="roundRect">
            <a:avLst>
              <a:gd name="adj" fmla="val 4000"/>
            </a:avLst>
          </a:prstGeom>
          <a:solidFill>
            <a:srgbClr val="1B2540"/>
          </a:solidFill>
          <a:ln w="9525">
            <a:solidFill>
              <a:srgbClr val="26314A"/>
            </a:solidFill>
            <a:prstDash val="solid"/>
          </a:ln>
          <a:effectLst>
            <a:outerShdw blurRad="1270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67" name="Shape 12">
            <a:extLst>
              <a:ext uri="{FF2B5EF4-FFF2-40B4-BE49-F238E27FC236}">
                <a16:creationId xmlns:a16="http://schemas.microsoft.com/office/drawing/2014/main" id="{19114753-4DC5-82A7-6563-E780C76D3CF3}"/>
              </a:ext>
            </a:extLst>
          </p:cNvPr>
          <p:cNvSpPr/>
          <p:nvPr/>
        </p:nvSpPr>
        <p:spPr>
          <a:xfrm>
            <a:off x="7772400" y="1810512"/>
            <a:ext cx="502920" cy="502920"/>
          </a:xfrm>
          <a:prstGeom prst="ellipse">
            <a:avLst/>
          </a:prstGeom>
          <a:solidFill>
            <a:srgbClr val="0F1526"/>
          </a:solidFill>
          <a:ln/>
        </p:spPr>
      </p:sp>
      <p:pic>
        <p:nvPicPr>
          <p:cNvPr id="68" name="Image 0" descr="assets_recolored/book_amber.png">
            <a:extLst>
              <a:ext uri="{FF2B5EF4-FFF2-40B4-BE49-F238E27FC236}">
                <a16:creationId xmlns:a16="http://schemas.microsoft.com/office/drawing/2014/main" id="{E5BDF70B-E324-B7F0-1B2F-F0DB1687901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82128" y="1920240"/>
            <a:ext cx="283464" cy="283464"/>
          </a:xfrm>
          <a:prstGeom prst="rect">
            <a:avLst/>
          </a:prstGeom>
        </p:spPr>
      </p:pic>
      <p:sp>
        <p:nvSpPr>
          <p:cNvPr id="69" name="Text 13">
            <a:extLst>
              <a:ext uri="{FF2B5EF4-FFF2-40B4-BE49-F238E27FC236}">
                <a16:creationId xmlns:a16="http://schemas.microsoft.com/office/drawing/2014/main" id="{80F53D83-38AF-DBD8-D23C-549DF50C0DEF}"/>
              </a:ext>
            </a:extLst>
          </p:cNvPr>
          <p:cNvSpPr txBox="1"/>
          <p:nvPr/>
        </p:nvSpPr>
        <p:spPr>
          <a:xfrm>
            <a:off x="8412480" y="1737360"/>
            <a:ext cx="1371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5A6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4000" dirty="0"/>
          </a:p>
        </p:txBody>
      </p:sp>
      <p:sp>
        <p:nvSpPr>
          <p:cNvPr id="70" name="Text 14">
            <a:extLst>
              <a:ext uri="{FF2B5EF4-FFF2-40B4-BE49-F238E27FC236}">
                <a16:creationId xmlns:a16="http://schemas.microsoft.com/office/drawing/2014/main" id="{B75053E7-36E3-CFA2-15A4-B4740F95B8F3}"/>
              </a:ext>
            </a:extLst>
          </p:cNvPr>
          <p:cNvSpPr txBox="1"/>
          <p:nvPr/>
        </p:nvSpPr>
        <p:spPr>
          <a:xfrm>
            <a:off x="7772400" y="2395728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A8B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PEER-REVIEWED STUDIES</a:t>
            </a:r>
            <a:endParaRPr lang="en-US" sz="1200" dirty="0"/>
          </a:p>
        </p:txBody>
      </p:sp>
      <p:sp>
        <p:nvSpPr>
          <p:cNvPr id="71" name="Text 15">
            <a:extLst>
              <a:ext uri="{FF2B5EF4-FFF2-40B4-BE49-F238E27FC236}">
                <a16:creationId xmlns:a16="http://schemas.microsoft.com/office/drawing/2014/main" id="{47F66724-608F-6766-4E53-2647D17CDE67}"/>
              </a:ext>
            </a:extLst>
          </p:cNvPr>
          <p:cNvSpPr txBox="1"/>
          <p:nvPr/>
        </p:nvSpPr>
        <p:spPr>
          <a:xfrm>
            <a:off x="7772400" y="2724912"/>
            <a:ext cx="3520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F4F6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Reviewed across 2011–2024, spanning visualization, BI reporting, cloud lifecycles and predictive analytics.</a:t>
            </a:r>
            <a:endParaRPr lang="en-US" sz="1300" dirty="0"/>
          </a:p>
        </p:txBody>
      </p:sp>
      <p:sp>
        <p:nvSpPr>
          <p:cNvPr id="72" name="Shape 16">
            <a:extLst>
              <a:ext uri="{FF2B5EF4-FFF2-40B4-BE49-F238E27FC236}">
                <a16:creationId xmlns:a16="http://schemas.microsoft.com/office/drawing/2014/main" id="{F1F1C38F-7E47-60B8-2B50-E9F9BCCC2B55}"/>
              </a:ext>
            </a:extLst>
          </p:cNvPr>
          <p:cNvSpPr/>
          <p:nvPr/>
        </p:nvSpPr>
        <p:spPr>
          <a:xfrm>
            <a:off x="7543800" y="3840480"/>
            <a:ext cx="3977640" cy="2240280"/>
          </a:xfrm>
          <a:prstGeom prst="roundRect">
            <a:avLst>
              <a:gd name="adj" fmla="val 3673"/>
            </a:avLst>
          </a:prstGeom>
          <a:solidFill>
            <a:srgbClr val="0F2622"/>
          </a:solidFill>
          <a:ln w="9525">
            <a:solidFill>
              <a:srgbClr val="26314A"/>
            </a:solidFill>
            <a:prstDash val="solid"/>
          </a:ln>
          <a:effectLst>
            <a:outerShdw blurRad="1270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73" name="Shape 17">
            <a:extLst>
              <a:ext uri="{FF2B5EF4-FFF2-40B4-BE49-F238E27FC236}">
                <a16:creationId xmlns:a16="http://schemas.microsoft.com/office/drawing/2014/main" id="{CA3673CC-79B5-60CA-056D-436D2C0DBE98}"/>
              </a:ext>
            </a:extLst>
          </p:cNvPr>
          <p:cNvSpPr/>
          <p:nvPr/>
        </p:nvSpPr>
        <p:spPr>
          <a:xfrm>
            <a:off x="7772400" y="4050792"/>
            <a:ext cx="502920" cy="502920"/>
          </a:xfrm>
          <a:prstGeom prst="ellipse">
            <a:avLst/>
          </a:prstGeom>
          <a:solidFill>
            <a:srgbClr val="0F1526"/>
          </a:solidFill>
          <a:ln/>
        </p:spPr>
      </p:sp>
      <p:pic>
        <p:nvPicPr>
          <p:cNvPr id="74" name="Image 1" descr="assets_recolored/cube_teal.png">
            <a:extLst>
              <a:ext uri="{FF2B5EF4-FFF2-40B4-BE49-F238E27FC236}">
                <a16:creationId xmlns:a16="http://schemas.microsoft.com/office/drawing/2014/main" id="{0C885082-A1B4-CD7B-9EA5-65E8676E376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82128" y="4160520"/>
            <a:ext cx="283464" cy="283464"/>
          </a:xfrm>
          <a:prstGeom prst="rect">
            <a:avLst/>
          </a:prstGeom>
        </p:spPr>
      </p:pic>
      <p:sp>
        <p:nvSpPr>
          <p:cNvPr id="75" name="Text 18">
            <a:extLst>
              <a:ext uri="{FF2B5EF4-FFF2-40B4-BE49-F238E27FC236}">
                <a16:creationId xmlns:a16="http://schemas.microsoft.com/office/drawing/2014/main" id="{75F56072-97BD-9F60-F7C3-CD93C97572F5}"/>
              </a:ext>
            </a:extLst>
          </p:cNvPr>
          <p:cNvSpPr txBox="1"/>
          <p:nvPr/>
        </p:nvSpPr>
        <p:spPr>
          <a:xfrm>
            <a:off x="8412480" y="411480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Deployable System</a:t>
            </a:r>
            <a:endParaRPr lang="en-US" sz="1500" dirty="0"/>
          </a:p>
        </p:txBody>
      </p:sp>
      <p:sp>
        <p:nvSpPr>
          <p:cNvPr id="76" name="Text 19">
            <a:extLst>
              <a:ext uri="{FF2B5EF4-FFF2-40B4-BE49-F238E27FC236}">
                <a16:creationId xmlns:a16="http://schemas.microsoft.com/office/drawing/2014/main" id="{F74AA8D4-E3E7-8E1B-5819-5BDF1F141C72}"/>
              </a:ext>
            </a:extLst>
          </p:cNvPr>
          <p:cNvSpPr txBox="1"/>
          <p:nvPr/>
        </p:nvSpPr>
        <p:spPr>
          <a:xfrm>
            <a:off x="7772400" y="4663440"/>
            <a:ext cx="3520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F4F6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Visualization, prediction, integration and orchestration — unified rather than studied in isolation.</a:t>
            </a:r>
            <a:endParaRPr lang="en-US" sz="1300" dirty="0"/>
          </a:p>
        </p:txBody>
      </p:sp>
      <p:sp>
        <p:nvSpPr>
          <p:cNvPr id="77" name="Text 20">
            <a:extLst>
              <a:ext uri="{FF2B5EF4-FFF2-40B4-BE49-F238E27FC236}">
                <a16:creationId xmlns:a16="http://schemas.microsoft.com/office/drawing/2014/main" id="{3A8A978C-678E-A37E-A8BC-EF8A4F1C89BE}"/>
              </a:ext>
            </a:extLst>
          </p:cNvPr>
          <p:cNvSpPr txBox="1"/>
          <p:nvPr/>
        </p:nvSpPr>
        <p:spPr>
          <a:xfrm>
            <a:off x="7772400" y="5349240"/>
            <a:ext cx="3520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A8B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services ship as versioned containers; Kubernetes manifests define replicas, health checks and secrets for config-free redeploy.</a:t>
            </a:r>
            <a:endParaRPr lang="en-US" sz="1200" dirty="0"/>
          </a:p>
        </p:txBody>
      </p:sp>
      <p:sp>
        <p:nvSpPr>
          <p:cNvPr id="78" name="Text 21">
            <a:extLst>
              <a:ext uri="{FF2B5EF4-FFF2-40B4-BE49-F238E27FC236}">
                <a16:creationId xmlns:a16="http://schemas.microsoft.com/office/drawing/2014/main" id="{6EF479D7-09D6-69AB-FC93-FC3BC5DB652E}"/>
              </a:ext>
            </a:extLst>
          </p:cNvPr>
          <p:cNvSpPr txBox="1"/>
          <p:nvPr/>
        </p:nvSpPr>
        <p:spPr>
          <a:xfrm>
            <a:off x="457200" y="6547104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083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CLOUD-NATIVE CONSTRUCTION PROJECT INTELLIGENCE PLATFORM   ·   Introduction</a:t>
            </a:r>
            <a:endParaRPr lang="en-US" sz="1000" dirty="0"/>
          </a:p>
        </p:txBody>
      </p:sp>
      <p:sp>
        <p:nvSpPr>
          <p:cNvPr id="79" name="Shape 22">
            <a:extLst>
              <a:ext uri="{FF2B5EF4-FFF2-40B4-BE49-F238E27FC236}">
                <a16:creationId xmlns:a16="http://schemas.microsoft.com/office/drawing/2014/main" id="{2AB510D6-F77F-03BF-6A55-787A960FFE29}"/>
              </a:ext>
            </a:extLst>
          </p:cNvPr>
          <p:cNvSpPr/>
          <p:nvPr/>
        </p:nvSpPr>
        <p:spPr>
          <a:xfrm>
            <a:off x="11384280" y="6446520"/>
            <a:ext cx="457200" cy="310896"/>
          </a:xfrm>
          <a:prstGeom prst="roundRect">
            <a:avLst>
              <a:gd name="adj" fmla="val 23529"/>
            </a:avLst>
          </a:prstGeom>
          <a:solidFill>
            <a:srgbClr val="1B2540"/>
          </a:solidFill>
          <a:ln w="9525">
            <a:solidFill>
              <a:srgbClr val="26314A"/>
            </a:solidFill>
            <a:prstDash val="solid"/>
          </a:ln>
        </p:spPr>
      </p:sp>
      <p:sp>
        <p:nvSpPr>
          <p:cNvPr id="80" name="Text 23">
            <a:extLst>
              <a:ext uri="{FF2B5EF4-FFF2-40B4-BE49-F238E27FC236}">
                <a16:creationId xmlns:a16="http://schemas.microsoft.com/office/drawing/2014/main" id="{79FC8F9F-9940-03E7-6A68-3D312F2F1C7E}"/>
              </a:ext>
            </a:extLst>
          </p:cNvPr>
          <p:cNvSpPr txBox="1"/>
          <p:nvPr/>
        </p:nvSpPr>
        <p:spPr>
          <a:xfrm>
            <a:off x="11384280" y="6446520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100" dirty="0"/>
          </a:p>
        </p:txBody>
      </p:sp>
    </p:spTree>
    <p:extLst>
      <p:ext uri="{BB962C8B-B14F-4D97-AF65-F5344CB8AC3E}">
        <p14:creationId xmlns:p14="http://schemas.microsoft.com/office/powerpoint/2010/main" val="400304649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work/backgrounds/bg_conten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548640" y="3200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2E8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</a:t>
            </a:r>
            <a:endParaRPr lang="en-US" sz="13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621792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Problem Definition</a:t>
            </a:r>
            <a:endParaRPr lang="en-US" sz="30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1417320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900"/>
              </a:lnSpc>
              <a:buNone/>
            </a:pPr>
            <a:r>
              <a:rPr lang="en-US" sz="1500" dirty="0">
                <a:solidFill>
                  <a:srgbClr val="AEB9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Visualization, prediction, integration and deployment are each studied on their own — no single reproducible platform unifies them into one operating system for project control.</a:t>
            </a:r>
            <a:endParaRPr lang="en-US" sz="1500" dirty="0"/>
          </a:p>
        </p:txBody>
      </p:sp>
      <p:sp>
        <p:nvSpPr>
          <p:cNvPr id="6" name="Shape 3"/>
          <p:cNvSpPr/>
          <p:nvPr/>
        </p:nvSpPr>
        <p:spPr>
          <a:xfrm>
            <a:off x="548640" y="2103120"/>
            <a:ext cx="5349240" cy="1417320"/>
          </a:xfrm>
          <a:prstGeom prst="roundRect">
            <a:avLst>
              <a:gd name="adj" fmla="val 5806"/>
            </a:avLst>
          </a:prstGeom>
          <a:solidFill>
            <a:srgbClr val="141B2E"/>
          </a:solidFill>
          <a:ln w="12700">
            <a:solidFill>
              <a:srgbClr val="26314A"/>
            </a:solidFill>
            <a:prstDash val="solid"/>
          </a:ln>
          <a:effectLst>
            <a:outerShdw blurRad="127000" dist="38100" dir="5400000" algn="bl" rotWithShape="0">
              <a:srgbClr val="000000">
                <a:alpha val="35000"/>
              </a:srgbClr>
            </a:outerShdw>
          </a:effectLst>
        </p:spPr>
      </p:sp>
      <p:pic>
        <p:nvPicPr>
          <p:cNvPr id="7" name="Image 1" descr="/home/claude/work/icons/c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9808" y="2304288"/>
            <a:ext cx="502920" cy="502920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1417320" y="2267712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Delayed Visibility</a:t>
            </a:r>
            <a:endParaRPr lang="en-US" sz="1600" dirty="0"/>
          </a:p>
        </p:txBody>
      </p:sp>
      <p:sp>
        <p:nvSpPr>
          <p:cNvPr id="9" name="Text 5"/>
          <p:cNvSpPr txBox="1"/>
          <p:nvPr/>
        </p:nvSpPr>
        <p:spPr>
          <a:xfrm>
            <a:off x="1417320" y="2670048"/>
            <a:ext cx="4297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00"/>
              </a:lnSpc>
              <a:buNone/>
            </a:pPr>
            <a:r>
              <a:rPr lang="en-US" sz="1350" dirty="0">
                <a:solidFill>
                  <a:srgbClr val="AEB9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Schedule and cost issues surface only after progress meetings, well after the damage to budget and timeline is already done.</a:t>
            </a:r>
            <a:endParaRPr lang="en-US" sz="1350" dirty="0"/>
          </a:p>
        </p:txBody>
      </p:sp>
      <p:sp>
        <p:nvSpPr>
          <p:cNvPr id="10" name="Shape 6"/>
          <p:cNvSpPr/>
          <p:nvPr/>
        </p:nvSpPr>
        <p:spPr>
          <a:xfrm>
            <a:off x="6080760" y="2103120"/>
            <a:ext cx="5349240" cy="1417320"/>
          </a:xfrm>
          <a:prstGeom prst="roundRect">
            <a:avLst>
              <a:gd name="adj" fmla="val 5806"/>
            </a:avLst>
          </a:prstGeom>
          <a:solidFill>
            <a:srgbClr val="141B2E"/>
          </a:solidFill>
          <a:ln w="12700">
            <a:solidFill>
              <a:srgbClr val="26314A"/>
            </a:solidFill>
            <a:prstDash val="solid"/>
          </a:ln>
          <a:effectLst>
            <a:outerShdw blurRad="127000" dist="38100" dir="5400000" algn="bl" rotWithShape="0">
              <a:srgbClr val="000000">
                <a:alpha val="35000"/>
              </a:srgbClr>
            </a:outerShdw>
          </a:effectLst>
        </p:spPr>
      </p:sp>
      <p:pic>
        <p:nvPicPr>
          <p:cNvPr id="11" name="Image 2" descr="/home/claude/work/icons/databas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81928" y="2304288"/>
            <a:ext cx="502920" cy="502920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6949440" y="2267712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Scattered Records</a:t>
            </a:r>
            <a:endParaRPr lang="en-US" sz="1600" dirty="0"/>
          </a:p>
        </p:txBody>
      </p:sp>
      <p:sp>
        <p:nvSpPr>
          <p:cNvPr id="13" name="Text 8"/>
          <p:cNvSpPr txBox="1"/>
          <p:nvPr/>
        </p:nvSpPr>
        <p:spPr>
          <a:xfrm>
            <a:off x="6949440" y="2670048"/>
            <a:ext cx="4297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00"/>
              </a:lnSpc>
              <a:buNone/>
            </a:pPr>
            <a:r>
              <a:rPr lang="en-US" sz="1350" dirty="0">
                <a:solidFill>
                  <a:srgbClr val="AEB9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Spreadsheets, BIM exports and site logs live in disconnected tools with no shared model tying them together.</a:t>
            </a:r>
            <a:endParaRPr lang="en-US" sz="1350" dirty="0"/>
          </a:p>
        </p:txBody>
      </p:sp>
      <p:sp>
        <p:nvSpPr>
          <p:cNvPr id="14" name="Shape 9"/>
          <p:cNvSpPr/>
          <p:nvPr/>
        </p:nvSpPr>
        <p:spPr>
          <a:xfrm>
            <a:off x="548640" y="3703320"/>
            <a:ext cx="5349240" cy="1417320"/>
          </a:xfrm>
          <a:prstGeom prst="roundRect">
            <a:avLst>
              <a:gd name="adj" fmla="val 5806"/>
            </a:avLst>
          </a:prstGeom>
          <a:solidFill>
            <a:srgbClr val="141B2E"/>
          </a:solidFill>
          <a:ln w="12700">
            <a:solidFill>
              <a:srgbClr val="26314A"/>
            </a:solidFill>
            <a:prstDash val="solid"/>
          </a:ln>
          <a:effectLst>
            <a:outerShdw blurRad="127000" dist="38100" dir="5400000" algn="bl" rotWithShape="0">
              <a:srgbClr val="000000">
                <a:alpha val="35000"/>
              </a:srgbClr>
            </a:outerShdw>
          </a:effectLst>
        </p:spPr>
      </p:sp>
      <p:pic>
        <p:nvPicPr>
          <p:cNvPr id="15" name="Image 3" descr="/home/claude/work/icons/warning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49808" y="3904488"/>
            <a:ext cx="502920" cy="502920"/>
          </a:xfrm>
          <a:prstGeom prst="rect">
            <a:avLst/>
          </a:prstGeom>
        </p:spPr>
      </p:pic>
      <p:sp>
        <p:nvSpPr>
          <p:cNvPr id="16" name="Text 10"/>
          <p:cNvSpPr txBox="1"/>
          <p:nvPr/>
        </p:nvSpPr>
        <p:spPr>
          <a:xfrm>
            <a:off x="1417320" y="3867912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Predictive Signal</a:t>
            </a:r>
            <a:endParaRPr lang="en-US" sz="1600" dirty="0"/>
          </a:p>
        </p:txBody>
      </p:sp>
      <p:sp>
        <p:nvSpPr>
          <p:cNvPr id="17" name="Text 11"/>
          <p:cNvSpPr txBox="1"/>
          <p:nvPr/>
        </p:nvSpPr>
        <p:spPr>
          <a:xfrm>
            <a:off x="1417320" y="4270248"/>
            <a:ext cx="4297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00"/>
              </a:lnSpc>
              <a:buNone/>
            </a:pPr>
            <a:r>
              <a:rPr lang="en-US" sz="1350" dirty="0">
                <a:solidFill>
                  <a:srgbClr val="AEB9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Teams react to delays and cost overruns after the fact instead of forecasting risk from historical project patterns.</a:t>
            </a:r>
            <a:endParaRPr lang="en-US" sz="1350" dirty="0"/>
          </a:p>
        </p:txBody>
      </p:sp>
      <p:sp>
        <p:nvSpPr>
          <p:cNvPr id="18" name="Shape 12"/>
          <p:cNvSpPr/>
          <p:nvPr/>
        </p:nvSpPr>
        <p:spPr>
          <a:xfrm>
            <a:off x="6080760" y="3703320"/>
            <a:ext cx="5349240" cy="1417320"/>
          </a:xfrm>
          <a:prstGeom prst="roundRect">
            <a:avLst>
              <a:gd name="adj" fmla="val 5806"/>
            </a:avLst>
          </a:prstGeom>
          <a:solidFill>
            <a:srgbClr val="141B2E"/>
          </a:solidFill>
          <a:ln w="12700">
            <a:solidFill>
              <a:srgbClr val="26314A"/>
            </a:solidFill>
            <a:prstDash val="solid"/>
          </a:ln>
          <a:effectLst>
            <a:outerShdw blurRad="127000" dist="38100" dir="5400000" algn="bl" rotWithShape="0">
              <a:srgbClr val="000000">
                <a:alpha val="35000"/>
              </a:srgbClr>
            </a:outerShdw>
          </a:effectLst>
        </p:spPr>
      </p:sp>
      <p:pic>
        <p:nvPicPr>
          <p:cNvPr id="19" name="Image 4" descr="/home/claude/work/icons/gears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281928" y="3904488"/>
            <a:ext cx="502920" cy="502920"/>
          </a:xfrm>
          <a:prstGeom prst="rect">
            <a:avLst/>
          </a:prstGeom>
        </p:spPr>
      </p:pic>
      <p:sp>
        <p:nvSpPr>
          <p:cNvPr id="20" name="Text 13"/>
          <p:cNvSpPr txBox="1"/>
          <p:nvPr/>
        </p:nvSpPr>
        <p:spPr>
          <a:xfrm>
            <a:off x="6949440" y="3867912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Manual, Fragile Reporting</a:t>
            </a:r>
            <a:endParaRPr lang="en-US" sz="1600" dirty="0"/>
          </a:p>
        </p:txBody>
      </p:sp>
      <p:sp>
        <p:nvSpPr>
          <p:cNvPr id="21" name="Text 14"/>
          <p:cNvSpPr txBox="1"/>
          <p:nvPr/>
        </p:nvSpPr>
        <p:spPr>
          <a:xfrm>
            <a:off x="6949440" y="4270248"/>
            <a:ext cx="4297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00"/>
              </a:lnSpc>
              <a:buNone/>
            </a:pPr>
            <a:r>
              <a:rPr lang="en-US" sz="1350" dirty="0">
                <a:solidFill>
                  <a:srgbClr val="AEB9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Dashboards are rebuilt by hand each reporting cycle, with no repeatable deployment or automation behind them.</a:t>
            </a:r>
            <a:endParaRPr lang="en-US" sz="1350" dirty="0"/>
          </a:p>
        </p:txBody>
      </p:sp>
      <p:sp>
        <p:nvSpPr>
          <p:cNvPr id="22" name="Shape 15"/>
          <p:cNvSpPr/>
          <p:nvPr/>
        </p:nvSpPr>
        <p:spPr>
          <a:xfrm>
            <a:off x="548640" y="5623560"/>
            <a:ext cx="11064240" cy="685800"/>
          </a:xfrm>
          <a:prstGeom prst="roundRect">
            <a:avLst>
              <a:gd name="adj" fmla="val 12000"/>
            </a:avLst>
          </a:prstGeom>
          <a:solidFill>
            <a:srgbClr val="1B2438"/>
          </a:solidFill>
          <a:ln w="12700">
            <a:solidFill>
              <a:srgbClr val="FF3B5C"/>
            </a:solidFill>
            <a:prstDash val="solid"/>
          </a:ln>
          <a:effectLst>
            <a:outerShdw blurRad="1270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23" name="Text 16"/>
          <p:cNvSpPr txBox="1"/>
          <p:nvPr/>
        </p:nvSpPr>
        <p:spPr>
          <a:xfrm>
            <a:off x="822960" y="5623560"/>
            <a:ext cx="10515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“Data exists everywhere on a project — and is trusted nowhere as a single source of truth.”</a:t>
            </a:r>
            <a:endParaRPr lang="en-US" sz="1500" dirty="0"/>
          </a:p>
        </p:txBody>
      </p:sp>
      <p:sp>
        <p:nvSpPr>
          <p:cNvPr id="24" name="Text 17"/>
          <p:cNvSpPr txBox="1"/>
          <p:nvPr/>
        </p:nvSpPr>
        <p:spPr>
          <a:xfrm>
            <a:off x="548640" y="653796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100" dirty="0">
                <a:solidFill>
                  <a:srgbClr val="7C8A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CLOUD-NATIVE CONSTRUCTION INTELLIGENCE PLATFORM</a:t>
            </a:r>
            <a:endParaRPr lang="en-US" sz="900" dirty="0"/>
          </a:p>
        </p:txBody>
      </p:sp>
      <p:sp>
        <p:nvSpPr>
          <p:cNvPr id="25" name="Text 18"/>
          <p:cNvSpPr txBox="1"/>
          <p:nvPr/>
        </p:nvSpPr>
        <p:spPr>
          <a:xfrm>
            <a:off x="11430000" y="6537960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C8A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10A939-66BC-6FAC-9D5E-CB5C528C5E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work/backgrounds/bg_content.png">
            <a:extLst>
              <a:ext uri="{FF2B5EF4-FFF2-40B4-BE49-F238E27FC236}">
                <a16:creationId xmlns:a16="http://schemas.microsoft.com/office/drawing/2014/main" id="{93C73336-F3ED-7E00-0F51-A0F738A2288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8092"/>
            <a:ext cx="12191695" cy="6858000"/>
          </a:xfrm>
          <a:prstGeom prst="rect">
            <a:avLst/>
          </a:prstGeom>
        </p:spPr>
      </p:pic>
      <p:sp>
        <p:nvSpPr>
          <p:cNvPr id="88" name="Text 0">
            <a:extLst>
              <a:ext uri="{FF2B5EF4-FFF2-40B4-BE49-F238E27FC236}">
                <a16:creationId xmlns:a16="http://schemas.microsoft.com/office/drawing/2014/main" id="{8D26A699-62C7-5C6C-560C-76D9CA200744}"/>
              </a:ext>
            </a:extLst>
          </p:cNvPr>
          <p:cNvSpPr txBox="1"/>
          <p:nvPr/>
        </p:nvSpPr>
        <p:spPr>
          <a:xfrm>
            <a:off x="365760" y="393192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LITERATURE REVIEW</a:t>
            </a:r>
            <a:endParaRPr lang="en-US" sz="1400" dirty="0"/>
          </a:p>
        </p:txBody>
      </p:sp>
      <p:sp>
        <p:nvSpPr>
          <p:cNvPr id="89" name="Text 1">
            <a:extLst>
              <a:ext uri="{FF2B5EF4-FFF2-40B4-BE49-F238E27FC236}">
                <a16:creationId xmlns:a16="http://schemas.microsoft.com/office/drawing/2014/main" id="{D61322D8-DE70-C329-3F7A-D378EBF4859D}"/>
              </a:ext>
            </a:extLst>
          </p:cNvPr>
          <p:cNvSpPr txBox="1"/>
          <p:nvPr/>
        </p:nvSpPr>
        <p:spPr>
          <a:xfrm>
            <a:off x="365760" y="685800"/>
            <a:ext cx="10058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4F6F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Literature Review &amp; Related Works — Part I</a:t>
            </a:r>
            <a:endParaRPr lang="en-US" sz="2800" dirty="0"/>
          </a:p>
        </p:txBody>
      </p:sp>
      <p:sp>
        <p:nvSpPr>
          <p:cNvPr id="90" name="Shape 2">
            <a:extLst>
              <a:ext uri="{FF2B5EF4-FFF2-40B4-BE49-F238E27FC236}">
                <a16:creationId xmlns:a16="http://schemas.microsoft.com/office/drawing/2014/main" id="{6AA9A953-7EBB-8589-6E60-69ECBDB6DF52}"/>
              </a:ext>
            </a:extLst>
          </p:cNvPr>
          <p:cNvSpPr/>
          <p:nvPr/>
        </p:nvSpPr>
        <p:spPr>
          <a:xfrm>
            <a:off x="365760" y="1536192"/>
            <a:ext cx="1554480" cy="365760"/>
          </a:xfrm>
          <a:prstGeom prst="rect">
            <a:avLst/>
          </a:prstGeom>
          <a:solidFill>
            <a:srgbClr val="0F1526"/>
          </a:solidFill>
          <a:ln/>
        </p:spPr>
      </p:sp>
      <p:sp>
        <p:nvSpPr>
          <p:cNvPr id="91" name="Text 3">
            <a:extLst>
              <a:ext uri="{FF2B5EF4-FFF2-40B4-BE49-F238E27FC236}">
                <a16:creationId xmlns:a16="http://schemas.microsoft.com/office/drawing/2014/main" id="{F685780A-399C-23E6-11E8-5B8E6BAAD38C}"/>
              </a:ext>
            </a:extLst>
          </p:cNvPr>
          <p:cNvSpPr txBox="1"/>
          <p:nvPr/>
        </p:nvSpPr>
        <p:spPr>
          <a:xfrm>
            <a:off x="457200" y="1536192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5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STUDY</a:t>
            </a:r>
            <a:endParaRPr lang="en-US" sz="1200" dirty="0"/>
          </a:p>
        </p:txBody>
      </p:sp>
      <p:sp>
        <p:nvSpPr>
          <p:cNvPr id="92" name="Shape 4">
            <a:extLst>
              <a:ext uri="{FF2B5EF4-FFF2-40B4-BE49-F238E27FC236}">
                <a16:creationId xmlns:a16="http://schemas.microsoft.com/office/drawing/2014/main" id="{E77AF35C-3DA1-1C92-BE92-D11D6A710004}"/>
              </a:ext>
            </a:extLst>
          </p:cNvPr>
          <p:cNvSpPr/>
          <p:nvPr/>
        </p:nvSpPr>
        <p:spPr>
          <a:xfrm>
            <a:off x="1920240" y="1536192"/>
            <a:ext cx="2331720" cy="365760"/>
          </a:xfrm>
          <a:prstGeom prst="rect">
            <a:avLst/>
          </a:prstGeom>
          <a:solidFill>
            <a:srgbClr val="0F1526"/>
          </a:solidFill>
          <a:ln/>
        </p:spPr>
      </p:sp>
      <p:sp>
        <p:nvSpPr>
          <p:cNvPr id="93" name="Text 5">
            <a:extLst>
              <a:ext uri="{FF2B5EF4-FFF2-40B4-BE49-F238E27FC236}">
                <a16:creationId xmlns:a16="http://schemas.microsoft.com/office/drawing/2014/main" id="{96433850-9D95-D983-5979-1C12FAB392EE}"/>
              </a:ext>
            </a:extLst>
          </p:cNvPr>
          <p:cNvSpPr txBox="1"/>
          <p:nvPr/>
        </p:nvSpPr>
        <p:spPr>
          <a:xfrm>
            <a:off x="2011680" y="1536192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5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PURPOSE</a:t>
            </a:r>
            <a:endParaRPr lang="en-US" sz="1200" dirty="0"/>
          </a:p>
        </p:txBody>
      </p:sp>
      <p:sp>
        <p:nvSpPr>
          <p:cNvPr id="94" name="Shape 6">
            <a:extLst>
              <a:ext uri="{FF2B5EF4-FFF2-40B4-BE49-F238E27FC236}">
                <a16:creationId xmlns:a16="http://schemas.microsoft.com/office/drawing/2014/main" id="{A83D315E-742E-737E-2D2C-DF52E8DD2586}"/>
              </a:ext>
            </a:extLst>
          </p:cNvPr>
          <p:cNvSpPr/>
          <p:nvPr/>
        </p:nvSpPr>
        <p:spPr>
          <a:xfrm>
            <a:off x="4251960" y="1536192"/>
            <a:ext cx="2606040" cy="365760"/>
          </a:xfrm>
          <a:prstGeom prst="rect">
            <a:avLst/>
          </a:prstGeom>
          <a:solidFill>
            <a:srgbClr val="0F1526"/>
          </a:solidFill>
          <a:ln/>
        </p:spPr>
      </p:sp>
      <p:sp>
        <p:nvSpPr>
          <p:cNvPr id="95" name="Text 7">
            <a:extLst>
              <a:ext uri="{FF2B5EF4-FFF2-40B4-BE49-F238E27FC236}">
                <a16:creationId xmlns:a16="http://schemas.microsoft.com/office/drawing/2014/main" id="{C4444555-A23B-EDDB-2E54-EFB4EA5B0BEE}"/>
              </a:ext>
            </a:extLst>
          </p:cNvPr>
          <p:cNvSpPr txBox="1"/>
          <p:nvPr/>
        </p:nvSpPr>
        <p:spPr>
          <a:xfrm>
            <a:off x="4343400" y="1536192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5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</a:t>
            </a:r>
            <a:endParaRPr lang="en-US" sz="1200" dirty="0"/>
          </a:p>
        </p:txBody>
      </p:sp>
      <p:sp>
        <p:nvSpPr>
          <p:cNvPr id="96" name="Shape 8">
            <a:extLst>
              <a:ext uri="{FF2B5EF4-FFF2-40B4-BE49-F238E27FC236}">
                <a16:creationId xmlns:a16="http://schemas.microsoft.com/office/drawing/2014/main" id="{4C8FC4F9-58AA-6708-BE8F-73187AF09DF2}"/>
              </a:ext>
            </a:extLst>
          </p:cNvPr>
          <p:cNvSpPr/>
          <p:nvPr/>
        </p:nvSpPr>
        <p:spPr>
          <a:xfrm>
            <a:off x="6858000" y="1536192"/>
            <a:ext cx="2606040" cy="365760"/>
          </a:xfrm>
          <a:prstGeom prst="rect">
            <a:avLst/>
          </a:prstGeom>
          <a:solidFill>
            <a:srgbClr val="0F1526"/>
          </a:solidFill>
          <a:ln/>
        </p:spPr>
      </p:sp>
      <p:sp>
        <p:nvSpPr>
          <p:cNvPr id="97" name="Text 9">
            <a:extLst>
              <a:ext uri="{FF2B5EF4-FFF2-40B4-BE49-F238E27FC236}">
                <a16:creationId xmlns:a16="http://schemas.microsoft.com/office/drawing/2014/main" id="{7A7B6D26-1D23-B734-C786-7B19ABD64F53}"/>
              </a:ext>
            </a:extLst>
          </p:cNvPr>
          <p:cNvSpPr txBox="1"/>
          <p:nvPr/>
        </p:nvSpPr>
        <p:spPr>
          <a:xfrm>
            <a:off x="6949440" y="1536192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5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OBSERVATION</a:t>
            </a:r>
            <a:endParaRPr lang="en-US" sz="1200" dirty="0"/>
          </a:p>
        </p:txBody>
      </p:sp>
      <p:sp>
        <p:nvSpPr>
          <p:cNvPr id="98" name="Shape 10">
            <a:extLst>
              <a:ext uri="{FF2B5EF4-FFF2-40B4-BE49-F238E27FC236}">
                <a16:creationId xmlns:a16="http://schemas.microsoft.com/office/drawing/2014/main" id="{E7B07632-8497-5F47-EDB9-EDB71483331C}"/>
              </a:ext>
            </a:extLst>
          </p:cNvPr>
          <p:cNvSpPr/>
          <p:nvPr/>
        </p:nvSpPr>
        <p:spPr>
          <a:xfrm>
            <a:off x="9464040" y="1536192"/>
            <a:ext cx="2377440" cy="365760"/>
          </a:xfrm>
          <a:prstGeom prst="rect">
            <a:avLst/>
          </a:prstGeom>
          <a:solidFill>
            <a:srgbClr val="0F1526"/>
          </a:solidFill>
          <a:ln/>
        </p:spPr>
      </p:sp>
      <p:sp>
        <p:nvSpPr>
          <p:cNvPr id="99" name="Text 11">
            <a:extLst>
              <a:ext uri="{FF2B5EF4-FFF2-40B4-BE49-F238E27FC236}">
                <a16:creationId xmlns:a16="http://schemas.microsoft.com/office/drawing/2014/main" id="{0A846998-529B-E5BA-86ED-9E12EBAD2FA0}"/>
              </a:ext>
            </a:extLst>
          </p:cNvPr>
          <p:cNvSpPr txBox="1"/>
          <p:nvPr/>
        </p:nvSpPr>
        <p:spPr>
          <a:xfrm>
            <a:off x="9555480" y="1536192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5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LIMITATION</a:t>
            </a:r>
            <a:endParaRPr lang="en-US" sz="1200" dirty="0"/>
          </a:p>
        </p:txBody>
      </p:sp>
      <p:sp>
        <p:nvSpPr>
          <p:cNvPr id="100" name="Shape 12">
            <a:extLst>
              <a:ext uri="{FF2B5EF4-FFF2-40B4-BE49-F238E27FC236}">
                <a16:creationId xmlns:a16="http://schemas.microsoft.com/office/drawing/2014/main" id="{5F1A6333-A49A-595B-A50A-CE9F418CD902}"/>
              </a:ext>
            </a:extLst>
          </p:cNvPr>
          <p:cNvSpPr/>
          <p:nvPr/>
        </p:nvSpPr>
        <p:spPr>
          <a:xfrm>
            <a:off x="365760" y="1901952"/>
            <a:ext cx="1554480" cy="1170432"/>
          </a:xfrm>
          <a:prstGeom prst="rect">
            <a:avLst/>
          </a:prstGeom>
          <a:solidFill>
            <a:srgbClr val="141C2E"/>
          </a:solidFill>
          <a:ln w="6350">
            <a:solidFill>
              <a:srgbClr val="26314A"/>
            </a:solidFill>
            <a:prstDash val="solid"/>
          </a:ln>
        </p:spPr>
      </p:sp>
      <p:sp>
        <p:nvSpPr>
          <p:cNvPr id="101" name="Text 13">
            <a:extLst>
              <a:ext uri="{FF2B5EF4-FFF2-40B4-BE49-F238E27FC236}">
                <a16:creationId xmlns:a16="http://schemas.microsoft.com/office/drawing/2014/main" id="{C18DDA6E-C41A-1A27-EA67-147C8054BD8E}"/>
              </a:ext>
            </a:extLst>
          </p:cNvPr>
          <p:cNvSpPr txBox="1"/>
          <p:nvPr/>
        </p:nvSpPr>
        <p:spPr>
          <a:xfrm>
            <a:off x="457200" y="1947672"/>
            <a:ext cx="137160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300" b="1" dirty="0">
                <a:solidFill>
                  <a:srgbClr val="F4F6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Chiu &amp; Russell</a:t>
            </a:r>
            <a:endParaRPr lang="en-US" sz="130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300" b="1" dirty="0">
                <a:solidFill>
                  <a:srgbClr val="F4F6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(2011)</a:t>
            </a:r>
            <a:endParaRPr lang="en-US" sz="1300" dirty="0"/>
          </a:p>
        </p:txBody>
      </p:sp>
      <p:sp>
        <p:nvSpPr>
          <p:cNvPr id="102" name="Shape 14">
            <a:extLst>
              <a:ext uri="{FF2B5EF4-FFF2-40B4-BE49-F238E27FC236}">
                <a16:creationId xmlns:a16="http://schemas.microsoft.com/office/drawing/2014/main" id="{724EA57F-CC73-43B5-994A-370C4E9978A1}"/>
              </a:ext>
            </a:extLst>
          </p:cNvPr>
          <p:cNvSpPr/>
          <p:nvPr/>
        </p:nvSpPr>
        <p:spPr>
          <a:xfrm>
            <a:off x="1920240" y="1901952"/>
            <a:ext cx="2331720" cy="1170432"/>
          </a:xfrm>
          <a:prstGeom prst="rect">
            <a:avLst/>
          </a:prstGeom>
          <a:solidFill>
            <a:srgbClr val="141C2E"/>
          </a:solidFill>
          <a:ln w="6350">
            <a:solidFill>
              <a:srgbClr val="26314A"/>
            </a:solidFill>
            <a:prstDash val="solid"/>
          </a:ln>
        </p:spPr>
      </p:sp>
      <p:sp>
        <p:nvSpPr>
          <p:cNvPr id="103" name="Text 15">
            <a:extLst>
              <a:ext uri="{FF2B5EF4-FFF2-40B4-BE49-F238E27FC236}">
                <a16:creationId xmlns:a16="http://schemas.microsoft.com/office/drawing/2014/main" id="{3E2E49F3-199C-E331-21C0-6E58899B7F05}"/>
              </a:ext>
            </a:extLst>
          </p:cNvPr>
          <p:cNvSpPr txBox="1"/>
          <p:nvPr/>
        </p:nvSpPr>
        <p:spPr>
          <a:xfrm>
            <a:off x="2011680" y="1947672"/>
            <a:ext cx="214884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A8B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Improve construction schedule monitoring through visual analytics.</a:t>
            </a:r>
            <a:endParaRPr lang="en-US" sz="1200" dirty="0"/>
          </a:p>
        </p:txBody>
      </p:sp>
      <p:sp>
        <p:nvSpPr>
          <p:cNvPr id="104" name="Shape 16">
            <a:extLst>
              <a:ext uri="{FF2B5EF4-FFF2-40B4-BE49-F238E27FC236}">
                <a16:creationId xmlns:a16="http://schemas.microsoft.com/office/drawing/2014/main" id="{8E8196DD-D10D-9475-3E8A-D24EA10041C2}"/>
              </a:ext>
            </a:extLst>
          </p:cNvPr>
          <p:cNvSpPr/>
          <p:nvPr/>
        </p:nvSpPr>
        <p:spPr>
          <a:xfrm>
            <a:off x="4251960" y="1901952"/>
            <a:ext cx="2606040" cy="1170432"/>
          </a:xfrm>
          <a:prstGeom prst="rect">
            <a:avLst/>
          </a:prstGeom>
          <a:solidFill>
            <a:srgbClr val="141C2E"/>
          </a:solidFill>
          <a:ln w="6350">
            <a:solidFill>
              <a:srgbClr val="26314A"/>
            </a:solidFill>
            <a:prstDash val="solid"/>
          </a:ln>
        </p:spPr>
      </p:sp>
      <p:sp>
        <p:nvSpPr>
          <p:cNvPr id="105" name="Text 17">
            <a:extLst>
              <a:ext uri="{FF2B5EF4-FFF2-40B4-BE49-F238E27FC236}">
                <a16:creationId xmlns:a16="http://schemas.microsoft.com/office/drawing/2014/main" id="{2D39420C-D1D2-E9EB-8363-146EF3A995F2}"/>
              </a:ext>
            </a:extLst>
          </p:cNvPr>
          <p:cNvSpPr txBox="1"/>
          <p:nvPr/>
        </p:nvSpPr>
        <p:spPr>
          <a:xfrm>
            <a:off x="4343400" y="1947672"/>
            <a:ext cx="242316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A8B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Applied visual analytics to construction schedule data for clearer progress and planning.</a:t>
            </a:r>
            <a:endParaRPr lang="en-US" sz="1200" dirty="0"/>
          </a:p>
        </p:txBody>
      </p:sp>
      <p:sp>
        <p:nvSpPr>
          <p:cNvPr id="106" name="Shape 18">
            <a:extLst>
              <a:ext uri="{FF2B5EF4-FFF2-40B4-BE49-F238E27FC236}">
                <a16:creationId xmlns:a16="http://schemas.microsoft.com/office/drawing/2014/main" id="{C42ADCFF-52BB-0678-7443-586A75D28519}"/>
              </a:ext>
            </a:extLst>
          </p:cNvPr>
          <p:cNvSpPr/>
          <p:nvPr/>
        </p:nvSpPr>
        <p:spPr>
          <a:xfrm>
            <a:off x="6858000" y="1901952"/>
            <a:ext cx="2606040" cy="1170432"/>
          </a:xfrm>
          <a:prstGeom prst="rect">
            <a:avLst/>
          </a:prstGeom>
          <a:solidFill>
            <a:srgbClr val="141C2E"/>
          </a:solidFill>
          <a:ln w="6350">
            <a:solidFill>
              <a:srgbClr val="26314A"/>
            </a:solidFill>
            <a:prstDash val="solid"/>
          </a:ln>
        </p:spPr>
      </p:sp>
      <p:sp>
        <p:nvSpPr>
          <p:cNvPr id="107" name="Text 19">
            <a:extLst>
              <a:ext uri="{FF2B5EF4-FFF2-40B4-BE49-F238E27FC236}">
                <a16:creationId xmlns:a16="http://schemas.microsoft.com/office/drawing/2014/main" id="{D2D67ACE-498F-1916-C1BD-293EDE48B9CE}"/>
              </a:ext>
            </a:extLst>
          </p:cNvPr>
          <p:cNvSpPr txBox="1"/>
          <p:nvPr/>
        </p:nvSpPr>
        <p:spPr>
          <a:xfrm>
            <a:off x="6949440" y="1947672"/>
            <a:ext cx="242316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 analytics improves schedule understanding and status identification.</a:t>
            </a:r>
            <a:endParaRPr lang="en-US" sz="1200" dirty="0"/>
          </a:p>
        </p:txBody>
      </p:sp>
      <p:sp>
        <p:nvSpPr>
          <p:cNvPr id="108" name="Shape 20">
            <a:extLst>
              <a:ext uri="{FF2B5EF4-FFF2-40B4-BE49-F238E27FC236}">
                <a16:creationId xmlns:a16="http://schemas.microsoft.com/office/drawing/2014/main" id="{46BB6267-2EF9-804C-9659-B1987033043A}"/>
              </a:ext>
            </a:extLst>
          </p:cNvPr>
          <p:cNvSpPr/>
          <p:nvPr/>
        </p:nvSpPr>
        <p:spPr>
          <a:xfrm>
            <a:off x="9464040" y="1901952"/>
            <a:ext cx="2377440" cy="1170432"/>
          </a:xfrm>
          <a:prstGeom prst="rect">
            <a:avLst/>
          </a:prstGeom>
          <a:solidFill>
            <a:srgbClr val="141C2E"/>
          </a:solidFill>
          <a:ln w="6350">
            <a:solidFill>
              <a:srgbClr val="26314A"/>
            </a:solidFill>
            <a:prstDash val="solid"/>
          </a:ln>
        </p:spPr>
      </p:sp>
      <p:sp>
        <p:nvSpPr>
          <p:cNvPr id="109" name="Text 21">
            <a:extLst>
              <a:ext uri="{FF2B5EF4-FFF2-40B4-BE49-F238E27FC236}">
                <a16:creationId xmlns:a16="http://schemas.microsoft.com/office/drawing/2014/main" id="{3137734C-471A-3078-4347-AD4809D42299}"/>
              </a:ext>
            </a:extLst>
          </p:cNvPr>
          <p:cNvSpPr txBox="1"/>
          <p:nvPr/>
        </p:nvSpPr>
        <p:spPr>
          <a:xfrm>
            <a:off x="9555480" y="1947672"/>
            <a:ext cx="219456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A8B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Schedule-focused only; no cost, resource, or predictive support.</a:t>
            </a:r>
            <a:endParaRPr lang="en-US" sz="1200" dirty="0"/>
          </a:p>
        </p:txBody>
      </p:sp>
      <p:sp>
        <p:nvSpPr>
          <p:cNvPr id="110" name="Shape 22">
            <a:extLst>
              <a:ext uri="{FF2B5EF4-FFF2-40B4-BE49-F238E27FC236}">
                <a16:creationId xmlns:a16="http://schemas.microsoft.com/office/drawing/2014/main" id="{3A10C3E8-69C2-53E4-871F-89B4F1AB53DD}"/>
              </a:ext>
            </a:extLst>
          </p:cNvPr>
          <p:cNvSpPr/>
          <p:nvPr/>
        </p:nvSpPr>
        <p:spPr>
          <a:xfrm>
            <a:off x="365760" y="3072384"/>
            <a:ext cx="1554480" cy="1170432"/>
          </a:xfrm>
          <a:prstGeom prst="rect">
            <a:avLst/>
          </a:prstGeom>
          <a:solidFill>
            <a:srgbClr val="1B2540"/>
          </a:solidFill>
          <a:ln w="6350">
            <a:solidFill>
              <a:srgbClr val="26314A"/>
            </a:solidFill>
            <a:prstDash val="solid"/>
          </a:ln>
        </p:spPr>
      </p:sp>
      <p:sp>
        <p:nvSpPr>
          <p:cNvPr id="111" name="Text 23">
            <a:extLst>
              <a:ext uri="{FF2B5EF4-FFF2-40B4-BE49-F238E27FC236}">
                <a16:creationId xmlns:a16="http://schemas.microsoft.com/office/drawing/2014/main" id="{551C806B-3FE0-D5A0-A23C-4E55FF885823}"/>
              </a:ext>
            </a:extLst>
          </p:cNvPr>
          <p:cNvSpPr txBox="1"/>
          <p:nvPr/>
        </p:nvSpPr>
        <p:spPr>
          <a:xfrm>
            <a:off x="457200" y="3118104"/>
            <a:ext cx="137160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300" b="1" dirty="0">
                <a:solidFill>
                  <a:srgbClr val="F4F6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Al-Sulaiti et al.</a:t>
            </a:r>
            <a:endParaRPr lang="en-US" sz="130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300" b="1" dirty="0">
                <a:solidFill>
                  <a:srgbClr val="F4F6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(2021)</a:t>
            </a:r>
            <a:endParaRPr lang="en-US" sz="1300" dirty="0"/>
          </a:p>
        </p:txBody>
      </p:sp>
      <p:sp>
        <p:nvSpPr>
          <p:cNvPr id="112" name="Shape 24">
            <a:extLst>
              <a:ext uri="{FF2B5EF4-FFF2-40B4-BE49-F238E27FC236}">
                <a16:creationId xmlns:a16="http://schemas.microsoft.com/office/drawing/2014/main" id="{AAB2FB04-0BAE-C624-1589-C0DF848A9E21}"/>
              </a:ext>
            </a:extLst>
          </p:cNvPr>
          <p:cNvSpPr/>
          <p:nvPr/>
        </p:nvSpPr>
        <p:spPr>
          <a:xfrm>
            <a:off x="1920240" y="3072384"/>
            <a:ext cx="2331720" cy="1170432"/>
          </a:xfrm>
          <a:prstGeom prst="rect">
            <a:avLst/>
          </a:prstGeom>
          <a:solidFill>
            <a:srgbClr val="1B2540"/>
          </a:solidFill>
          <a:ln w="6350">
            <a:solidFill>
              <a:srgbClr val="26314A"/>
            </a:solidFill>
            <a:prstDash val="solid"/>
          </a:ln>
        </p:spPr>
      </p:sp>
      <p:sp>
        <p:nvSpPr>
          <p:cNvPr id="113" name="Text 25">
            <a:extLst>
              <a:ext uri="{FF2B5EF4-FFF2-40B4-BE49-F238E27FC236}">
                <a16:creationId xmlns:a16="http://schemas.microsoft.com/office/drawing/2014/main" id="{105D778B-A0C1-164C-5339-D0EF76BD28F6}"/>
              </a:ext>
            </a:extLst>
          </p:cNvPr>
          <p:cNvSpPr txBox="1"/>
          <p:nvPr/>
        </p:nvSpPr>
        <p:spPr>
          <a:xfrm>
            <a:off x="2011680" y="3118104"/>
            <a:ext cx="214884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A8B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Improve project reporting and KPI visibility using Power BI.</a:t>
            </a:r>
            <a:endParaRPr lang="en-US" sz="1200" dirty="0"/>
          </a:p>
        </p:txBody>
      </p:sp>
      <p:sp>
        <p:nvSpPr>
          <p:cNvPr id="114" name="Shape 26">
            <a:extLst>
              <a:ext uri="{FF2B5EF4-FFF2-40B4-BE49-F238E27FC236}">
                <a16:creationId xmlns:a16="http://schemas.microsoft.com/office/drawing/2014/main" id="{1420D382-15B9-AB8D-882E-B4BC0F0FBF75}"/>
              </a:ext>
            </a:extLst>
          </p:cNvPr>
          <p:cNvSpPr/>
          <p:nvPr/>
        </p:nvSpPr>
        <p:spPr>
          <a:xfrm>
            <a:off x="4251960" y="3072384"/>
            <a:ext cx="2606040" cy="1170432"/>
          </a:xfrm>
          <a:prstGeom prst="rect">
            <a:avLst/>
          </a:prstGeom>
          <a:solidFill>
            <a:srgbClr val="1B2540"/>
          </a:solidFill>
          <a:ln w="6350">
            <a:solidFill>
              <a:srgbClr val="26314A"/>
            </a:solidFill>
            <a:prstDash val="solid"/>
          </a:ln>
        </p:spPr>
      </p:sp>
      <p:sp>
        <p:nvSpPr>
          <p:cNvPr id="115" name="Text 27">
            <a:extLst>
              <a:ext uri="{FF2B5EF4-FFF2-40B4-BE49-F238E27FC236}">
                <a16:creationId xmlns:a16="http://schemas.microsoft.com/office/drawing/2014/main" id="{8BFB3917-07D4-1A2E-6347-71175BA9D30C}"/>
              </a:ext>
            </a:extLst>
          </p:cNvPr>
          <p:cNvSpPr txBox="1"/>
          <p:nvPr/>
        </p:nvSpPr>
        <p:spPr>
          <a:xfrm>
            <a:off x="4343400" y="3118104"/>
            <a:ext cx="242316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A8B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Used Power BI to consolidate and visualize key project indicators.</a:t>
            </a:r>
            <a:endParaRPr lang="en-US" sz="1200" dirty="0"/>
          </a:p>
        </p:txBody>
      </p:sp>
      <p:sp>
        <p:nvSpPr>
          <p:cNvPr id="116" name="Shape 28">
            <a:extLst>
              <a:ext uri="{FF2B5EF4-FFF2-40B4-BE49-F238E27FC236}">
                <a16:creationId xmlns:a16="http://schemas.microsoft.com/office/drawing/2014/main" id="{A78C4D4D-E0CE-015F-4F30-40FAB0511251}"/>
              </a:ext>
            </a:extLst>
          </p:cNvPr>
          <p:cNvSpPr/>
          <p:nvPr/>
        </p:nvSpPr>
        <p:spPr>
          <a:xfrm>
            <a:off x="6858000" y="3072384"/>
            <a:ext cx="2606040" cy="1170432"/>
          </a:xfrm>
          <a:prstGeom prst="rect">
            <a:avLst/>
          </a:prstGeom>
          <a:solidFill>
            <a:srgbClr val="1B2540"/>
          </a:solidFill>
          <a:ln w="6350">
            <a:solidFill>
              <a:srgbClr val="26314A"/>
            </a:solidFill>
            <a:prstDash val="solid"/>
          </a:ln>
        </p:spPr>
      </p:sp>
      <p:sp>
        <p:nvSpPr>
          <p:cNvPr id="117" name="Text 29">
            <a:extLst>
              <a:ext uri="{FF2B5EF4-FFF2-40B4-BE49-F238E27FC236}">
                <a16:creationId xmlns:a16="http://schemas.microsoft.com/office/drawing/2014/main" id="{77DDD34A-73AF-8F7C-BF58-1085B44E6561}"/>
              </a:ext>
            </a:extLst>
          </p:cNvPr>
          <p:cNvSpPr txBox="1"/>
          <p:nvPr/>
        </p:nvSpPr>
        <p:spPr>
          <a:xfrm>
            <a:off x="6949440" y="3118104"/>
            <a:ext cx="242316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Dashboards improve KPI visibility and performance monitoring.</a:t>
            </a:r>
            <a:endParaRPr lang="en-US" sz="1200" dirty="0"/>
          </a:p>
        </p:txBody>
      </p:sp>
      <p:sp>
        <p:nvSpPr>
          <p:cNvPr id="118" name="Shape 30">
            <a:extLst>
              <a:ext uri="{FF2B5EF4-FFF2-40B4-BE49-F238E27FC236}">
                <a16:creationId xmlns:a16="http://schemas.microsoft.com/office/drawing/2014/main" id="{83A8886B-7EA2-DDDB-F7FA-6950A414B12B}"/>
              </a:ext>
            </a:extLst>
          </p:cNvPr>
          <p:cNvSpPr/>
          <p:nvPr/>
        </p:nvSpPr>
        <p:spPr>
          <a:xfrm>
            <a:off x="9464040" y="3072384"/>
            <a:ext cx="2377440" cy="1170432"/>
          </a:xfrm>
          <a:prstGeom prst="rect">
            <a:avLst/>
          </a:prstGeom>
          <a:solidFill>
            <a:srgbClr val="1B2540"/>
          </a:solidFill>
          <a:ln w="6350">
            <a:solidFill>
              <a:srgbClr val="26314A"/>
            </a:solidFill>
            <a:prstDash val="solid"/>
          </a:ln>
        </p:spPr>
      </p:sp>
      <p:sp>
        <p:nvSpPr>
          <p:cNvPr id="119" name="Text 31">
            <a:extLst>
              <a:ext uri="{FF2B5EF4-FFF2-40B4-BE49-F238E27FC236}">
                <a16:creationId xmlns:a16="http://schemas.microsoft.com/office/drawing/2014/main" id="{B990FE0A-BA0D-E537-DB66-9CF1E5F678CE}"/>
              </a:ext>
            </a:extLst>
          </p:cNvPr>
          <p:cNvSpPr txBox="1"/>
          <p:nvPr/>
        </p:nvSpPr>
        <p:spPr>
          <a:xfrm>
            <a:off x="9555480" y="3118104"/>
            <a:ext cx="219456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A8B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Mainly descriptive; limited forecasting and automation.</a:t>
            </a:r>
            <a:endParaRPr lang="en-US" sz="1200" dirty="0"/>
          </a:p>
        </p:txBody>
      </p:sp>
      <p:sp>
        <p:nvSpPr>
          <p:cNvPr id="120" name="Shape 32">
            <a:extLst>
              <a:ext uri="{FF2B5EF4-FFF2-40B4-BE49-F238E27FC236}">
                <a16:creationId xmlns:a16="http://schemas.microsoft.com/office/drawing/2014/main" id="{0B4665A0-B155-75C0-4B7E-52B91CAE3F89}"/>
              </a:ext>
            </a:extLst>
          </p:cNvPr>
          <p:cNvSpPr/>
          <p:nvPr/>
        </p:nvSpPr>
        <p:spPr>
          <a:xfrm>
            <a:off x="365760" y="4242816"/>
            <a:ext cx="1554480" cy="1170432"/>
          </a:xfrm>
          <a:prstGeom prst="rect">
            <a:avLst/>
          </a:prstGeom>
          <a:solidFill>
            <a:srgbClr val="141C2E"/>
          </a:solidFill>
          <a:ln w="6350">
            <a:solidFill>
              <a:srgbClr val="26314A"/>
            </a:solidFill>
            <a:prstDash val="solid"/>
          </a:ln>
        </p:spPr>
      </p:sp>
      <p:sp>
        <p:nvSpPr>
          <p:cNvPr id="121" name="Text 33">
            <a:extLst>
              <a:ext uri="{FF2B5EF4-FFF2-40B4-BE49-F238E27FC236}">
                <a16:creationId xmlns:a16="http://schemas.microsoft.com/office/drawing/2014/main" id="{C75C5982-8D1F-3864-8ACB-92D28633C5AD}"/>
              </a:ext>
            </a:extLst>
          </p:cNvPr>
          <p:cNvSpPr txBox="1"/>
          <p:nvPr/>
        </p:nvSpPr>
        <p:spPr>
          <a:xfrm>
            <a:off x="457200" y="4288536"/>
            <a:ext cx="137160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300" b="1" dirty="0">
                <a:solidFill>
                  <a:srgbClr val="F4F6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Radman et al.</a:t>
            </a:r>
            <a:endParaRPr lang="en-US" sz="130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300" b="1" dirty="0">
                <a:solidFill>
                  <a:srgbClr val="F4F6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(2022)</a:t>
            </a:r>
            <a:endParaRPr lang="en-US" sz="1300" dirty="0"/>
          </a:p>
        </p:txBody>
      </p:sp>
      <p:sp>
        <p:nvSpPr>
          <p:cNvPr id="122" name="Shape 34">
            <a:extLst>
              <a:ext uri="{FF2B5EF4-FFF2-40B4-BE49-F238E27FC236}">
                <a16:creationId xmlns:a16="http://schemas.microsoft.com/office/drawing/2014/main" id="{3286D3CD-7969-D5A8-8B83-5EB9E83ACDF0}"/>
              </a:ext>
            </a:extLst>
          </p:cNvPr>
          <p:cNvSpPr/>
          <p:nvPr/>
        </p:nvSpPr>
        <p:spPr>
          <a:xfrm>
            <a:off x="1920240" y="4242816"/>
            <a:ext cx="2331720" cy="1170432"/>
          </a:xfrm>
          <a:prstGeom prst="rect">
            <a:avLst/>
          </a:prstGeom>
          <a:solidFill>
            <a:srgbClr val="141C2E"/>
          </a:solidFill>
          <a:ln w="6350">
            <a:solidFill>
              <a:srgbClr val="26314A"/>
            </a:solidFill>
            <a:prstDash val="solid"/>
          </a:ln>
        </p:spPr>
      </p:sp>
      <p:sp>
        <p:nvSpPr>
          <p:cNvPr id="123" name="Text 35">
            <a:extLst>
              <a:ext uri="{FF2B5EF4-FFF2-40B4-BE49-F238E27FC236}">
                <a16:creationId xmlns:a16="http://schemas.microsoft.com/office/drawing/2014/main" id="{7BF7A0F9-FE9A-AC14-4157-01301995D7C1}"/>
              </a:ext>
            </a:extLst>
          </p:cNvPr>
          <p:cNvSpPr txBox="1"/>
          <p:nvPr/>
        </p:nvSpPr>
        <p:spPr>
          <a:xfrm>
            <a:off x="2011680" y="4288536"/>
            <a:ext cx="214884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A8B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 a cloud-based lifecycle for construction delay data.</a:t>
            </a:r>
            <a:endParaRPr lang="en-US" sz="1200" dirty="0"/>
          </a:p>
        </p:txBody>
      </p:sp>
      <p:sp>
        <p:nvSpPr>
          <p:cNvPr id="124" name="Shape 36">
            <a:extLst>
              <a:ext uri="{FF2B5EF4-FFF2-40B4-BE49-F238E27FC236}">
                <a16:creationId xmlns:a16="http://schemas.microsoft.com/office/drawing/2014/main" id="{ED3694F2-5119-BDFB-9BCA-66D15B326EE5}"/>
              </a:ext>
            </a:extLst>
          </p:cNvPr>
          <p:cNvSpPr/>
          <p:nvPr/>
        </p:nvSpPr>
        <p:spPr>
          <a:xfrm>
            <a:off x="4251960" y="4242816"/>
            <a:ext cx="2606040" cy="1170432"/>
          </a:xfrm>
          <a:prstGeom prst="rect">
            <a:avLst/>
          </a:prstGeom>
          <a:solidFill>
            <a:srgbClr val="141C2E"/>
          </a:solidFill>
          <a:ln w="6350">
            <a:solidFill>
              <a:srgbClr val="26314A"/>
            </a:solidFill>
            <a:prstDash val="solid"/>
          </a:ln>
        </p:spPr>
      </p:sp>
      <p:sp>
        <p:nvSpPr>
          <p:cNvPr id="125" name="Text 37">
            <a:extLst>
              <a:ext uri="{FF2B5EF4-FFF2-40B4-BE49-F238E27FC236}">
                <a16:creationId xmlns:a16="http://schemas.microsoft.com/office/drawing/2014/main" id="{EC095402-FF5E-29BB-5D26-0DC60D6EDCF2}"/>
              </a:ext>
            </a:extLst>
          </p:cNvPr>
          <p:cNvSpPr txBox="1"/>
          <p:nvPr/>
        </p:nvSpPr>
        <p:spPr>
          <a:xfrm>
            <a:off x="4343400" y="4288536"/>
            <a:ext cx="242316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A8B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Proposed a cloud-based data lifecycle framework for delay information.</a:t>
            </a:r>
            <a:endParaRPr lang="en-US" sz="1200" dirty="0"/>
          </a:p>
        </p:txBody>
      </p:sp>
      <p:sp>
        <p:nvSpPr>
          <p:cNvPr id="126" name="Shape 38">
            <a:extLst>
              <a:ext uri="{FF2B5EF4-FFF2-40B4-BE49-F238E27FC236}">
                <a16:creationId xmlns:a16="http://schemas.microsoft.com/office/drawing/2014/main" id="{601B019C-E4E3-F16C-711C-B4F446ACAA03}"/>
              </a:ext>
            </a:extLst>
          </p:cNvPr>
          <p:cNvSpPr/>
          <p:nvPr/>
        </p:nvSpPr>
        <p:spPr>
          <a:xfrm>
            <a:off x="6858000" y="4242816"/>
            <a:ext cx="2606040" cy="1170432"/>
          </a:xfrm>
          <a:prstGeom prst="rect">
            <a:avLst/>
          </a:prstGeom>
          <a:solidFill>
            <a:srgbClr val="141C2E"/>
          </a:solidFill>
          <a:ln w="6350">
            <a:solidFill>
              <a:srgbClr val="26314A"/>
            </a:solidFill>
            <a:prstDash val="solid"/>
          </a:ln>
        </p:spPr>
      </p:sp>
      <p:sp>
        <p:nvSpPr>
          <p:cNvPr id="127" name="Text 39">
            <a:extLst>
              <a:ext uri="{FF2B5EF4-FFF2-40B4-BE49-F238E27FC236}">
                <a16:creationId xmlns:a16="http://schemas.microsoft.com/office/drawing/2014/main" id="{0373446B-3BED-B9AB-7EC3-E29D58501229}"/>
              </a:ext>
            </a:extLst>
          </p:cNvPr>
          <p:cNvSpPr txBox="1"/>
          <p:nvPr/>
        </p:nvSpPr>
        <p:spPr>
          <a:xfrm>
            <a:off x="6949440" y="4288536"/>
            <a:ext cx="242316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Cloud-based workflows can improve data organization.</a:t>
            </a:r>
            <a:endParaRPr lang="en-US" sz="1200" dirty="0"/>
          </a:p>
        </p:txBody>
      </p:sp>
      <p:sp>
        <p:nvSpPr>
          <p:cNvPr id="128" name="Shape 40">
            <a:extLst>
              <a:ext uri="{FF2B5EF4-FFF2-40B4-BE49-F238E27FC236}">
                <a16:creationId xmlns:a16="http://schemas.microsoft.com/office/drawing/2014/main" id="{79EB2E2E-9390-48D0-7427-0C9E767EDF4A}"/>
              </a:ext>
            </a:extLst>
          </p:cNvPr>
          <p:cNvSpPr/>
          <p:nvPr/>
        </p:nvSpPr>
        <p:spPr>
          <a:xfrm>
            <a:off x="9464040" y="4242816"/>
            <a:ext cx="2377440" cy="1170432"/>
          </a:xfrm>
          <a:prstGeom prst="rect">
            <a:avLst/>
          </a:prstGeom>
          <a:solidFill>
            <a:srgbClr val="141C2E"/>
          </a:solidFill>
          <a:ln w="6350">
            <a:solidFill>
              <a:srgbClr val="26314A"/>
            </a:solidFill>
            <a:prstDash val="solid"/>
          </a:ln>
        </p:spPr>
      </p:sp>
      <p:sp>
        <p:nvSpPr>
          <p:cNvPr id="129" name="Text 41">
            <a:extLst>
              <a:ext uri="{FF2B5EF4-FFF2-40B4-BE49-F238E27FC236}">
                <a16:creationId xmlns:a16="http://schemas.microsoft.com/office/drawing/2014/main" id="{F310C977-AE54-828B-0A79-D5429B42E5A9}"/>
              </a:ext>
            </a:extLst>
          </p:cNvPr>
          <p:cNvSpPr txBox="1"/>
          <p:nvPr/>
        </p:nvSpPr>
        <p:spPr>
          <a:xfrm>
            <a:off x="9555480" y="4288536"/>
            <a:ext cx="219456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A8B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Conceptual framework; not validated in a live project.</a:t>
            </a:r>
            <a:endParaRPr lang="en-US" sz="1200" dirty="0"/>
          </a:p>
        </p:txBody>
      </p:sp>
      <p:sp>
        <p:nvSpPr>
          <p:cNvPr id="130" name="Shape 42">
            <a:extLst>
              <a:ext uri="{FF2B5EF4-FFF2-40B4-BE49-F238E27FC236}">
                <a16:creationId xmlns:a16="http://schemas.microsoft.com/office/drawing/2014/main" id="{75199221-E072-BC8B-A1E5-B79278EDA518}"/>
              </a:ext>
            </a:extLst>
          </p:cNvPr>
          <p:cNvSpPr/>
          <p:nvPr/>
        </p:nvSpPr>
        <p:spPr>
          <a:xfrm>
            <a:off x="365760" y="5596128"/>
            <a:ext cx="10927080" cy="868680"/>
          </a:xfrm>
          <a:prstGeom prst="roundRect">
            <a:avLst>
              <a:gd name="adj" fmla="val 9474"/>
            </a:avLst>
          </a:prstGeom>
          <a:solidFill>
            <a:srgbClr val="1B1710"/>
          </a:solidFill>
          <a:ln w="9525">
            <a:solidFill>
              <a:srgbClr val="26314A"/>
            </a:solidFill>
            <a:prstDash val="solid"/>
          </a:ln>
          <a:effectLst>
            <a:outerShdw blurRad="1270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31" name="Shape 43">
            <a:extLst>
              <a:ext uri="{FF2B5EF4-FFF2-40B4-BE49-F238E27FC236}">
                <a16:creationId xmlns:a16="http://schemas.microsoft.com/office/drawing/2014/main" id="{1154E0FF-C4E4-3D66-602D-B6C3FC6ABE43}"/>
              </a:ext>
            </a:extLst>
          </p:cNvPr>
          <p:cNvSpPr/>
          <p:nvPr/>
        </p:nvSpPr>
        <p:spPr>
          <a:xfrm>
            <a:off x="548640" y="5705856"/>
            <a:ext cx="502920" cy="502920"/>
          </a:xfrm>
          <a:prstGeom prst="ellipse">
            <a:avLst/>
          </a:prstGeom>
          <a:solidFill>
            <a:srgbClr val="0F1526"/>
          </a:solidFill>
          <a:ln/>
        </p:spPr>
      </p:sp>
      <p:pic>
        <p:nvPicPr>
          <p:cNvPr id="132" name="Image 0" descr="assets_recolored/lightbulb_teal.png">
            <a:extLst>
              <a:ext uri="{FF2B5EF4-FFF2-40B4-BE49-F238E27FC236}">
                <a16:creationId xmlns:a16="http://schemas.microsoft.com/office/drawing/2014/main" id="{8CA62EE7-B1D0-37C2-5C8F-05F8CC44CCB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8368" y="5815584"/>
            <a:ext cx="283464" cy="283464"/>
          </a:xfrm>
          <a:prstGeom prst="rect">
            <a:avLst/>
          </a:prstGeom>
        </p:spPr>
      </p:pic>
      <p:sp>
        <p:nvSpPr>
          <p:cNvPr id="133" name="Text 44">
            <a:extLst>
              <a:ext uri="{FF2B5EF4-FFF2-40B4-BE49-F238E27FC236}">
                <a16:creationId xmlns:a16="http://schemas.microsoft.com/office/drawing/2014/main" id="{8AE8957E-88AA-C932-FAB4-5E7F5DA69BF5}"/>
              </a:ext>
            </a:extLst>
          </p:cNvPr>
          <p:cNvSpPr txBox="1"/>
          <p:nvPr/>
        </p:nvSpPr>
        <p:spPr>
          <a:xfrm>
            <a:off x="1234440" y="5669280"/>
            <a:ext cx="9784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READING ACROSS THESE STUDIES</a:t>
            </a:r>
            <a:endParaRPr lang="en-US" sz="1200" dirty="0"/>
          </a:p>
        </p:txBody>
      </p:sp>
      <p:sp>
        <p:nvSpPr>
          <p:cNvPr id="134" name="Text 45">
            <a:extLst>
              <a:ext uri="{FF2B5EF4-FFF2-40B4-BE49-F238E27FC236}">
                <a16:creationId xmlns:a16="http://schemas.microsoft.com/office/drawing/2014/main" id="{E6647587-7559-CBF4-8171-2B9A8C9BCE07}"/>
              </a:ext>
            </a:extLst>
          </p:cNvPr>
          <p:cNvSpPr txBox="1"/>
          <p:nvPr/>
        </p:nvSpPr>
        <p:spPr>
          <a:xfrm>
            <a:off x="1234440" y="5925312"/>
            <a:ext cx="9829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F4F6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Early work proves visualization and BI dashboards raise awareness of schedule and cost status — but every system here stays descriptive, not predictive.</a:t>
            </a:r>
            <a:endParaRPr lang="en-US" sz="1300" dirty="0"/>
          </a:p>
        </p:txBody>
      </p:sp>
      <p:sp>
        <p:nvSpPr>
          <p:cNvPr id="135" name="Text 46">
            <a:extLst>
              <a:ext uri="{FF2B5EF4-FFF2-40B4-BE49-F238E27FC236}">
                <a16:creationId xmlns:a16="http://schemas.microsoft.com/office/drawing/2014/main" id="{5454D87F-8EB2-1304-307B-A79F870FDE58}"/>
              </a:ext>
            </a:extLst>
          </p:cNvPr>
          <p:cNvSpPr txBox="1"/>
          <p:nvPr/>
        </p:nvSpPr>
        <p:spPr>
          <a:xfrm>
            <a:off x="182880" y="6483096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083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CLOUD-NATIVE CONSTRUCTION PROJECT INTELLIGENCE PLATFORM   ·   Literature Review</a:t>
            </a:r>
            <a:endParaRPr lang="en-US" sz="1000" dirty="0"/>
          </a:p>
        </p:txBody>
      </p:sp>
      <p:sp>
        <p:nvSpPr>
          <p:cNvPr id="136" name="Shape 47">
            <a:extLst>
              <a:ext uri="{FF2B5EF4-FFF2-40B4-BE49-F238E27FC236}">
                <a16:creationId xmlns:a16="http://schemas.microsoft.com/office/drawing/2014/main" id="{719CFD81-053F-1205-8517-E1A3614AA2A5}"/>
              </a:ext>
            </a:extLst>
          </p:cNvPr>
          <p:cNvSpPr/>
          <p:nvPr/>
        </p:nvSpPr>
        <p:spPr>
          <a:xfrm>
            <a:off x="11109960" y="6382512"/>
            <a:ext cx="457200" cy="310896"/>
          </a:xfrm>
          <a:prstGeom prst="roundRect">
            <a:avLst>
              <a:gd name="adj" fmla="val 23529"/>
            </a:avLst>
          </a:prstGeom>
          <a:solidFill>
            <a:srgbClr val="1B2540"/>
          </a:solidFill>
          <a:ln w="9525">
            <a:solidFill>
              <a:srgbClr val="26314A"/>
            </a:solidFill>
            <a:prstDash val="solid"/>
          </a:ln>
        </p:spPr>
      </p:sp>
      <p:sp>
        <p:nvSpPr>
          <p:cNvPr id="137" name="Text 48">
            <a:extLst>
              <a:ext uri="{FF2B5EF4-FFF2-40B4-BE49-F238E27FC236}">
                <a16:creationId xmlns:a16="http://schemas.microsoft.com/office/drawing/2014/main" id="{DE0E2D0D-8129-E9F6-F741-CD12093D687B}"/>
              </a:ext>
            </a:extLst>
          </p:cNvPr>
          <p:cNvSpPr txBox="1"/>
          <p:nvPr/>
        </p:nvSpPr>
        <p:spPr>
          <a:xfrm>
            <a:off x="11109960" y="638251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100" dirty="0"/>
          </a:p>
        </p:txBody>
      </p:sp>
    </p:spTree>
    <p:extLst>
      <p:ext uri="{BB962C8B-B14F-4D97-AF65-F5344CB8AC3E}">
        <p14:creationId xmlns:p14="http://schemas.microsoft.com/office/powerpoint/2010/main" val="248009022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F3E9BC-7E66-9E5E-51FA-50C9286B37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work/backgrounds/bg_content.png">
            <a:extLst>
              <a:ext uri="{FF2B5EF4-FFF2-40B4-BE49-F238E27FC236}">
                <a16:creationId xmlns:a16="http://schemas.microsoft.com/office/drawing/2014/main" id="{5AFE5AAF-122A-5D15-5C95-94A7287C860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155" name="Text 0">
            <a:extLst>
              <a:ext uri="{FF2B5EF4-FFF2-40B4-BE49-F238E27FC236}">
                <a16:creationId xmlns:a16="http://schemas.microsoft.com/office/drawing/2014/main" id="{B67A8BED-1578-9E95-D88A-CD49800B0D91}"/>
              </a:ext>
            </a:extLst>
          </p:cNvPr>
          <p:cNvSpPr txBox="1"/>
          <p:nvPr/>
        </p:nvSpPr>
        <p:spPr>
          <a:xfrm>
            <a:off x="365760" y="421105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LITERATURE REVIEW</a:t>
            </a:r>
            <a:endParaRPr lang="en-US" sz="1400" dirty="0"/>
          </a:p>
        </p:txBody>
      </p:sp>
      <p:sp>
        <p:nvSpPr>
          <p:cNvPr id="156" name="Text 1">
            <a:extLst>
              <a:ext uri="{FF2B5EF4-FFF2-40B4-BE49-F238E27FC236}">
                <a16:creationId xmlns:a16="http://schemas.microsoft.com/office/drawing/2014/main" id="{E22766B7-C529-92C9-546A-8ED238741193}"/>
              </a:ext>
            </a:extLst>
          </p:cNvPr>
          <p:cNvSpPr txBox="1"/>
          <p:nvPr/>
        </p:nvSpPr>
        <p:spPr>
          <a:xfrm>
            <a:off x="365760" y="713713"/>
            <a:ext cx="10058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4F6F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Literature Review &amp; Related Works — Part II</a:t>
            </a:r>
            <a:endParaRPr lang="en-US" sz="2800" dirty="0"/>
          </a:p>
        </p:txBody>
      </p:sp>
      <p:sp>
        <p:nvSpPr>
          <p:cNvPr id="157" name="Shape 2">
            <a:extLst>
              <a:ext uri="{FF2B5EF4-FFF2-40B4-BE49-F238E27FC236}">
                <a16:creationId xmlns:a16="http://schemas.microsoft.com/office/drawing/2014/main" id="{8CD2FC0A-BDB1-6300-47EF-0E1A266DFD14}"/>
              </a:ext>
            </a:extLst>
          </p:cNvPr>
          <p:cNvSpPr/>
          <p:nvPr/>
        </p:nvSpPr>
        <p:spPr>
          <a:xfrm>
            <a:off x="365760" y="1564105"/>
            <a:ext cx="1554480" cy="365760"/>
          </a:xfrm>
          <a:prstGeom prst="rect">
            <a:avLst/>
          </a:prstGeom>
          <a:solidFill>
            <a:srgbClr val="0F1526"/>
          </a:solidFill>
          <a:ln/>
        </p:spPr>
      </p:sp>
      <p:sp>
        <p:nvSpPr>
          <p:cNvPr id="158" name="Text 3">
            <a:extLst>
              <a:ext uri="{FF2B5EF4-FFF2-40B4-BE49-F238E27FC236}">
                <a16:creationId xmlns:a16="http://schemas.microsoft.com/office/drawing/2014/main" id="{2C9E8090-20D8-B99E-762A-62435EE7D6A4}"/>
              </a:ext>
            </a:extLst>
          </p:cNvPr>
          <p:cNvSpPr txBox="1"/>
          <p:nvPr/>
        </p:nvSpPr>
        <p:spPr>
          <a:xfrm>
            <a:off x="457200" y="1564105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5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STUDY</a:t>
            </a:r>
            <a:endParaRPr lang="en-US" sz="1200" dirty="0"/>
          </a:p>
        </p:txBody>
      </p:sp>
      <p:sp>
        <p:nvSpPr>
          <p:cNvPr id="159" name="Shape 4">
            <a:extLst>
              <a:ext uri="{FF2B5EF4-FFF2-40B4-BE49-F238E27FC236}">
                <a16:creationId xmlns:a16="http://schemas.microsoft.com/office/drawing/2014/main" id="{BEE3BCA1-6F19-9C3A-ADA5-043C4B5DBE3A}"/>
              </a:ext>
            </a:extLst>
          </p:cNvPr>
          <p:cNvSpPr/>
          <p:nvPr/>
        </p:nvSpPr>
        <p:spPr>
          <a:xfrm>
            <a:off x="1920240" y="1564105"/>
            <a:ext cx="2331720" cy="365760"/>
          </a:xfrm>
          <a:prstGeom prst="rect">
            <a:avLst/>
          </a:prstGeom>
          <a:solidFill>
            <a:srgbClr val="0F1526"/>
          </a:solidFill>
          <a:ln/>
        </p:spPr>
      </p:sp>
      <p:sp>
        <p:nvSpPr>
          <p:cNvPr id="160" name="Text 5">
            <a:extLst>
              <a:ext uri="{FF2B5EF4-FFF2-40B4-BE49-F238E27FC236}">
                <a16:creationId xmlns:a16="http://schemas.microsoft.com/office/drawing/2014/main" id="{98D58CB0-A363-C373-1599-9EEC427E92D5}"/>
              </a:ext>
            </a:extLst>
          </p:cNvPr>
          <p:cNvSpPr txBox="1"/>
          <p:nvPr/>
        </p:nvSpPr>
        <p:spPr>
          <a:xfrm>
            <a:off x="2011680" y="1564105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5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PURPOSE</a:t>
            </a:r>
            <a:endParaRPr lang="en-US" sz="1200" dirty="0"/>
          </a:p>
        </p:txBody>
      </p:sp>
      <p:sp>
        <p:nvSpPr>
          <p:cNvPr id="161" name="Shape 6">
            <a:extLst>
              <a:ext uri="{FF2B5EF4-FFF2-40B4-BE49-F238E27FC236}">
                <a16:creationId xmlns:a16="http://schemas.microsoft.com/office/drawing/2014/main" id="{F70DFF72-1DA4-A91A-BA7B-08855BC84736}"/>
              </a:ext>
            </a:extLst>
          </p:cNvPr>
          <p:cNvSpPr/>
          <p:nvPr/>
        </p:nvSpPr>
        <p:spPr>
          <a:xfrm>
            <a:off x="4251960" y="1564105"/>
            <a:ext cx="2606040" cy="365760"/>
          </a:xfrm>
          <a:prstGeom prst="rect">
            <a:avLst/>
          </a:prstGeom>
          <a:solidFill>
            <a:srgbClr val="0F1526"/>
          </a:solidFill>
          <a:ln/>
        </p:spPr>
      </p:sp>
      <p:sp>
        <p:nvSpPr>
          <p:cNvPr id="162" name="Text 7">
            <a:extLst>
              <a:ext uri="{FF2B5EF4-FFF2-40B4-BE49-F238E27FC236}">
                <a16:creationId xmlns:a16="http://schemas.microsoft.com/office/drawing/2014/main" id="{649695A7-006B-6DDD-E0FB-E3049074ECC1}"/>
              </a:ext>
            </a:extLst>
          </p:cNvPr>
          <p:cNvSpPr txBox="1"/>
          <p:nvPr/>
        </p:nvSpPr>
        <p:spPr>
          <a:xfrm>
            <a:off x="4343400" y="1564105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5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</a:t>
            </a:r>
            <a:endParaRPr lang="en-US" sz="1200" dirty="0"/>
          </a:p>
        </p:txBody>
      </p:sp>
      <p:sp>
        <p:nvSpPr>
          <p:cNvPr id="163" name="Shape 8">
            <a:extLst>
              <a:ext uri="{FF2B5EF4-FFF2-40B4-BE49-F238E27FC236}">
                <a16:creationId xmlns:a16="http://schemas.microsoft.com/office/drawing/2014/main" id="{18CC77BA-D51F-0898-2D57-139E2C47EBF3}"/>
              </a:ext>
            </a:extLst>
          </p:cNvPr>
          <p:cNvSpPr/>
          <p:nvPr/>
        </p:nvSpPr>
        <p:spPr>
          <a:xfrm>
            <a:off x="6858000" y="1564105"/>
            <a:ext cx="2606040" cy="365760"/>
          </a:xfrm>
          <a:prstGeom prst="rect">
            <a:avLst/>
          </a:prstGeom>
          <a:solidFill>
            <a:srgbClr val="0F1526"/>
          </a:solidFill>
          <a:ln/>
        </p:spPr>
      </p:sp>
      <p:sp>
        <p:nvSpPr>
          <p:cNvPr id="164" name="Text 9">
            <a:extLst>
              <a:ext uri="{FF2B5EF4-FFF2-40B4-BE49-F238E27FC236}">
                <a16:creationId xmlns:a16="http://schemas.microsoft.com/office/drawing/2014/main" id="{D4EB75DA-3CC4-4FB5-4D04-6C5CF86EFD93}"/>
              </a:ext>
            </a:extLst>
          </p:cNvPr>
          <p:cNvSpPr txBox="1"/>
          <p:nvPr/>
        </p:nvSpPr>
        <p:spPr>
          <a:xfrm>
            <a:off x="6949440" y="1564105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5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OBSERVATION</a:t>
            </a:r>
            <a:endParaRPr lang="en-US" sz="1200" dirty="0"/>
          </a:p>
        </p:txBody>
      </p:sp>
      <p:sp>
        <p:nvSpPr>
          <p:cNvPr id="165" name="Shape 10">
            <a:extLst>
              <a:ext uri="{FF2B5EF4-FFF2-40B4-BE49-F238E27FC236}">
                <a16:creationId xmlns:a16="http://schemas.microsoft.com/office/drawing/2014/main" id="{14963AFA-2A81-8335-29F5-20B767CF9CA1}"/>
              </a:ext>
            </a:extLst>
          </p:cNvPr>
          <p:cNvSpPr/>
          <p:nvPr/>
        </p:nvSpPr>
        <p:spPr>
          <a:xfrm>
            <a:off x="9464040" y="1564105"/>
            <a:ext cx="2377440" cy="365760"/>
          </a:xfrm>
          <a:prstGeom prst="rect">
            <a:avLst/>
          </a:prstGeom>
          <a:solidFill>
            <a:srgbClr val="0F1526"/>
          </a:solidFill>
          <a:ln/>
        </p:spPr>
      </p:sp>
      <p:sp>
        <p:nvSpPr>
          <p:cNvPr id="166" name="Text 11">
            <a:extLst>
              <a:ext uri="{FF2B5EF4-FFF2-40B4-BE49-F238E27FC236}">
                <a16:creationId xmlns:a16="http://schemas.microsoft.com/office/drawing/2014/main" id="{B1D01D21-35AE-9D07-7CB0-D9FDC64CCEB3}"/>
              </a:ext>
            </a:extLst>
          </p:cNvPr>
          <p:cNvSpPr txBox="1"/>
          <p:nvPr/>
        </p:nvSpPr>
        <p:spPr>
          <a:xfrm>
            <a:off x="9555480" y="1564105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5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LIMITATION</a:t>
            </a:r>
            <a:endParaRPr lang="en-US" sz="1200" dirty="0"/>
          </a:p>
        </p:txBody>
      </p:sp>
      <p:sp>
        <p:nvSpPr>
          <p:cNvPr id="167" name="Shape 12">
            <a:extLst>
              <a:ext uri="{FF2B5EF4-FFF2-40B4-BE49-F238E27FC236}">
                <a16:creationId xmlns:a16="http://schemas.microsoft.com/office/drawing/2014/main" id="{075B31C0-B36E-B728-D65C-F2A3998FEF8F}"/>
              </a:ext>
            </a:extLst>
          </p:cNvPr>
          <p:cNvSpPr/>
          <p:nvPr/>
        </p:nvSpPr>
        <p:spPr>
          <a:xfrm>
            <a:off x="365760" y="1929865"/>
            <a:ext cx="1554480" cy="1170432"/>
          </a:xfrm>
          <a:prstGeom prst="rect">
            <a:avLst/>
          </a:prstGeom>
          <a:solidFill>
            <a:srgbClr val="141C2E"/>
          </a:solidFill>
          <a:ln w="6350">
            <a:solidFill>
              <a:srgbClr val="26314A"/>
            </a:solidFill>
            <a:prstDash val="solid"/>
          </a:ln>
        </p:spPr>
      </p:sp>
      <p:sp>
        <p:nvSpPr>
          <p:cNvPr id="168" name="Text 13">
            <a:extLst>
              <a:ext uri="{FF2B5EF4-FFF2-40B4-BE49-F238E27FC236}">
                <a16:creationId xmlns:a16="http://schemas.microsoft.com/office/drawing/2014/main" id="{B93FBDC9-C53B-D32A-0E51-6C8B36F4D38E}"/>
              </a:ext>
            </a:extLst>
          </p:cNvPr>
          <p:cNvSpPr txBox="1"/>
          <p:nvPr/>
        </p:nvSpPr>
        <p:spPr>
          <a:xfrm>
            <a:off x="457200" y="1975585"/>
            <a:ext cx="137160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300" b="1" dirty="0">
                <a:solidFill>
                  <a:srgbClr val="F4F6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Gajera</a:t>
            </a:r>
            <a:endParaRPr lang="en-US" sz="130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300" b="1" dirty="0">
                <a:solidFill>
                  <a:srgbClr val="F4F6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(2023)</a:t>
            </a:r>
            <a:endParaRPr lang="en-US" sz="1300" dirty="0"/>
          </a:p>
        </p:txBody>
      </p:sp>
      <p:sp>
        <p:nvSpPr>
          <p:cNvPr id="169" name="Shape 14">
            <a:extLst>
              <a:ext uri="{FF2B5EF4-FFF2-40B4-BE49-F238E27FC236}">
                <a16:creationId xmlns:a16="http://schemas.microsoft.com/office/drawing/2014/main" id="{0DD82E7C-1F73-6D85-0F69-333E376BA9BE}"/>
              </a:ext>
            </a:extLst>
          </p:cNvPr>
          <p:cNvSpPr/>
          <p:nvPr/>
        </p:nvSpPr>
        <p:spPr>
          <a:xfrm>
            <a:off x="1920240" y="1929865"/>
            <a:ext cx="2331720" cy="1170432"/>
          </a:xfrm>
          <a:prstGeom prst="rect">
            <a:avLst/>
          </a:prstGeom>
          <a:solidFill>
            <a:srgbClr val="141C2E"/>
          </a:solidFill>
          <a:ln w="6350">
            <a:solidFill>
              <a:srgbClr val="26314A"/>
            </a:solidFill>
            <a:prstDash val="solid"/>
          </a:ln>
        </p:spPr>
      </p:sp>
      <p:sp>
        <p:nvSpPr>
          <p:cNvPr id="170" name="Text 15">
            <a:extLst>
              <a:ext uri="{FF2B5EF4-FFF2-40B4-BE49-F238E27FC236}">
                <a16:creationId xmlns:a16="http://schemas.microsoft.com/office/drawing/2014/main" id="{46F86F90-3F17-B129-0903-8A77B0D64AC9}"/>
              </a:ext>
            </a:extLst>
          </p:cNvPr>
          <p:cNvSpPr txBox="1"/>
          <p:nvPr/>
        </p:nvSpPr>
        <p:spPr>
          <a:xfrm>
            <a:off x="2011680" y="1975585"/>
            <a:ext cx="214884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A8B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Improve construction cost monitoring and communication.</a:t>
            </a:r>
            <a:endParaRPr lang="en-US" sz="1200" dirty="0"/>
          </a:p>
        </p:txBody>
      </p:sp>
      <p:sp>
        <p:nvSpPr>
          <p:cNvPr id="171" name="Shape 16">
            <a:extLst>
              <a:ext uri="{FF2B5EF4-FFF2-40B4-BE49-F238E27FC236}">
                <a16:creationId xmlns:a16="http://schemas.microsoft.com/office/drawing/2014/main" id="{04EBD35B-006C-0139-6FE7-FD484433F447}"/>
              </a:ext>
            </a:extLst>
          </p:cNvPr>
          <p:cNvSpPr/>
          <p:nvPr/>
        </p:nvSpPr>
        <p:spPr>
          <a:xfrm>
            <a:off x="4251960" y="1929865"/>
            <a:ext cx="2606040" cy="1170432"/>
          </a:xfrm>
          <a:prstGeom prst="rect">
            <a:avLst/>
          </a:prstGeom>
          <a:solidFill>
            <a:srgbClr val="141C2E"/>
          </a:solidFill>
          <a:ln w="6350">
            <a:solidFill>
              <a:srgbClr val="26314A"/>
            </a:solidFill>
            <a:prstDash val="solid"/>
          </a:ln>
        </p:spPr>
      </p:sp>
      <p:sp>
        <p:nvSpPr>
          <p:cNvPr id="172" name="Text 17">
            <a:extLst>
              <a:ext uri="{FF2B5EF4-FFF2-40B4-BE49-F238E27FC236}">
                <a16:creationId xmlns:a16="http://schemas.microsoft.com/office/drawing/2014/main" id="{1BB5F851-8692-DEC4-C05E-0A2BA809D921}"/>
              </a:ext>
            </a:extLst>
          </p:cNvPr>
          <p:cNvSpPr txBox="1"/>
          <p:nvPr/>
        </p:nvSpPr>
        <p:spPr>
          <a:xfrm>
            <a:off x="4343400" y="1975585"/>
            <a:ext cx="242316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A8B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BI dashboards consolidate cost data and KPIs.</a:t>
            </a:r>
            <a:endParaRPr lang="en-US" sz="1200" dirty="0"/>
          </a:p>
        </p:txBody>
      </p:sp>
      <p:sp>
        <p:nvSpPr>
          <p:cNvPr id="173" name="Shape 18">
            <a:extLst>
              <a:ext uri="{FF2B5EF4-FFF2-40B4-BE49-F238E27FC236}">
                <a16:creationId xmlns:a16="http://schemas.microsoft.com/office/drawing/2014/main" id="{D1FB797B-501C-AAEE-35F5-E77503FEEFE1}"/>
              </a:ext>
            </a:extLst>
          </p:cNvPr>
          <p:cNvSpPr/>
          <p:nvPr/>
        </p:nvSpPr>
        <p:spPr>
          <a:xfrm>
            <a:off x="6858000" y="1929865"/>
            <a:ext cx="2606040" cy="1170432"/>
          </a:xfrm>
          <a:prstGeom prst="rect">
            <a:avLst/>
          </a:prstGeom>
          <a:solidFill>
            <a:srgbClr val="141C2E"/>
          </a:solidFill>
          <a:ln w="6350">
            <a:solidFill>
              <a:srgbClr val="26314A"/>
            </a:solidFill>
            <a:prstDash val="solid"/>
          </a:ln>
        </p:spPr>
      </p:sp>
      <p:sp>
        <p:nvSpPr>
          <p:cNvPr id="174" name="Text 19">
            <a:extLst>
              <a:ext uri="{FF2B5EF4-FFF2-40B4-BE49-F238E27FC236}">
                <a16:creationId xmlns:a16="http://schemas.microsoft.com/office/drawing/2014/main" id="{DB13BC7E-481E-7B68-441F-9C53853D38FA}"/>
              </a:ext>
            </a:extLst>
          </p:cNvPr>
          <p:cNvSpPr txBox="1"/>
          <p:nvPr/>
        </p:nvSpPr>
        <p:spPr>
          <a:xfrm>
            <a:off x="6949440" y="1975585"/>
            <a:ext cx="242316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Improved budget visibility and faster issue identification.</a:t>
            </a:r>
            <a:endParaRPr lang="en-US" sz="1200" dirty="0"/>
          </a:p>
        </p:txBody>
      </p:sp>
      <p:sp>
        <p:nvSpPr>
          <p:cNvPr id="175" name="Shape 20">
            <a:extLst>
              <a:ext uri="{FF2B5EF4-FFF2-40B4-BE49-F238E27FC236}">
                <a16:creationId xmlns:a16="http://schemas.microsoft.com/office/drawing/2014/main" id="{EDB977D8-6953-6353-8F38-7B440F70CCD3}"/>
              </a:ext>
            </a:extLst>
          </p:cNvPr>
          <p:cNvSpPr/>
          <p:nvPr/>
        </p:nvSpPr>
        <p:spPr>
          <a:xfrm>
            <a:off x="9464040" y="1929865"/>
            <a:ext cx="2377440" cy="1170432"/>
          </a:xfrm>
          <a:prstGeom prst="rect">
            <a:avLst/>
          </a:prstGeom>
          <a:solidFill>
            <a:srgbClr val="141C2E"/>
          </a:solidFill>
          <a:ln w="6350">
            <a:solidFill>
              <a:srgbClr val="26314A"/>
            </a:solidFill>
            <a:prstDash val="solid"/>
          </a:ln>
        </p:spPr>
      </p:sp>
      <p:sp>
        <p:nvSpPr>
          <p:cNvPr id="176" name="Text 21">
            <a:extLst>
              <a:ext uri="{FF2B5EF4-FFF2-40B4-BE49-F238E27FC236}">
                <a16:creationId xmlns:a16="http://schemas.microsoft.com/office/drawing/2014/main" id="{584FE1ED-38A7-A2A1-5C38-7C4668B07E2C}"/>
              </a:ext>
            </a:extLst>
          </p:cNvPr>
          <p:cNvSpPr txBox="1"/>
          <p:nvPr/>
        </p:nvSpPr>
        <p:spPr>
          <a:xfrm>
            <a:off x="9555480" y="1975585"/>
            <a:ext cx="219456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A8B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live deployment; limited automation and integration.</a:t>
            </a:r>
            <a:endParaRPr lang="en-US" sz="1200" dirty="0"/>
          </a:p>
        </p:txBody>
      </p:sp>
      <p:sp>
        <p:nvSpPr>
          <p:cNvPr id="177" name="Shape 22">
            <a:extLst>
              <a:ext uri="{FF2B5EF4-FFF2-40B4-BE49-F238E27FC236}">
                <a16:creationId xmlns:a16="http://schemas.microsoft.com/office/drawing/2014/main" id="{A87E0B95-B7B1-A05F-3C94-9E6E5AAF7E4F}"/>
              </a:ext>
            </a:extLst>
          </p:cNvPr>
          <p:cNvSpPr/>
          <p:nvPr/>
        </p:nvSpPr>
        <p:spPr>
          <a:xfrm>
            <a:off x="365760" y="3100297"/>
            <a:ext cx="1554480" cy="1170432"/>
          </a:xfrm>
          <a:prstGeom prst="rect">
            <a:avLst/>
          </a:prstGeom>
          <a:solidFill>
            <a:srgbClr val="1B2540"/>
          </a:solidFill>
          <a:ln w="6350">
            <a:solidFill>
              <a:srgbClr val="26314A"/>
            </a:solidFill>
            <a:prstDash val="solid"/>
          </a:ln>
        </p:spPr>
      </p:sp>
      <p:sp>
        <p:nvSpPr>
          <p:cNvPr id="178" name="Text 23">
            <a:extLst>
              <a:ext uri="{FF2B5EF4-FFF2-40B4-BE49-F238E27FC236}">
                <a16:creationId xmlns:a16="http://schemas.microsoft.com/office/drawing/2014/main" id="{878FA44F-16AF-4C77-E05B-D4F60E4E814F}"/>
              </a:ext>
            </a:extLst>
          </p:cNvPr>
          <p:cNvSpPr txBox="1"/>
          <p:nvPr/>
        </p:nvSpPr>
        <p:spPr>
          <a:xfrm>
            <a:off x="457200" y="3146017"/>
            <a:ext cx="137160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300" b="1" dirty="0">
                <a:solidFill>
                  <a:srgbClr val="F4F6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Zhang &amp; Wang</a:t>
            </a:r>
            <a:endParaRPr lang="en-US" sz="130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300" b="1" dirty="0">
                <a:solidFill>
                  <a:srgbClr val="F4F6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(2023)</a:t>
            </a:r>
            <a:endParaRPr lang="en-US" sz="1300" dirty="0"/>
          </a:p>
        </p:txBody>
      </p:sp>
      <p:sp>
        <p:nvSpPr>
          <p:cNvPr id="179" name="Shape 24">
            <a:extLst>
              <a:ext uri="{FF2B5EF4-FFF2-40B4-BE49-F238E27FC236}">
                <a16:creationId xmlns:a16="http://schemas.microsoft.com/office/drawing/2014/main" id="{A461F5FB-1EEF-AE10-E376-30D8B9867046}"/>
              </a:ext>
            </a:extLst>
          </p:cNvPr>
          <p:cNvSpPr/>
          <p:nvPr/>
        </p:nvSpPr>
        <p:spPr>
          <a:xfrm>
            <a:off x="1920240" y="3100297"/>
            <a:ext cx="2331720" cy="1170432"/>
          </a:xfrm>
          <a:prstGeom prst="rect">
            <a:avLst/>
          </a:prstGeom>
          <a:solidFill>
            <a:srgbClr val="1B2540"/>
          </a:solidFill>
          <a:ln w="6350">
            <a:solidFill>
              <a:srgbClr val="26314A"/>
            </a:solidFill>
            <a:prstDash val="solid"/>
          </a:ln>
        </p:spPr>
      </p:sp>
      <p:sp>
        <p:nvSpPr>
          <p:cNvPr id="180" name="Text 25">
            <a:extLst>
              <a:ext uri="{FF2B5EF4-FFF2-40B4-BE49-F238E27FC236}">
                <a16:creationId xmlns:a16="http://schemas.microsoft.com/office/drawing/2014/main" id="{D38747D6-C974-EEE7-A715-E732DDF7DFC6}"/>
              </a:ext>
            </a:extLst>
          </p:cNvPr>
          <p:cNvSpPr txBox="1"/>
          <p:nvPr/>
        </p:nvSpPr>
        <p:spPr>
          <a:xfrm>
            <a:off x="2011680" y="3146017"/>
            <a:ext cx="214884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A8B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Improve construction delay-risk assessment.</a:t>
            </a:r>
            <a:endParaRPr lang="en-US" sz="1200" dirty="0"/>
          </a:p>
        </p:txBody>
      </p:sp>
      <p:sp>
        <p:nvSpPr>
          <p:cNvPr id="181" name="Shape 26">
            <a:extLst>
              <a:ext uri="{FF2B5EF4-FFF2-40B4-BE49-F238E27FC236}">
                <a16:creationId xmlns:a16="http://schemas.microsoft.com/office/drawing/2014/main" id="{0B26A940-97AA-2483-1A84-C3016428F91A}"/>
              </a:ext>
            </a:extLst>
          </p:cNvPr>
          <p:cNvSpPr/>
          <p:nvPr/>
        </p:nvSpPr>
        <p:spPr>
          <a:xfrm>
            <a:off x="4251960" y="3100297"/>
            <a:ext cx="2606040" cy="1170432"/>
          </a:xfrm>
          <a:prstGeom prst="rect">
            <a:avLst/>
          </a:prstGeom>
          <a:solidFill>
            <a:srgbClr val="1B2540"/>
          </a:solidFill>
          <a:ln w="6350">
            <a:solidFill>
              <a:srgbClr val="26314A"/>
            </a:solidFill>
            <a:prstDash val="solid"/>
          </a:ln>
        </p:spPr>
      </p:sp>
      <p:sp>
        <p:nvSpPr>
          <p:cNvPr id="182" name="Text 27">
            <a:extLst>
              <a:ext uri="{FF2B5EF4-FFF2-40B4-BE49-F238E27FC236}">
                <a16:creationId xmlns:a16="http://schemas.microsoft.com/office/drawing/2014/main" id="{BAA440A2-85D6-AC05-C649-65FAB0E349D2}"/>
              </a:ext>
            </a:extLst>
          </p:cNvPr>
          <p:cNvSpPr txBox="1"/>
          <p:nvPr/>
        </p:nvSpPr>
        <p:spPr>
          <a:xfrm>
            <a:off x="4343400" y="3146017"/>
            <a:ext cx="242316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A8B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BIM + probabilistic analysis to identify high-risk activities.</a:t>
            </a:r>
            <a:endParaRPr lang="en-US" sz="1200" dirty="0"/>
          </a:p>
        </p:txBody>
      </p:sp>
      <p:sp>
        <p:nvSpPr>
          <p:cNvPr id="183" name="Shape 28">
            <a:extLst>
              <a:ext uri="{FF2B5EF4-FFF2-40B4-BE49-F238E27FC236}">
                <a16:creationId xmlns:a16="http://schemas.microsoft.com/office/drawing/2014/main" id="{5591C943-2815-D3E4-8746-40BD09E7BC77}"/>
              </a:ext>
            </a:extLst>
          </p:cNvPr>
          <p:cNvSpPr/>
          <p:nvPr/>
        </p:nvSpPr>
        <p:spPr>
          <a:xfrm>
            <a:off x="6858000" y="3100297"/>
            <a:ext cx="2606040" cy="1170432"/>
          </a:xfrm>
          <a:prstGeom prst="rect">
            <a:avLst/>
          </a:prstGeom>
          <a:solidFill>
            <a:srgbClr val="1B2540"/>
          </a:solidFill>
          <a:ln w="6350">
            <a:solidFill>
              <a:srgbClr val="26314A"/>
            </a:solidFill>
            <a:prstDash val="solid"/>
          </a:ln>
        </p:spPr>
      </p:sp>
      <p:sp>
        <p:nvSpPr>
          <p:cNvPr id="184" name="Text 29">
            <a:extLst>
              <a:ext uri="{FF2B5EF4-FFF2-40B4-BE49-F238E27FC236}">
                <a16:creationId xmlns:a16="http://schemas.microsoft.com/office/drawing/2014/main" id="{F506AE9A-FB6D-AD1C-8854-FC7892107ECC}"/>
              </a:ext>
            </a:extLst>
          </p:cNvPr>
          <p:cNvSpPr txBox="1"/>
          <p:nvPr/>
        </p:nvSpPr>
        <p:spPr>
          <a:xfrm>
            <a:off x="6949440" y="3146017"/>
            <a:ext cx="242316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Improved identification of risky activities and vulnerabilities.</a:t>
            </a:r>
            <a:endParaRPr lang="en-US" sz="1200" dirty="0"/>
          </a:p>
        </p:txBody>
      </p:sp>
      <p:sp>
        <p:nvSpPr>
          <p:cNvPr id="185" name="Shape 30">
            <a:extLst>
              <a:ext uri="{FF2B5EF4-FFF2-40B4-BE49-F238E27FC236}">
                <a16:creationId xmlns:a16="http://schemas.microsoft.com/office/drawing/2014/main" id="{59F1BA85-C8D3-17DD-61D7-6085AC090875}"/>
              </a:ext>
            </a:extLst>
          </p:cNvPr>
          <p:cNvSpPr/>
          <p:nvPr/>
        </p:nvSpPr>
        <p:spPr>
          <a:xfrm>
            <a:off x="9464040" y="3100297"/>
            <a:ext cx="2377440" cy="1170432"/>
          </a:xfrm>
          <a:prstGeom prst="rect">
            <a:avLst/>
          </a:prstGeom>
          <a:solidFill>
            <a:srgbClr val="1B2540"/>
          </a:solidFill>
          <a:ln w="6350">
            <a:solidFill>
              <a:srgbClr val="26314A"/>
            </a:solidFill>
            <a:prstDash val="solid"/>
          </a:ln>
        </p:spPr>
      </p:sp>
      <p:sp>
        <p:nvSpPr>
          <p:cNvPr id="186" name="Text 31">
            <a:extLst>
              <a:ext uri="{FF2B5EF4-FFF2-40B4-BE49-F238E27FC236}">
                <a16:creationId xmlns:a16="http://schemas.microsoft.com/office/drawing/2014/main" id="{AAF03C8C-365B-376A-1679-6A7B1376EF1E}"/>
              </a:ext>
            </a:extLst>
          </p:cNvPr>
          <p:cNvSpPr txBox="1"/>
          <p:nvPr/>
        </p:nvSpPr>
        <p:spPr>
          <a:xfrm>
            <a:off x="9555480" y="3146017"/>
            <a:ext cx="219456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A8B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Complex approach; relies on manual review.</a:t>
            </a:r>
            <a:endParaRPr lang="en-US" sz="1200" dirty="0"/>
          </a:p>
        </p:txBody>
      </p:sp>
      <p:sp>
        <p:nvSpPr>
          <p:cNvPr id="187" name="Shape 32">
            <a:extLst>
              <a:ext uri="{FF2B5EF4-FFF2-40B4-BE49-F238E27FC236}">
                <a16:creationId xmlns:a16="http://schemas.microsoft.com/office/drawing/2014/main" id="{D2FF4F6B-7397-9A86-0375-613138FE5D1C}"/>
              </a:ext>
            </a:extLst>
          </p:cNvPr>
          <p:cNvSpPr/>
          <p:nvPr/>
        </p:nvSpPr>
        <p:spPr>
          <a:xfrm>
            <a:off x="365760" y="4270729"/>
            <a:ext cx="1554480" cy="1170432"/>
          </a:xfrm>
          <a:prstGeom prst="rect">
            <a:avLst/>
          </a:prstGeom>
          <a:solidFill>
            <a:srgbClr val="141C2E"/>
          </a:solidFill>
          <a:ln w="6350">
            <a:solidFill>
              <a:srgbClr val="26314A"/>
            </a:solidFill>
            <a:prstDash val="solid"/>
          </a:ln>
        </p:spPr>
      </p:sp>
      <p:sp>
        <p:nvSpPr>
          <p:cNvPr id="188" name="Text 33">
            <a:extLst>
              <a:ext uri="{FF2B5EF4-FFF2-40B4-BE49-F238E27FC236}">
                <a16:creationId xmlns:a16="http://schemas.microsoft.com/office/drawing/2014/main" id="{593D4250-4CF8-9A96-D81D-C22492D3F035}"/>
              </a:ext>
            </a:extLst>
          </p:cNvPr>
          <p:cNvSpPr txBox="1"/>
          <p:nvPr/>
        </p:nvSpPr>
        <p:spPr>
          <a:xfrm>
            <a:off x="457200" y="4316449"/>
            <a:ext cx="137160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300" b="1" dirty="0">
                <a:solidFill>
                  <a:srgbClr val="F4F6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Sanusi</a:t>
            </a:r>
            <a:endParaRPr lang="en-US" sz="130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300" b="1" dirty="0">
                <a:solidFill>
                  <a:srgbClr val="F4F6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(2024)</a:t>
            </a:r>
            <a:endParaRPr lang="en-US" sz="1300" dirty="0"/>
          </a:p>
        </p:txBody>
      </p:sp>
      <p:sp>
        <p:nvSpPr>
          <p:cNvPr id="189" name="Shape 34">
            <a:extLst>
              <a:ext uri="{FF2B5EF4-FFF2-40B4-BE49-F238E27FC236}">
                <a16:creationId xmlns:a16="http://schemas.microsoft.com/office/drawing/2014/main" id="{A1232F59-A035-1D5E-CFDE-609A64217053}"/>
              </a:ext>
            </a:extLst>
          </p:cNvPr>
          <p:cNvSpPr/>
          <p:nvPr/>
        </p:nvSpPr>
        <p:spPr>
          <a:xfrm>
            <a:off x="1920240" y="4270729"/>
            <a:ext cx="2331720" cy="1170432"/>
          </a:xfrm>
          <a:prstGeom prst="rect">
            <a:avLst/>
          </a:prstGeom>
          <a:solidFill>
            <a:srgbClr val="141C2E"/>
          </a:solidFill>
          <a:ln w="6350">
            <a:solidFill>
              <a:srgbClr val="26314A"/>
            </a:solidFill>
            <a:prstDash val="solid"/>
          </a:ln>
        </p:spPr>
      </p:sp>
      <p:sp>
        <p:nvSpPr>
          <p:cNvPr id="190" name="Text 35">
            <a:extLst>
              <a:ext uri="{FF2B5EF4-FFF2-40B4-BE49-F238E27FC236}">
                <a16:creationId xmlns:a16="http://schemas.microsoft.com/office/drawing/2014/main" id="{A1250256-CE68-CAB2-B270-2EB82EF4FE73}"/>
              </a:ext>
            </a:extLst>
          </p:cNvPr>
          <p:cNvSpPr txBox="1"/>
          <p:nvPr/>
        </p:nvSpPr>
        <p:spPr>
          <a:xfrm>
            <a:off x="2011680" y="4316449"/>
            <a:ext cx="214884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A8B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Enable earlier prediction of project delays.</a:t>
            </a:r>
            <a:endParaRPr lang="en-US" sz="1200" dirty="0"/>
          </a:p>
        </p:txBody>
      </p:sp>
      <p:sp>
        <p:nvSpPr>
          <p:cNvPr id="191" name="Shape 36">
            <a:extLst>
              <a:ext uri="{FF2B5EF4-FFF2-40B4-BE49-F238E27FC236}">
                <a16:creationId xmlns:a16="http://schemas.microsoft.com/office/drawing/2014/main" id="{12DAA263-F384-2A60-3E39-DE94B834361C}"/>
              </a:ext>
            </a:extLst>
          </p:cNvPr>
          <p:cNvSpPr/>
          <p:nvPr/>
        </p:nvSpPr>
        <p:spPr>
          <a:xfrm>
            <a:off x="4251960" y="4270729"/>
            <a:ext cx="2606040" cy="1170432"/>
          </a:xfrm>
          <a:prstGeom prst="rect">
            <a:avLst/>
          </a:prstGeom>
          <a:solidFill>
            <a:srgbClr val="141C2E"/>
          </a:solidFill>
          <a:ln w="6350">
            <a:solidFill>
              <a:srgbClr val="26314A"/>
            </a:solidFill>
            <a:prstDash val="solid"/>
          </a:ln>
        </p:spPr>
      </p:sp>
      <p:sp>
        <p:nvSpPr>
          <p:cNvPr id="192" name="Text 37">
            <a:extLst>
              <a:ext uri="{FF2B5EF4-FFF2-40B4-BE49-F238E27FC236}">
                <a16:creationId xmlns:a16="http://schemas.microsoft.com/office/drawing/2014/main" id="{65189EA3-70DF-F886-B4E2-453169ADBA52}"/>
              </a:ext>
            </a:extLst>
          </p:cNvPr>
          <p:cNvSpPr txBox="1"/>
          <p:nvPr/>
        </p:nvSpPr>
        <p:spPr>
          <a:xfrm>
            <a:off x="4343400" y="4316449"/>
            <a:ext cx="242316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A8B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of predictive analytics and ML for delay forecasting.</a:t>
            </a:r>
            <a:endParaRPr lang="en-US" sz="1200" dirty="0"/>
          </a:p>
        </p:txBody>
      </p:sp>
      <p:sp>
        <p:nvSpPr>
          <p:cNvPr id="193" name="Shape 38">
            <a:extLst>
              <a:ext uri="{FF2B5EF4-FFF2-40B4-BE49-F238E27FC236}">
                <a16:creationId xmlns:a16="http://schemas.microsoft.com/office/drawing/2014/main" id="{20496F85-BF10-C6A7-E60B-2B7145440075}"/>
              </a:ext>
            </a:extLst>
          </p:cNvPr>
          <p:cNvSpPr/>
          <p:nvPr/>
        </p:nvSpPr>
        <p:spPr>
          <a:xfrm>
            <a:off x="6858000" y="4270729"/>
            <a:ext cx="2606040" cy="1170432"/>
          </a:xfrm>
          <a:prstGeom prst="rect">
            <a:avLst/>
          </a:prstGeom>
          <a:solidFill>
            <a:srgbClr val="141C2E"/>
          </a:solidFill>
          <a:ln w="6350">
            <a:solidFill>
              <a:srgbClr val="26314A"/>
            </a:solidFill>
            <a:prstDash val="solid"/>
          </a:ln>
        </p:spPr>
      </p:sp>
      <p:sp>
        <p:nvSpPr>
          <p:cNvPr id="194" name="Text 39">
            <a:extLst>
              <a:ext uri="{FF2B5EF4-FFF2-40B4-BE49-F238E27FC236}">
                <a16:creationId xmlns:a16="http://schemas.microsoft.com/office/drawing/2014/main" id="{F2C34345-5D53-D391-0D6E-2722B4CE5A3B}"/>
              </a:ext>
            </a:extLst>
          </p:cNvPr>
          <p:cNvSpPr txBox="1"/>
          <p:nvPr/>
        </p:nvSpPr>
        <p:spPr>
          <a:xfrm>
            <a:off x="6949440" y="4316449"/>
            <a:ext cx="242316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Data-driven methods support earlier risk warnings.</a:t>
            </a:r>
            <a:endParaRPr lang="en-US" sz="1200" dirty="0"/>
          </a:p>
        </p:txBody>
      </p:sp>
      <p:sp>
        <p:nvSpPr>
          <p:cNvPr id="195" name="Shape 40">
            <a:extLst>
              <a:ext uri="{FF2B5EF4-FFF2-40B4-BE49-F238E27FC236}">
                <a16:creationId xmlns:a16="http://schemas.microsoft.com/office/drawing/2014/main" id="{60F0B62E-8F05-91D7-A394-9CBF0C612D88}"/>
              </a:ext>
            </a:extLst>
          </p:cNvPr>
          <p:cNvSpPr/>
          <p:nvPr/>
        </p:nvSpPr>
        <p:spPr>
          <a:xfrm>
            <a:off x="9464040" y="4270729"/>
            <a:ext cx="2377440" cy="1170432"/>
          </a:xfrm>
          <a:prstGeom prst="rect">
            <a:avLst/>
          </a:prstGeom>
          <a:solidFill>
            <a:srgbClr val="141C2E"/>
          </a:solidFill>
          <a:ln w="6350">
            <a:solidFill>
              <a:srgbClr val="26314A"/>
            </a:solidFill>
            <a:prstDash val="solid"/>
          </a:ln>
        </p:spPr>
      </p:sp>
      <p:sp>
        <p:nvSpPr>
          <p:cNvPr id="196" name="Text 41">
            <a:extLst>
              <a:ext uri="{FF2B5EF4-FFF2-40B4-BE49-F238E27FC236}">
                <a16:creationId xmlns:a16="http://schemas.microsoft.com/office/drawing/2014/main" id="{6C6EF814-5FAA-CEC8-A14F-8EB6264A0A89}"/>
              </a:ext>
            </a:extLst>
          </p:cNvPr>
          <p:cNvSpPr txBox="1"/>
          <p:nvPr/>
        </p:nvSpPr>
        <p:spPr>
          <a:xfrm>
            <a:off x="9555480" y="4316449"/>
            <a:ext cx="219456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A8B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Review-based; not tested in a live system.</a:t>
            </a:r>
            <a:endParaRPr lang="en-US" sz="1200" dirty="0"/>
          </a:p>
        </p:txBody>
      </p:sp>
      <p:sp>
        <p:nvSpPr>
          <p:cNvPr id="197" name="Shape 42">
            <a:extLst>
              <a:ext uri="{FF2B5EF4-FFF2-40B4-BE49-F238E27FC236}">
                <a16:creationId xmlns:a16="http://schemas.microsoft.com/office/drawing/2014/main" id="{523456B8-B8A7-5D57-F126-AA4280DEDB5A}"/>
              </a:ext>
            </a:extLst>
          </p:cNvPr>
          <p:cNvSpPr/>
          <p:nvPr/>
        </p:nvSpPr>
        <p:spPr>
          <a:xfrm>
            <a:off x="365760" y="5624041"/>
            <a:ext cx="10927080" cy="868680"/>
          </a:xfrm>
          <a:prstGeom prst="roundRect">
            <a:avLst>
              <a:gd name="adj" fmla="val 9474"/>
            </a:avLst>
          </a:prstGeom>
          <a:solidFill>
            <a:srgbClr val="1B1710"/>
          </a:solidFill>
          <a:ln w="9525">
            <a:solidFill>
              <a:srgbClr val="26314A"/>
            </a:solidFill>
            <a:prstDash val="solid"/>
          </a:ln>
          <a:effectLst>
            <a:outerShdw blurRad="1270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98" name="Shape 43">
            <a:extLst>
              <a:ext uri="{FF2B5EF4-FFF2-40B4-BE49-F238E27FC236}">
                <a16:creationId xmlns:a16="http://schemas.microsoft.com/office/drawing/2014/main" id="{5A25E14F-05C9-CBED-4754-A7DFAA6F7E92}"/>
              </a:ext>
            </a:extLst>
          </p:cNvPr>
          <p:cNvSpPr/>
          <p:nvPr/>
        </p:nvSpPr>
        <p:spPr>
          <a:xfrm>
            <a:off x="548640" y="5733769"/>
            <a:ext cx="502920" cy="502920"/>
          </a:xfrm>
          <a:prstGeom prst="ellipse">
            <a:avLst/>
          </a:prstGeom>
          <a:solidFill>
            <a:srgbClr val="0F1526"/>
          </a:solidFill>
          <a:ln/>
        </p:spPr>
      </p:sp>
      <p:pic>
        <p:nvPicPr>
          <p:cNvPr id="199" name="Image 0" descr="assets_recolored/lightbulb_teal.png">
            <a:extLst>
              <a:ext uri="{FF2B5EF4-FFF2-40B4-BE49-F238E27FC236}">
                <a16:creationId xmlns:a16="http://schemas.microsoft.com/office/drawing/2014/main" id="{C6DE8684-ACA1-9EEE-F52D-86784EF3158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8368" y="5843497"/>
            <a:ext cx="283464" cy="283464"/>
          </a:xfrm>
          <a:prstGeom prst="rect">
            <a:avLst/>
          </a:prstGeom>
        </p:spPr>
      </p:pic>
      <p:sp>
        <p:nvSpPr>
          <p:cNvPr id="200" name="Text 44">
            <a:extLst>
              <a:ext uri="{FF2B5EF4-FFF2-40B4-BE49-F238E27FC236}">
                <a16:creationId xmlns:a16="http://schemas.microsoft.com/office/drawing/2014/main" id="{2808C669-E68A-82BA-B815-B93D14C42B52}"/>
              </a:ext>
            </a:extLst>
          </p:cNvPr>
          <p:cNvSpPr txBox="1"/>
          <p:nvPr/>
        </p:nvSpPr>
        <p:spPr>
          <a:xfrm>
            <a:off x="1234440" y="5697193"/>
            <a:ext cx="9784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READING ACROSS THESE STUDIES</a:t>
            </a:r>
            <a:endParaRPr lang="en-US" sz="1200" dirty="0"/>
          </a:p>
        </p:txBody>
      </p:sp>
      <p:sp>
        <p:nvSpPr>
          <p:cNvPr id="201" name="Text 45">
            <a:extLst>
              <a:ext uri="{FF2B5EF4-FFF2-40B4-BE49-F238E27FC236}">
                <a16:creationId xmlns:a16="http://schemas.microsoft.com/office/drawing/2014/main" id="{152DD212-7E42-B9B2-A06E-C768BA83338F}"/>
              </a:ext>
            </a:extLst>
          </p:cNvPr>
          <p:cNvSpPr txBox="1"/>
          <p:nvPr/>
        </p:nvSpPr>
        <p:spPr>
          <a:xfrm>
            <a:off x="1234440" y="5953225"/>
            <a:ext cx="9829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F4F6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Later work pushes toward prediction and risk scoring — but each remains a conceptual model, a manual process, or an unvalidated proposal.</a:t>
            </a:r>
            <a:endParaRPr lang="en-US" sz="1300" dirty="0"/>
          </a:p>
        </p:txBody>
      </p:sp>
      <p:sp>
        <p:nvSpPr>
          <p:cNvPr id="202" name="Text 46">
            <a:extLst>
              <a:ext uri="{FF2B5EF4-FFF2-40B4-BE49-F238E27FC236}">
                <a16:creationId xmlns:a16="http://schemas.microsoft.com/office/drawing/2014/main" id="{44CAC724-6CE8-3757-5462-9DFFE2F9B4D1}"/>
              </a:ext>
            </a:extLst>
          </p:cNvPr>
          <p:cNvSpPr txBox="1"/>
          <p:nvPr/>
        </p:nvSpPr>
        <p:spPr>
          <a:xfrm>
            <a:off x="182880" y="6511009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083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CLOUD-NATIVE CONSTRUCTION PROJECT INTELLIGENCE PLATFORM   ·   Literature Review</a:t>
            </a:r>
            <a:endParaRPr lang="en-US" sz="1000" dirty="0"/>
          </a:p>
        </p:txBody>
      </p:sp>
      <p:sp>
        <p:nvSpPr>
          <p:cNvPr id="203" name="Shape 47">
            <a:extLst>
              <a:ext uri="{FF2B5EF4-FFF2-40B4-BE49-F238E27FC236}">
                <a16:creationId xmlns:a16="http://schemas.microsoft.com/office/drawing/2014/main" id="{C170601E-0DC5-19FC-FAB2-26150250BB32}"/>
              </a:ext>
            </a:extLst>
          </p:cNvPr>
          <p:cNvSpPr/>
          <p:nvPr/>
        </p:nvSpPr>
        <p:spPr>
          <a:xfrm>
            <a:off x="11109960" y="6410425"/>
            <a:ext cx="457200" cy="310896"/>
          </a:xfrm>
          <a:prstGeom prst="roundRect">
            <a:avLst>
              <a:gd name="adj" fmla="val 23529"/>
            </a:avLst>
          </a:prstGeom>
          <a:solidFill>
            <a:srgbClr val="1B2540"/>
          </a:solidFill>
          <a:ln w="9525">
            <a:solidFill>
              <a:srgbClr val="26314A"/>
            </a:solidFill>
            <a:prstDash val="solid"/>
          </a:ln>
        </p:spPr>
      </p:sp>
      <p:sp>
        <p:nvSpPr>
          <p:cNvPr id="204" name="Text 48">
            <a:extLst>
              <a:ext uri="{FF2B5EF4-FFF2-40B4-BE49-F238E27FC236}">
                <a16:creationId xmlns:a16="http://schemas.microsoft.com/office/drawing/2014/main" id="{76EBE5DB-07E1-1A44-FD80-52F663986F8F}"/>
              </a:ext>
            </a:extLst>
          </p:cNvPr>
          <p:cNvSpPr txBox="1"/>
          <p:nvPr/>
        </p:nvSpPr>
        <p:spPr>
          <a:xfrm>
            <a:off x="11109960" y="6410425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100" dirty="0"/>
          </a:p>
        </p:txBody>
      </p:sp>
    </p:spTree>
    <p:extLst>
      <p:ext uri="{BB962C8B-B14F-4D97-AF65-F5344CB8AC3E}">
        <p14:creationId xmlns:p14="http://schemas.microsoft.com/office/powerpoint/2010/main" val="374376935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work/backgrounds/bg_conten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548640" y="56692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kern="0" spc="200" dirty="0">
                <a:solidFill>
                  <a:srgbClr val="2E8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GAP</a:t>
            </a:r>
            <a:endParaRPr lang="en-US" sz="24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118872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The Missing Link</a:t>
            </a:r>
            <a:endParaRPr lang="en-US" sz="3000" dirty="0"/>
          </a:p>
        </p:txBody>
      </p:sp>
      <p:sp>
        <p:nvSpPr>
          <p:cNvPr id="5" name="Shape 2"/>
          <p:cNvSpPr/>
          <p:nvPr/>
        </p:nvSpPr>
        <p:spPr>
          <a:xfrm>
            <a:off x="548640" y="1984248"/>
            <a:ext cx="11064240" cy="914400"/>
          </a:xfrm>
          <a:prstGeom prst="roundRect">
            <a:avLst>
              <a:gd name="adj" fmla="val 9000"/>
            </a:avLst>
          </a:prstGeom>
          <a:solidFill>
            <a:srgbClr val="1B2438"/>
          </a:solidFill>
          <a:ln w="12700">
            <a:solidFill>
              <a:srgbClr val="2E8CFF"/>
            </a:solidFill>
            <a:prstDash val="solid"/>
          </a:ln>
          <a:effectLst>
            <a:outerShdw blurRad="127000" dist="38100" dir="5400000" algn="bl" rotWithShape="0">
              <a:srgbClr val="000000">
                <a:alpha val="35000"/>
              </a:srgbClr>
            </a:outerShdw>
          </a:effectLst>
        </p:spPr>
      </p:sp>
      <p:pic>
        <p:nvPicPr>
          <p:cNvPr id="6" name="Image 1" descr="/home/claude/work/icons/search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240" y="2212848"/>
            <a:ext cx="502920" cy="502920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1417320" y="1984248"/>
            <a:ext cx="9966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450" dirty="0">
                <a:solidFill>
                  <a:srgbClr val="E7E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study presents a single reproducible architecture that ingests heterogeneous project-control data through containerized services, computes cost/schedule KPIs and predictive delay-risk, and exposes it to Power BI — orchestrated end-to-end by Kubernetes.</a:t>
            </a:r>
            <a:endParaRPr lang="en-US" sz="1450" dirty="0"/>
          </a:p>
        </p:txBody>
      </p:sp>
      <p:sp>
        <p:nvSpPr>
          <p:cNvPr id="8" name="Text 4"/>
          <p:cNvSpPr txBox="1"/>
          <p:nvPr/>
        </p:nvSpPr>
        <p:spPr>
          <a:xfrm>
            <a:off x="548640" y="3081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7C8A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EACH APPROACH ACTUALLY COVERS</a:t>
            </a:r>
            <a:endParaRPr lang="en-US" sz="1200" dirty="0"/>
          </a:p>
        </p:txBody>
      </p:sp>
      <p:sp>
        <p:nvSpPr>
          <p:cNvPr id="9" name="Text 5"/>
          <p:cNvSpPr txBox="1"/>
          <p:nvPr/>
        </p:nvSpPr>
        <p:spPr>
          <a:xfrm>
            <a:off x="3566160" y="3081528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AEB9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Visualization</a:t>
            </a:r>
            <a:endParaRPr lang="en-US" sz="1200" dirty="0"/>
          </a:p>
        </p:txBody>
      </p:sp>
      <p:sp>
        <p:nvSpPr>
          <p:cNvPr id="10" name="Text 6"/>
          <p:cNvSpPr txBox="1"/>
          <p:nvPr/>
        </p:nvSpPr>
        <p:spPr>
          <a:xfrm>
            <a:off x="5577840" y="3081528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AEB9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Prediction</a:t>
            </a:r>
            <a:endParaRPr lang="en-US" sz="1200" dirty="0"/>
          </a:p>
        </p:txBody>
      </p:sp>
      <p:sp>
        <p:nvSpPr>
          <p:cNvPr id="11" name="Text 7"/>
          <p:cNvSpPr txBox="1"/>
          <p:nvPr/>
        </p:nvSpPr>
        <p:spPr>
          <a:xfrm>
            <a:off x="7589520" y="3081528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AEB9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Integration</a:t>
            </a:r>
            <a:endParaRPr lang="en-US" sz="1200" dirty="0"/>
          </a:p>
        </p:txBody>
      </p:sp>
      <p:sp>
        <p:nvSpPr>
          <p:cNvPr id="12" name="Text 8"/>
          <p:cNvSpPr txBox="1"/>
          <p:nvPr/>
        </p:nvSpPr>
        <p:spPr>
          <a:xfrm>
            <a:off x="9601200" y="3081528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AEB9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Orchestration</a:t>
            </a:r>
            <a:endParaRPr lang="en-US" sz="1200" dirty="0"/>
          </a:p>
        </p:txBody>
      </p:sp>
      <p:sp>
        <p:nvSpPr>
          <p:cNvPr id="13" name="Shape 9"/>
          <p:cNvSpPr/>
          <p:nvPr/>
        </p:nvSpPr>
        <p:spPr>
          <a:xfrm>
            <a:off x="548640" y="3447288"/>
            <a:ext cx="2880360" cy="566928"/>
          </a:xfrm>
          <a:prstGeom prst="roundRect">
            <a:avLst>
              <a:gd name="adj" fmla="val 14516"/>
            </a:avLst>
          </a:prstGeom>
          <a:solidFill>
            <a:srgbClr val="0B1220"/>
          </a:solidFill>
          <a:ln w="12700">
            <a:solidFill>
              <a:srgbClr val="26314A"/>
            </a:solidFill>
            <a:prstDash val="solid"/>
          </a:ln>
        </p:spPr>
      </p:sp>
      <p:sp>
        <p:nvSpPr>
          <p:cNvPr id="14" name="Text 10"/>
          <p:cNvSpPr txBox="1"/>
          <p:nvPr/>
        </p:nvSpPr>
        <p:spPr>
          <a:xfrm>
            <a:off x="749808" y="3447288"/>
            <a:ext cx="2560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AEB9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Dashboards &amp; BI [1][2]</a:t>
            </a:r>
            <a:endParaRPr lang="en-US" sz="1300" dirty="0"/>
          </a:p>
        </p:txBody>
      </p:sp>
      <p:sp>
        <p:nvSpPr>
          <p:cNvPr id="15" name="Shape 11"/>
          <p:cNvSpPr/>
          <p:nvPr/>
        </p:nvSpPr>
        <p:spPr>
          <a:xfrm>
            <a:off x="3657600" y="3447288"/>
            <a:ext cx="1828800" cy="566928"/>
          </a:xfrm>
          <a:prstGeom prst="roundRect">
            <a:avLst>
              <a:gd name="adj" fmla="val 14516"/>
            </a:avLst>
          </a:prstGeom>
          <a:solidFill>
            <a:srgbClr val="141B2E"/>
          </a:solidFill>
          <a:ln w="12700">
            <a:solidFill>
              <a:srgbClr val="26314A"/>
            </a:solidFill>
            <a:prstDash val="solid"/>
          </a:ln>
        </p:spPr>
      </p:sp>
      <p:pic>
        <p:nvPicPr>
          <p:cNvPr id="16" name="Image 2" descr="/home/claude/work/icons/check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98264" y="3557016"/>
            <a:ext cx="347472" cy="347472"/>
          </a:xfrm>
          <a:prstGeom prst="rect">
            <a:avLst/>
          </a:prstGeom>
        </p:spPr>
      </p:pic>
      <p:sp>
        <p:nvSpPr>
          <p:cNvPr id="17" name="Shape 12"/>
          <p:cNvSpPr/>
          <p:nvPr/>
        </p:nvSpPr>
        <p:spPr>
          <a:xfrm>
            <a:off x="5669280" y="3447288"/>
            <a:ext cx="1828800" cy="566928"/>
          </a:xfrm>
          <a:prstGeom prst="roundRect">
            <a:avLst>
              <a:gd name="adj" fmla="val 14516"/>
            </a:avLst>
          </a:prstGeom>
          <a:solidFill>
            <a:srgbClr val="141B2E"/>
          </a:solidFill>
          <a:ln w="12700">
            <a:solidFill>
              <a:srgbClr val="26314A"/>
            </a:solidFill>
            <a:prstDash val="solid"/>
          </a:ln>
        </p:spPr>
      </p:sp>
      <p:pic>
        <p:nvPicPr>
          <p:cNvPr id="18" name="Image 3" descr="/home/claude/work/icons/warning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09944" y="3557016"/>
            <a:ext cx="347472" cy="347472"/>
          </a:xfrm>
          <a:prstGeom prst="rect">
            <a:avLst/>
          </a:prstGeom>
        </p:spPr>
      </p:pic>
      <p:sp>
        <p:nvSpPr>
          <p:cNvPr id="19" name="Shape 13"/>
          <p:cNvSpPr/>
          <p:nvPr/>
        </p:nvSpPr>
        <p:spPr>
          <a:xfrm>
            <a:off x="7680960" y="3447288"/>
            <a:ext cx="1828800" cy="566928"/>
          </a:xfrm>
          <a:prstGeom prst="roundRect">
            <a:avLst>
              <a:gd name="adj" fmla="val 14516"/>
            </a:avLst>
          </a:prstGeom>
          <a:solidFill>
            <a:srgbClr val="141B2E"/>
          </a:solidFill>
          <a:ln w="12700">
            <a:solidFill>
              <a:srgbClr val="26314A"/>
            </a:solidFill>
            <a:prstDash val="solid"/>
          </a:ln>
        </p:spPr>
      </p:sp>
      <p:pic>
        <p:nvPicPr>
          <p:cNvPr id="20" name="Image 4" descr="/home/claude/work/icons/warning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21624" y="3557016"/>
            <a:ext cx="347472" cy="347472"/>
          </a:xfrm>
          <a:prstGeom prst="rect">
            <a:avLst/>
          </a:prstGeom>
        </p:spPr>
      </p:pic>
      <p:sp>
        <p:nvSpPr>
          <p:cNvPr id="21" name="Shape 14"/>
          <p:cNvSpPr/>
          <p:nvPr/>
        </p:nvSpPr>
        <p:spPr>
          <a:xfrm>
            <a:off x="9692640" y="3447288"/>
            <a:ext cx="1828800" cy="566928"/>
          </a:xfrm>
          <a:prstGeom prst="roundRect">
            <a:avLst>
              <a:gd name="adj" fmla="val 14516"/>
            </a:avLst>
          </a:prstGeom>
          <a:solidFill>
            <a:srgbClr val="141B2E"/>
          </a:solidFill>
          <a:ln w="12700">
            <a:solidFill>
              <a:srgbClr val="26314A"/>
            </a:solidFill>
            <a:prstDash val="solid"/>
          </a:ln>
        </p:spPr>
      </p:sp>
      <p:pic>
        <p:nvPicPr>
          <p:cNvPr id="22" name="Image 5" descr="/home/claude/work/icons/warning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433304" y="3557016"/>
            <a:ext cx="347472" cy="347472"/>
          </a:xfrm>
          <a:prstGeom prst="rect">
            <a:avLst/>
          </a:prstGeom>
        </p:spPr>
      </p:pic>
      <p:sp>
        <p:nvSpPr>
          <p:cNvPr id="23" name="Shape 15"/>
          <p:cNvSpPr/>
          <p:nvPr/>
        </p:nvSpPr>
        <p:spPr>
          <a:xfrm>
            <a:off x="548640" y="4087368"/>
            <a:ext cx="2880360" cy="566928"/>
          </a:xfrm>
          <a:prstGeom prst="roundRect">
            <a:avLst>
              <a:gd name="adj" fmla="val 14516"/>
            </a:avLst>
          </a:prstGeom>
          <a:solidFill>
            <a:srgbClr val="0B1220"/>
          </a:solidFill>
          <a:ln w="12700">
            <a:solidFill>
              <a:srgbClr val="26314A"/>
            </a:solidFill>
            <a:prstDash val="solid"/>
          </a:ln>
        </p:spPr>
      </p:sp>
      <p:sp>
        <p:nvSpPr>
          <p:cNvPr id="24" name="Text 16"/>
          <p:cNvSpPr txBox="1"/>
          <p:nvPr/>
        </p:nvSpPr>
        <p:spPr>
          <a:xfrm>
            <a:off x="749808" y="4087368"/>
            <a:ext cx="2560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AEB9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Delay-Risk Models [5][6]</a:t>
            </a:r>
            <a:endParaRPr lang="en-US" sz="1300" dirty="0"/>
          </a:p>
        </p:txBody>
      </p:sp>
      <p:sp>
        <p:nvSpPr>
          <p:cNvPr id="25" name="Shape 17"/>
          <p:cNvSpPr/>
          <p:nvPr/>
        </p:nvSpPr>
        <p:spPr>
          <a:xfrm>
            <a:off x="3657600" y="4087368"/>
            <a:ext cx="1828800" cy="566928"/>
          </a:xfrm>
          <a:prstGeom prst="roundRect">
            <a:avLst>
              <a:gd name="adj" fmla="val 14516"/>
            </a:avLst>
          </a:prstGeom>
          <a:solidFill>
            <a:srgbClr val="141B2E"/>
          </a:solidFill>
          <a:ln w="12700">
            <a:solidFill>
              <a:srgbClr val="26314A"/>
            </a:solidFill>
            <a:prstDash val="solid"/>
          </a:ln>
        </p:spPr>
      </p:sp>
      <p:pic>
        <p:nvPicPr>
          <p:cNvPr id="26" name="Image 6" descr="/home/claude/work/icons/warning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398264" y="4197096"/>
            <a:ext cx="347472" cy="347472"/>
          </a:xfrm>
          <a:prstGeom prst="rect">
            <a:avLst/>
          </a:prstGeom>
        </p:spPr>
      </p:pic>
      <p:sp>
        <p:nvSpPr>
          <p:cNvPr id="27" name="Shape 18"/>
          <p:cNvSpPr/>
          <p:nvPr/>
        </p:nvSpPr>
        <p:spPr>
          <a:xfrm>
            <a:off x="5669280" y="4087368"/>
            <a:ext cx="1828800" cy="566928"/>
          </a:xfrm>
          <a:prstGeom prst="roundRect">
            <a:avLst>
              <a:gd name="adj" fmla="val 14516"/>
            </a:avLst>
          </a:prstGeom>
          <a:solidFill>
            <a:srgbClr val="141B2E"/>
          </a:solidFill>
          <a:ln w="12700">
            <a:solidFill>
              <a:srgbClr val="26314A"/>
            </a:solidFill>
            <a:prstDash val="solid"/>
          </a:ln>
        </p:spPr>
      </p:sp>
      <p:pic>
        <p:nvPicPr>
          <p:cNvPr id="28" name="Image 7" descr="/home/claude/work/icons/check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09944" y="4197096"/>
            <a:ext cx="347472" cy="347472"/>
          </a:xfrm>
          <a:prstGeom prst="rect">
            <a:avLst/>
          </a:prstGeom>
        </p:spPr>
      </p:pic>
      <p:sp>
        <p:nvSpPr>
          <p:cNvPr id="29" name="Shape 19"/>
          <p:cNvSpPr/>
          <p:nvPr/>
        </p:nvSpPr>
        <p:spPr>
          <a:xfrm>
            <a:off x="7680960" y="4087368"/>
            <a:ext cx="1828800" cy="566928"/>
          </a:xfrm>
          <a:prstGeom prst="roundRect">
            <a:avLst>
              <a:gd name="adj" fmla="val 14516"/>
            </a:avLst>
          </a:prstGeom>
          <a:solidFill>
            <a:srgbClr val="141B2E"/>
          </a:solidFill>
          <a:ln w="12700">
            <a:solidFill>
              <a:srgbClr val="26314A"/>
            </a:solidFill>
            <a:prstDash val="solid"/>
          </a:ln>
        </p:spPr>
      </p:sp>
      <p:pic>
        <p:nvPicPr>
          <p:cNvPr id="30" name="Image 8" descr="/home/claude/work/icons/warning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21624" y="4197096"/>
            <a:ext cx="347472" cy="347472"/>
          </a:xfrm>
          <a:prstGeom prst="rect">
            <a:avLst/>
          </a:prstGeom>
        </p:spPr>
      </p:pic>
      <p:sp>
        <p:nvSpPr>
          <p:cNvPr id="31" name="Shape 20"/>
          <p:cNvSpPr/>
          <p:nvPr/>
        </p:nvSpPr>
        <p:spPr>
          <a:xfrm>
            <a:off x="9692640" y="4087368"/>
            <a:ext cx="1828800" cy="566928"/>
          </a:xfrm>
          <a:prstGeom prst="roundRect">
            <a:avLst>
              <a:gd name="adj" fmla="val 14516"/>
            </a:avLst>
          </a:prstGeom>
          <a:solidFill>
            <a:srgbClr val="141B2E"/>
          </a:solidFill>
          <a:ln w="12700">
            <a:solidFill>
              <a:srgbClr val="26314A"/>
            </a:solidFill>
            <a:prstDash val="solid"/>
          </a:ln>
        </p:spPr>
      </p:sp>
      <p:pic>
        <p:nvPicPr>
          <p:cNvPr id="32" name="Image 9" descr="/home/claude/work/icons/warning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433304" y="4197096"/>
            <a:ext cx="347472" cy="347472"/>
          </a:xfrm>
          <a:prstGeom prst="rect">
            <a:avLst/>
          </a:prstGeom>
        </p:spPr>
      </p:pic>
      <p:sp>
        <p:nvSpPr>
          <p:cNvPr id="33" name="Shape 21"/>
          <p:cNvSpPr/>
          <p:nvPr/>
        </p:nvSpPr>
        <p:spPr>
          <a:xfrm>
            <a:off x="548640" y="4727448"/>
            <a:ext cx="2880360" cy="566928"/>
          </a:xfrm>
          <a:prstGeom prst="roundRect">
            <a:avLst>
              <a:gd name="adj" fmla="val 14516"/>
            </a:avLst>
          </a:prstGeom>
          <a:solidFill>
            <a:srgbClr val="0B1220"/>
          </a:solidFill>
          <a:ln w="12700">
            <a:solidFill>
              <a:srgbClr val="26314A"/>
            </a:solidFill>
            <a:prstDash val="solid"/>
          </a:ln>
        </p:spPr>
      </p:sp>
      <p:sp>
        <p:nvSpPr>
          <p:cNvPr id="34" name="Text 22"/>
          <p:cNvSpPr txBox="1"/>
          <p:nvPr/>
        </p:nvSpPr>
        <p:spPr>
          <a:xfrm>
            <a:off x="749808" y="4727448"/>
            <a:ext cx="2560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AEB9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Lifecycle [3][4]</a:t>
            </a:r>
            <a:endParaRPr lang="en-US" sz="1300" dirty="0"/>
          </a:p>
        </p:txBody>
      </p:sp>
      <p:sp>
        <p:nvSpPr>
          <p:cNvPr id="35" name="Shape 23"/>
          <p:cNvSpPr/>
          <p:nvPr/>
        </p:nvSpPr>
        <p:spPr>
          <a:xfrm>
            <a:off x="3657600" y="4727448"/>
            <a:ext cx="1828800" cy="566928"/>
          </a:xfrm>
          <a:prstGeom prst="roundRect">
            <a:avLst>
              <a:gd name="adj" fmla="val 14516"/>
            </a:avLst>
          </a:prstGeom>
          <a:solidFill>
            <a:srgbClr val="141B2E"/>
          </a:solidFill>
          <a:ln w="12700">
            <a:solidFill>
              <a:srgbClr val="26314A"/>
            </a:solidFill>
            <a:prstDash val="solid"/>
          </a:ln>
        </p:spPr>
      </p:sp>
      <p:pic>
        <p:nvPicPr>
          <p:cNvPr id="36" name="Image 10" descr="/home/claude/work/icons/warning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398264" y="4837176"/>
            <a:ext cx="347472" cy="347472"/>
          </a:xfrm>
          <a:prstGeom prst="rect">
            <a:avLst/>
          </a:prstGeom>
        </p:spPr>
      </p:pic>
      <p:sp>
        <p:nvSpPr>
          <p:cNvPr id="37" name="Shape 24"/>
          <p:cNvSpPr/>
          <p:nvPr/>
        </p:nvSpPr>
        <p:spPr>
          <a:xfrm>
            <a:off x="5669280" y="4727448"/>
            <a:ext cx="1828800" cy="566928"/>
          </a:xfrm>
          <a:prstGeom prst="roundRect">
            <a:avLst>
              <a:gd name="adj" fmla="val 14516"/>
            </a:avLst>
          </a:prstGeom>
          <a:solidFill>
            <a:srgbClr val="141B2E"/>
          </a:solidFill>
          <a:ln w="12700">
            <a:solidFill>
              <a:srgbClr val="26314A"/>
            </a:solidFill>
            <a:prstDash val="solid"/>
          </a:ln>
        </p:spPr>
      </p:sp>
      <p:pic>
        <p:nvPicPr>
          <p:cNvPr id="38" name="Image 11" descr="/home/claude/work/icons/warning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09944" y="4837176"/>
            <a:ext cx="347472" cy="347472"/>
          </a:xfrm>
          <a:prstGeom prst="rect">
            <a:avLst/>
          </a:prstGeom>
        </p:spPr>
      </p:pic>
      <p:sp>
        <p:nvSpPr>
          <p:cNvPr id="39" name="Shape 25"/>
          <p:cNvSpPr/>
          <p:nvPr/>
        </p:nvSpPr>
        <p:spPr>
          <a:xfrm>
            <a:off x="7680960" y="4727448"/>
            <a:ext cx="1828800" cy="566928"/>
          </a:xfrm>
          <a:prstGeom prst="roundRect">
            <a:avLst>
              <a:gd name="adj" fmla="val 14516"/>
            </a:avLst>
          </a:prstGeom>
          <a:solidFill>
            <a:srgbClr val="141B2E"/>
          </a:solidFill>
          <a:ln w="12700">
            <a:solidFill>
              <a:srgbClr val="26314A"/>
            </a:solidFill>
            <a:prstDash val="solid"/>
          </a:ln>
        </p:spPr>
      </p:sp>
      <p:pic>
        <p:nvPicPr>
          <p:cNvPr id="40" name="Image 12" descr="/home/claude/work/icons/check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21624" y="4837176"/>
            <a:ext cx="347472" cy="347472"/>
          </a:xfrm>
          <a:prstGeom prst="rect">
            <a:avLst/>
          </a:prstGeom>
        </p:spPr>
      </p:pic>
      <p:sp>
        <p:nvSpPr>
          <p:cNvPr id="41" name="Shape 26"/>
          <p:cNvSpPr/>
          <p:nvPr/>
        </p:nvSpPr>
        <p:spPr>
          <a:xfrm>
            <a:off x="9692640" y="4727448"/>
            <a:ext cx="1828800" cy="566928"/>
          </a:xfrm>
          <a:prstGeom prst="roundRect">
            <a:avLst>
              <a:gd name="adj" fmla="val 14516"/>
            </a:avLst>
          </a:prstGeom>
          <a:solidFill>
            <a:srgbClr val="141B2E"/>
          </a:solidFill>
          <a:ln w="12700">
            <a:solidFill>
              <a:srgbClr val="26314A"/>
            </a:solidFill>
            <a:prstDash val="solid"/>
          </a:ln>
        </p:spPr>
      </p:sp>
      <p:pic>
        <p:nvPicPr>
          <p:cNvPr id="42" name="Image 13" descr="/home/claude/work/icons/warning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433304" y="4837176"/>
            <a:ext cx="347472" cy="347472"/>
          </a:xfrm>
          <a:prstGeom prst="rect">
            <a:avLst/>
          </a:prstGeom>
        </p:spPr>
      </p:pic>
      <p:sp>
        <p:nvSpPr>
          <p:cNvPr id="43" name="Shape 27"/>
          <p:cNvSpPr/>
          <p:nvPr/>
        </p:nvSpPr>
        <p:spPr>
          <a:xfrm>
            <a:off x="548640" y="5367528"/>
            <a:ext cx="2880360" cy="566928"/>
          </a:xfrm>
          <a:prstGeom prst="roundRect">
            <a:avLst>
              <a:gd name="adj" fmla="val 14516"/>
            </a:avLst>
          </a:prstGeom>
          <a:solidFill>
            <a:srgbClr val="1B2438"/>
          </a:solidFill>
          <a:ln w="12700">
            <a:solidFill>
              <a:srgbClr val="2E8CFF"/>
            </a:solidFill>
            <a:prstDash val="solid"/>
          </a:ln>
        </p:spPr>
      </p:sp>
      <p:sp>
        <p:nvSpPr>
          <p:cNvPr id="44" name="Text 28"/>
          <p:cNvSpPr txBox="1"/>
          <p:nvPr/>
        </p:nvSpPr>
        <p:spPr>
          <a:xfrm>
            <a:off x="749808" y="5367528"/>
            <a:ext cx="2560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Proposed Platform</a:t>
            </a:r>
            <a:endParaRPr lang="en-US" sz="1300" dirty="0"/>
          </a:p>
        </p:txBody>
      </p:sp>
      <p:sp>
        <p:nvSpPr>
          <p:cNvPr id="45" name="Shape 29"/>
          <p:cNvSpPr/>
          <p:nvPr/>
        </p:nvSpPr>
        <p:spPr>
          <a:xfrm>
            <a:off x="3657600" y="5367528"/>
            <a:ext cx="1828800" cy="566928"/>
          </a:xfrm>
          <a:prstGeom prst="roundRect">
            <a:avLst>
              <a:gd name="adj" fmla="val 14516"/>
            </a:avLst>
          </a:prstGeom>
          <a:solidFill>
            <a:srgbClr val="0F3324"/>
          </a:solidFill>
          <a:ln w="12700">
            <a:solidFill>
              <a:srgbClr val="35E8E0"/>
            </a:solidFill>
            <a:prstDash val="solid"/>
          </a:ln>
        </p:spPr>
      </p:sp>
      <p:pic>
        <p:nvPicPr>
          <p:cNvPr id="46" name="Image 14" descr="/home/claude/work/icons/check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98264" y="5477256"/>
            <a:ext cx="347472" cy="347472"/>
          </a:xfrm>
          <a:prstGeom prst="rect">
            <a:avLst/>
          </a:prstGeom>
        </p:spPr>
      </p:pic>
      <p:sp>
        <p:nvSpPr>
          <p:cNvPr id="47" name="Shape 30"/>
          <p:cNvSpPr/>
          <p:nvPr/>
        </p:nvSpPr>
        <p:spPr>
          <a:xfrm>
            <a:off x="5669280" y="5367528"/>
            <a:ext cx="1828800" cy="566928"/>
          </a:xfrm>
          <a:prstGeom prst="roundRect">
            <a:avLst>
              <a:gd name="adj" fmla="val 14516"/>
            </a:avLst>
          </a:prstGeom>
          <a:solidFill>
            <a:srgbClr val="0F3324"/>
          </a:solidFill>
          <a:ln w="12700">
            <a:solidFill>
              <a:srgbClr val="35E8E0"/>
            </a:solidFill>
            <a:prstDash val="solid"/>
          </a:ln>
        </p:spPr>
      </p:sp>
      <p:pic>
        <p:nvPicPr>
          <p:cNvPr id="48" name="Image 15" descr="/home/claude/work/icons/check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09944" y="5477256"/>
            <a:ext cx="347472" cy="347472"/>
          </a:xfrm>
          <a:prstGeom prst="rect">
            <a:avLst/>
          </a:prstGeom>
        </p:spPr>
      </p:pic>
      <p:sp>
        <p:nvSpPr>
          <p:cNvPr id="49" name="Shape 31"/>
          <p:cNvSpPr/>
          <p:nvPr/>
        </p:nvSpPr>
        <p:spPr>
          <a:xfrm>
            <a:off x="7680960" y="5367528"/>
            <a:ext cx="1828800" cy="566928"/>
          </a:xfrm>
          <a:prstGeom prst="roundRect">
            <a:avLst>
              <a:gd name="adj" fmla="val 14516"/>
            </a:avLst>
          </a:prstGeom>
          <a:solidFill>
            <a:srgbClr val="0F3324"/>
          </a:solidFill>
          <a:ln w="12700">
            <a:solidFill>
              <a:srgbClr val="35E8E0"/>
            </a:solidFill>
            <a:prstDash val="solid"/>
          </a:ln>
        </p:spPr>
      </p:sp>
      <p:pic>
        <p:nvPicPr>
          <p:cNvPr id="50" name="Image 16" descr="/home/claude/work/icons/check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21624" y="5477256"/>
            <a:ext cx="347472" cy="347472"/>
          </a:xfrm>
          <a:prstGeom prst="rect">
            <a:avLst/>
          </a:prstGeom>
        </p:spPr>
      </p:pic>
      <p:sp>
        <p:nvSpPr>
          <p:cNvPr id="51" name="Shape 32"/>
          <p:cNvSpPr/>
          <p:nvPr/>
        </p:nvSpPr>
        <p:spPr>
          <a:xfrm>
            <a:off x="9692640" y="5367528"/>
            <a:ext cx="1828800" cy="566928"/>
          </a:xfrm>
          <a:prstGeom prst="roundRect">
            <a:avLst>
              <a:gd name="adj" fmla="val 14516"/>
            </a:avLst>
          </a:prstGeom>
          <a:solidFill>
            <a:srgbClr val="0F3324"/>
          </a:solidFill>
          <a:ln w="12700">
            <a:solidFill>
              <a:srgbClr val="35E8E0"/>
            </a:solidFill>
            <a:prstDash val="solid"/>
          </a:ln>
        </p:spPr>
      </p:sp>
      <p:pic>
        <p:nvPicPr>
          <p:cNvPr id="52" name="Image 17" descr="/home/claude/work/icons/check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433304" y="5477256"/>
            <a:ext cx="347472" cy="347472"/>
          </a:xfrm>
          <a:prstGeom prst="rect">
            <a:avLst/>
          </a:prstGeom>
        </p:spPr>
      </p:pic>
      <p:sp>
        <p:nvSpPr>
          <p:cNvPr id="53" name="Text 33"/>
          <p:cNvSpPr txBox="1"/>
          <p:nvPr/>
        </p:nvSpPr>
        <p:spPr>
          <a:xfrm>
            <a:off x="548640" y="653796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100" dirty="0">
                <a:solidFill>
                  <a:srgbClr val="7C8A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CLOUD-NATIVE CONSTRUCTION INTELLIGENCE PLATFORM</a:t>
            </a:r>
            <a:endParaRPr lang="en-US" sz="900" dirty="0"/>
          </a:p>
        </p:txBody>
      </p:sp>
      <p:sp>
        <p:nvSpPr>
          <p:cNvPr id="54" name="Text 34"/>
          <p:cNvSpPr txBox="1"/>
          <p:nvPr/>
        </p:nvSpPr>
        <p:spPr>
          <a:xfrm>
            <a:off x="11430000" y="6537960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C8A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work/backgrounds/bg_conten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548640" y="3200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2E8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OBJECTIVES</a:t>
            </a:r>
            <a:endParaRPr lang="en-US" sz="13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621792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Objectives</a:t>
            </a:r>
            <a:endParaRPr lang="en-US" sz="3000" dirty="0"/>
          </a:p>
        </p:txBody>
      </p:sp>
      <p:sp>
        <p:nvSpPr>
          <p:cNvPr id="5" name="Shape 2"/>
          <p:cNvSpPr/>
          <p:nvPr/>
        </p:nvSpPr>
        <p:spPr>
          <a:xfrm>
            <a:off x="548640" y="1600200"/>
            <a:ext cx="2103120" cy="4297680"/>
          </a:xfrm>
          <a:prstGeom prst="roundRect">
            <a:avLst>
              <a:gd name="adj" fmla="val 3913"/>
            </a:avLst>
          </a:prstGeom>
          <a:solidFill>
            <a:srgbClr val="141B2E"/>
          </a:solidFill>
          <a:ln w="12700">
            <a:solidFill>
              <a:srgbClr val="26314A"/>
            </a:solidFill>
            <a:prstDash val="solid"/>
          </a:ln>
          <a:effectLst>
            <a:outerShdw blurRad="1270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6" name="Text 3"/>
          <p:cNvSpPr txBox="1"/>
          <p:nvPr/>
        </p:nvSpPr>
        <p:spPr>
          <a:xfrm>
            <a:off x="713232" y="1737360"/>
            <a:ext cx="822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26314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1</a:t>
            </a:r>
            <a:endParaRPr lang="en-US" sz="3000" dirty="0"/>
          </a:p>
        </p:txBody>
      </p:sp>
      <p:pic>
        <p:nvPicPr>
          <p:cNvPr id="7" name="Image 1" descr="/home/claude/work/icons/layer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0160" y="2468880"/>
            <a:ext cx="640080" cy="640080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713232" y="3291840"/>
            <a:ext cx="177393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700"/>
              </a:lnSpc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Unified Data Model</a:t>
            </a:r>
            <a:endParaRPr lang="en-US" sz="1450" dirty="0"/>
          </a:p>
        </p:txBody>
      </p:sp>
      <p:sp>
        <p:nvSpPr>
          <p:cNvPr id="9" name="Text 5"/>
          <p:cNvSpPr txBox="1"/>
          <p:nvPr/>
        </p:nvSpPr>
        <p:spPr>
          <a:xfrm>
            <a:off x="713232" y="4023360"/>
            <a:ext cx="1773936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450"/>
              </a:lnSpc>
              <a:buNone/>
            </a:pPr>
            <a:r>
              <a:rPr lang="en-US" sz="1200" dirty="0">
                <a:solidFill>
                  <a:srgbClr val="AEB9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a unified data model covering dates, costs, progress, resources, and risk indicators for consistent cross-project integration.</a:t>
            </a:r>
            <a:endParaRPr lang="en-US" sz="1200" dirty="0"/>
          </a:p>
        </p:txBody>
      </p:sp>
      <p:pic>
        <p:nvPicPr>
          <p:cNvPr id="10" name="Image 2" descr="/home/claude/work/icons/chevron_blu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642616" y="3657600"/>
            <a:ext cx="182880" cy="182880"/>
          </a:xfrm>
          <a:prstGeom prst="rect">
            <a:avLst/>
          </a:prstGeom>
        </p:spPr>
      </p:pic>
      <p:sp>
        <p:nvSpPr>
          <p:cNvPr id="11" name="Shape 6"/>
          <p:cNvSpPr/>
          <p:nvPr/>
        </p:nvSpPr>
        <p:spPr>
          <a:xfrm>
            <a:off x="2816352" y="1600200"/>
            <a:ext cx="2103120" cy="4297680"/>
          </a:xfrm>
          <a:prstGeom prst="roundRect">
            <a:avLst>
              <a:gd name="adj" fmla="val 3913"/>
            </a:avLst>
          </a:prstGeom>
          <a:solidFill>
            <a:srgbClr val="141B2E"/>
          </a:solidFill>
          <a:ln w="12700">
            <a:solidFill>
              <a:srgbClr val="26314A"/>
            </a:solidFill>
            <a:prstDash val="solid"/>
          </a:ln>
          <a:effectLst>
            <a:outerShdw blurRad="1270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2" name="Text 7"/>
          <p:cNvSpPr txBox="1"/>
          <p:nvPr/>
        </p:nvSpPr>
        <p:spPr>
          <a:xfrm>
            <a:off x="2980944" y="1737360"/>
            <a:ext cx="822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26314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2</a:t>
            </a:r>
            <a:endParaRPr lang="en-US" sz="3000" dirty="0"/>
          </a:p>
        </p:txBody>
      </p:sp>
      <p:pic>
        <p:nvPicPr>
          <p:cNvPr id="13" name="Image 3" descr="/home/claude/work/icons/chartlin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547872" y="2468880"/>
            <a:ext cx="640080" cy="640080"/>
          </a:xfrm>
          <a:prstGeom prst="rect">
            <a:avLst/>
          </a:prstGeom>
        </p:spPr>
      </p:pic>
      <p:sp>
        <p:nvSpPr>
          <p:cNvPr id="14" name="Text 8"/>
          <p:cNvSpPr txBox="1"/>
          <p:nvPr/>
        </p:nvSpPr>
        <p:spPr>
          <a:xfrm>
            <a:off x="2980944" y="3291840"/>
            <a:ext cx="177393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700"/>
              </a:lnSpc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Processing &amp; Analytics</a:t>
            </a:r>
            <a:endParaRPr lang="en-US" sz="1450" dirty="0"/>
          </a:p>
        </p:txBody>
      </p:sp>
      <p:sp>
        <p:nvSpPr>
          <p:cNvPr id="15" name="Text 9"/>
          <p:cNvSpPr txBox="1"/>
          <p:nvPr/>
        </p:nvSpPr>
        <p:spPr>
          <a:xfrm>
            <a:off x="2980944" y="4023360"/>
            <a:ext cx="1773936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450"/>
              </a:lnSpc>
              <a:buNone/>
            </a:pPr>
            <a:r>
              <a:rPr lang="en-US" sz="1200" dirty="0">
                <a:solidFill>
                  <a:srgbClr val="AEB9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 containerized ingestion service for CSV, Excel and REST inputs, and an analytics service computing EVM.</a:t>
            </a:r>
            <a:endParaRPr lang="en-US" sz="1200" dirty="0"/>
          </a:p>
        </p:txBody>
      </p:sp>
      <p:pic>
        <p:nvPicPr>
          <p:cNvPr id="16" name="Image 4" descr="/home/claude/work/icons/chevron_blu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10328" y="3657600"/>
            <a:ext cx="182880" cy="182880"/>
          </a:xfrm>
          <a:prstGeom prst="rect">
            <a:avLst/>
          </a:prstGeom>
        </p:spPr>
      </p:pic>
      <p:sp>
        <p:nvSpPr>
          <p:cNvPr id="17" name="Shape 10"/>
          <p:cNvSpPr/>
          <p:nvPr/>
        </p:nvSpPr>
        <p:spPr>
          <a:xfrm>
            <a:off x="5084064" y="1600200"/>
            <a:ext cx="2103120" cy="4297680"/>
          </a:xfrm>
          <a:prstGeom prst="roundRect">
            <a:avLst>
              <a:gd name="adj" fmla="val 3913"/>
            </a:avLst>
          </a:prstGeom>
          <a:solidFill>
            <a:srgbClr val="141B2E"/>
          </a:solidFill>
          <a:ln w="12700">
            <a:solidFill>
              <a:srgbClr val="26314A"/>
            </a:solidFill>
            <a:prstDash val="solid"/>
          </a:ln>
          <a:effectLst>
            <a:outerShdw blurRad="1270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8" name="Text 11"/>
          <p:cNvSpPr txBox="1"/>
          <p:nvPr/>
        </p:nvSpPr>
        <p:spPr>
          <a:xfrm>
            <a:off x="5248656" y="1737360"/>
            <a:ext cx="822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26314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3</a:t>
            </a:r>
            <a:endParaRPr lang="en-US" sz="3000" dirty="0"/>
          </a:p>
        </p:txBody>
      </p:sp>
      <p:pic>
        <p:nvPicPr>
          <p:cNvPr id="19" name="Image 5" descr="/home/claude/work/icons/warning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815584" y="2468880"/>
            <a:ext cx="640080" cy="640080"/>
          </a:xfrm>
          <a:prstGeom prst="rect">
            <a:avLst/>
          </a:prstGeom>
        </p:spPr>
      </p:pic>
      <p:sp>
        <p:nvSpPr>
          <p:cNvPr id="20" name="Text 12"/>
          <p:cNvSpPr txBox="1"/>
          <p:nvPr/>
        </p:nvSpPr>
        <p:spPr>
          <a:xfrm>
            <a:off x="5248656" y="3291840"/>
            <a:ext cx="177393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700"/>
              </a:lnSpc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Assessment &amp; Visualization</a:t>
            </a:r>
            <a:endParaRPr lang="en-US" sz="1450" dirty="0"/>
          </a:p>
        </p:txBody>
      </p:sp>
      <p:sp>
        <p:nvSpPr>
          <p:cNvPr id="21" name="Text 13"/>
          <p:cNvSpPr txBox="1"/>
          <p:nvPr/>
        </p:nvSpPr>
        <p:spPr>
          <a:xfrm>
            <a:off x="5248656" y="4023360"/>
            <a:ext cx="1773936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450"/>
              </a:lnSpc>
              <a:buNone/>
            </a:pPr>
            <a:r>
              <a:rPr lang="en-US" sz="1200" dirty="0">
                <a:solidFill>
                  <a:srgbClr val="AEB9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 a delay-risk module scoring activities from historical data, and Power BI dashboards for portfolio, performance and risk-alert views.</a:t>
            </a:r>
            <a:endParaRPr lang="en-US" sz="1200" dirty="0"/>
          </a:p>
        </p:txBody>
      </p:sp>
      <p:pic>
        <p:nvPicPr>
          <p:cNvPr id="22" name="Image 6" descr="/home/claude/work/icons/chevron_blu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78040" y="3657600"/>
            <a:ext cx="182880" cy="182880"/>
          </a:xfrm>
          <a:prstGeom prst="rect">
            <a:avLst/>
          </a:prstGeom>
        </p:spPr>
      </p:pic>
      <p:sp>
        <p:nvSpPr>
          <p:cNvPr id="23" name="Shape 14"/>
          <p:cNvSpPr/>
          <p:nvPr/>
        </p:nvSpPr>
        <p:spPr>
          <a:xfrm>
            <a:off x="7351776" y="1600200"/>
            <a:ext cx="2103120" cy="4297680"/>
          </a:xfrm>
          <a:prstGeom prst="roundRect">
            <a:avLst>
              <a:gd name="adj" fmla="val 3913"/>
            </a:avLst>
          </a:prstGeom>
          <a:solidFill>
            <a:srgbClr val="141B2E"/>
          </a:solidFill>
          <a:ln w="12700">
            <a:solidFill>
              <a:srgbClr val="26314A"/>
            </a:solidFill>
            <a:prstDash val="solid"/>
          </a:ln>
          <a:effectLst>
            <a:outerShdw blurRad="1270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24" name="Text 15"/>
          <p:cNvSpPr txBox="1"/>
          <p:nvPr/>
        </p:nvSpPr>
        <p:spPr>
          <a:xfrm>
            <a:off x="7516368" y="1737360"/>
            <a:ext cx="822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26314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4</a:t>
            </a:r>
            <a:endParaRPr lang="en-US" sz="3000" dirty="0"/>
          </a:p>
        </p:txBody>
      </p:sp>
      <p:pic>
        <p:nvPicPr>
          <p:cNvPr id="25" name="Image 7" descr="/home/claude/work/icons/kubernetes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083296" y="2468880"/>
            <a:ext cx="640080" cy="640080"/>
          </a:xfrm>
          <a:prstGeom prst="rect">
            <a:avLst/>
          </a:prstGeom>
        </p:spPr>
      </p:pic>
      <p:sp>
        <p:nvSpPr>
          <p:cNvPr id="26" name="Text 16"/>
          <p:cNvSpPr txBox="1"/>
          <p:nvPr/>
        </p:nvSpPr>
        <p:spPr>
          <a:xfrm>
            <a:off x="7516368" y="3291840"/>
            <a:ext cx="177393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700"/>
              </a:lnSpc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+ Kubernetes</a:t>
            </a:r>
            <a:endParaRPr lang="en-US" sz="1450" dirty="0"/>
          </a:p>
        </p:txBody>
      </p:sp>
      <p:sp>
        <p:nvSpPr>
          <p:cNvPr id="27" name="Text 17"/>
          <p:cNvSpPr txBox="1"/>
          <p:nvPr/>
        </p:nvSpPr>
        <p:spPr>
          <a:xfrm>
            <a:off x="7516368" y="4023360"/>
            <a:ext cx="1773936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450"/>
              </a:lnSpc>
              <a:buNone/>
            </a:pPr>
            <a:r>
              <a:rPr lang="en-US" sz="1200" dirty="0">
                <a:solidFill>
                  <a:srgbClr val="AEB9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Package backend services with Docker and deploy on Kubernetes for portable, reliable execution across environments and changing workloads.</a:t>
            </a:r>
            <a:endParaRPr lang="en-US" sz="1200" dirty="0"/>
          </a:p>
        </p:txBody>
      </p:sp>
      <p:pic>
        <p:nvPicPr>
          <p:cNvPr id="28" name="Image 8" descr="/home/claude/work/icons/chevron_blu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445752" y="3657600"/>
            <a:ext cx="182880" cy="182880"/>
          </a:xfrm>
          <a:prstGeom prst="rect">
            <a:avLst/>
          </a:prstGeom>
        </p:spPr>
      </p:pic>
      <p:sp>
        <p:nvSpPr>
          <p:cNvPr id="29" name="Shape 18"/>
          <p:cNvSpPr/>
          <p:nvPr/>
        </p:nvSpPr>
        <p:spPr>
          <a:xfrm>
            <a:off x="9619488" y="1600200"/>
            <a:ext cx="2103120" cy="4297680"/>
          </a:xfrm>
          <a:prstGeom prst="roundRect">
            <a:avLst>
              <a:gd name="adj" fmla="val 3913"/>
            </a:avLst>
          </a:prstGeom>
          <a:solidFill>
            <a:srgbClr val="141B2E"/>
          </a:solidFill>
          <a:ln w="12700">
            <a:solidFill>
              <a:srgbClr val="26314A"/>
            </a:solidFill>
            <a:prstDash val="solid"/>
          </a:ln>
          <a:effectLst>
            <a:outerShdw blurRad="1270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30" name="Text 19"/>
          <p:cNvSpPr txBox="1"/>
          <p:nvPr/>
        </p:nvSpPr>
        <p:spPr>
          <a:xfrm>
            <a:off x="9784080" y="1737360"/>
            <a:ext cx="822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26314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5</a:t>
            </a:r>
            <a:endParaRPr lang="en-US" sz="3000" dirty="0"/>
          </a:p>
        </p:txBody>
      </p:sp>
      <p:pic>
        <p:nvPicPr>
          <p:cNvPr id="31" name="Image 9" descr="/home/claude/work/icons/clipboar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351008" y="2468880"/>
            <a:ext cx="640080" cy="640080"/>
          </a:xfrm>
          <a:prstGeom prst="rect">
            <a:avLst/>
          </a:prstGeom>
        </p:spPr>
      </p:pic>
      <p:sp>
        <p:nvSpPr>
          <p:cNvPr id="32" name="Text 20"/>
          <p:cNvSpPr txBox="1"/>
          <p:nvPr/>
        </p:nvSpPr>
        <p:spPr>
          <a:xfrm>
            <a:off x="9784080" y="3291840"/>
            <a:ext cx="177393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700"/>
              </a:lnSpc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</a:t>
            </a:r>
            <a:endParaRPr lang="en-US" sz="1450" dirty="0"/>
          </a:p>
        </p:txBody>
      </p:sp>
      <p:sp>
        <p:nvSpPr>
          <p:cNvPr id="33" name="Text 21"/>
          <p:cNvSpPr txBox="1"/>
          <p:nvPr/>
        </p:nvSpPr>
        <p:spPr>
          <a:xfrm>
            <a:off x="9784080" y="4023360"/>
            <a:ext cx="1773936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450"/>
              </a:lnSpc>
              <a:buNone/>
            </a:pPr>
            <a:r>
              <a:rPr lang="en-US" sz="1200" dirty="0">
                <a:solidFill>
                  <a:srgbClr val="AEB9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Evaluate analytical correctness, dashboard usefulness, deployment repeatability, and scalability to validate consistent, effective monitoring.</a:t>
            </a:r>
            <a:endParaRPr lang="en-US" sz="1200" dirty="0"/>
          </a:p>
        </p:txBody>
      </p:sp>
      <p:sp>
        <p:nvSpPr>
          <p:cNvPr id="34" name="Text 22"/>
          <p:cNvSpPr txBox="1"/>
          <p:nvPr/>
        </p:nvSpPr>
        <p:spPr>
          <a:xfrm>
            <a:off x="548640" y="653796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100" dirty="0">
                <a:solidFill>
                  <a:srgbClr val="7C8A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CLOUD-NATIVE CONSTRUCTION INTELLIGENCE PLATFORM</a:t>
            </a:r>
            <a:endParaRPr lang="en-US" sz="900" dirty="0"/>
          </a:p>
        </p:txBody>
      </p:sp>
      <p:sp>
        <p:nvSpPr>
          <p:cNvPr id="35" name="Text 23"/>
          <p:cNvSpPr txBox="1"/>
          <p:nvPr/>
        </p:nvSpPr>
        <p:spPr>
          <a:xfrm>
            <a:off x="11430000" y="6537960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C8A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work/backgrounds/bg_conten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548640" y="3200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2E8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 STACK</a:t>
            </a:r>
            <a:endParaRPr lang="en-US" sz="13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621792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Technology Stack &amp; Tools</a:t>
            </a:r>
            <a:endParaRPr lang="en-US" sz="30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15087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2E8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INGESTION &amp; COMPUTE</a:t>
            </a:r>
            <a:endParaRPr lang="en-US" sz="1200" dirty="0"/>
          </a:p>
        </p:txBody>
      </p:sp>
      <p:sp>
        <p:nvSpPr>
          <p:cNvPr id="6" name="Shape 3"/>
          <p:cNvSpPr/>
          <p:nvPr/>
        </p:nvSpPr>
        <p:spPr>
          <a:xfrm>
            <a:off x="548640" y="1819656"/>
            <a:ext cx="11064240" cy="914"/>
          </a:xfrm>
          <a:prstGeom prst="line">
            <a:avLst/>
          </a:prstGeom>
          <a:noFill/>
          <a:ln w="12700">
            <a:solidFill>
              <a:srgbClr val="26314A"/>
            </a:solidFill>
            <a:prstDash val="solid"/>
          </a:ln>
        </p:spPr>
      </p:sp>
      <p:pic>
        <p:nvPicPr>
          <p:cNvPr id="7" name="Image 1" descr="/home/claude/work/icons/pytho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4360" y="2020824"/>
            <a:ext cx="566928" cy="566928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1280160" y="1947672"/>
            <a:ext cx="4617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</a:t>
            </a:r>
            <a:endParaRPr lang="en-US" sz="1450" dirty="0"/>
          </a:p>
        </p:txBody>
      </p:sp>
      <p:sp>
        <p:nvSpPr>
          <p:cNvPr id="9" name="Text 5"/>
          <p:cNvSpPr txBox="1"/>
          <p:nvPr/>
        </p:nvSpPr>
        <p:spPr>
          <a:xfrm>
            <a:off x="1280160" y="2295144"/>
            <a:ext cx="4617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00"/>
              </a:lnSpc>
              <a:buNone/>
            </a:pPr>
            <a:r>
              <a:rPr lang="en-US" sz="1200" dirty="0">
                <a:solidFill>
                  <a:srgbClr val="AEB9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language for the ingestion and analytics services.</a:t>
            </a:r>
            <a:endParaRPr lang="en-US" sz="1200" dirty="0"/>
          </a:p>
        </p:txBody>
      </p:sp>
      <p:pic>
        <p:nvPicPr>
          <p:cNvPr id="10" name="Image 2" descr="/home/claude/work/icons/fastapi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26480" y="2020824"/>
            <a:ext cx="566928" cy="566928"/>
          </a:xfrm>
          <a:prstGeom prst="rect">
            <a:avLst/>
          </a:prstGeom>
        </p:spPr>
      </p:pic>
      <p:sp>
        <p:nvSpPr>
          <p:cNvPr id="11" name="Text 6"/>
          <p:cNvSpPr txBox="1"/>
          <p:nvPr/>
        </p:nvSpPr>
        <p:spPr>
          <a:xfrm>
            <a:off x="6812280" y="1947672"/>
            <a:ext cx="4617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</a:t>
            </a:r>
            <a:endParaRPr lang="en-US" sz="1450" dirty="0"/>
          </a:p>
        </p:txBody>
      </p:sp>
      <p:sp>
        <p:nvSpPr>
          <p:cNvPr id="12" name="Text 7"/>
          <p:cNvSpPr txBox="1"/>
          <p:nvPr/>
        </p:nvSpPr>
        <p:spPr>
          <a:xfrm>
            <a:off x="6812280" y="2295144"/>
            <a:ext cx="4617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00"/>
              </a:lnSpc>
              <a:buNone/>
            </a:pPr>
            <a:r>
              <a:rPr lang="en-US" sz="1200" dirty="0">
                <a:solidFill>
                  <a:srgbClr val="AEB9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 layer exposing the ingestion and analytics APIs.</a:t>
            </a:r>
            <a:endParaRPr lang="en-US" sz="1200" dirty="0"/>
          </a:p>
        </p:txBody>
      </p:sp>
      <p:sp>
        <p:nvSpPr>
          <p:cNvPr id="13" name="Text 8"/>
          <p:cNvSpPr txBox="1"/>
          <p:nvPr/>
        </p:nvSpPr>
        <p:spPr>
          <a:xfrm>
            <a:off x="548640" y="3255264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35E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&amp; MACHINE LEARNING</a:t>
            </a:r>
            <a:endParaRPr lang="en-US" sz="1200" dirty="0"/>
          </a:p>
        </p:txBody>
      </p:sp>
      <p:sp>
        <p:nvSpPr>
          <p:cNvPr id="14" name="Shape 9"/>
          <p:cNvSpPr/>
          <p:nvPr/>
        </p:nvSpPr>
        <p:spPr>
          <a:xfrm>
            <a:off x="548640" y="3566160"/>
            <a:ext cx="11064240" cy="914"/>
          </a:xfrm>
          <a:prstGeom prst="line">
            <a:avLst/>
          </a:prstGeom>
          <a:noFill/>
          <a:ln w="12700">
            <a:solidFill>
              <a:srgbClr val="26314A"/>
            </a:solidFill>
            <a:prstDash val="solid"/>
          </a:ln>
        </p:spPr>
      </p:sp>
      <p:pic>
        <p:nvPicPr>
          <p:cNvPr id="15" name="Image 3" descr="/home/claude/work/icons/postgresql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94360" y="3767328"/>
            <a:ext cx="566928" cy="566928"/>
          </a:xfrm>
          <a:prstGeom prst="rect">
            <a:avLst/>
          </a:prstGeom>
        </p:spPr>
      </p:pic>
      <p:sp>
        <p:nvSpPr>
          <p:cNvPr id="16" name="Text 10"/>
          <p:cNvSpPr txBox="1"/>
          <p:nvPr/>
        </p:nvSpPr>
        <p:spPr>
          <a:xfrm>
            <a:off x="1280160" y="3694176"/>
            <a:ext cx="2773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</a:t>
            </a:r>
            <a:endParaRPr lang="en-US" sz="1450" dirty="0"/>
          </a:p>
        </p:txBody>
      </p:sp>
      <p:sp>
        <p:nvSpPr>
          <p:cNvPr id="17" name="Text 11"/>
          <p:cNvSpPr txBox="1"/>
          <p:nvPr/>
        </p:nvSpPr>
        <p:spPr>
          <a:xfrm>
            <a:off x="1280160" y="4041648"/>
            <a:ext cx="2773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00"/>
              </a:lnSpc>
              <a:buNone/>
            </a:pPr>
            <a:r>
              <a:rPr lang="en-US" sz="1200" dirty="0">
                <a:solidFill>
                  <a:srgbClr val="AEB9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Central store with a persistent volume for project history.</a:t>
            </a:r>
            <a:endParaRPr lang="en-US" sz="1200" dirty="0"/>
          </a:p>
        </p:txBody>
      </p:sp>
      <p:pic>
        <p:nvPicPr>
          <p:cNvPr id="18" name="Image 4" descr="/home/claude/work/icons/pandas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282440" y="3767328"/>
            <a:ext cx="566928" cy="566928"/>
          </a:xfrm>
          <a:prstGeom prst="rect">
            <a:avLst/>
          </a:prstGeom>
        </p:spPr>
      </p:pic>
      <p:sp>
        <p:nvSpPr>
          <p:cNvPr id="19" name="Text 12"/>
          <p:cNvSpPr txBox="1"/>
          <p:nvPr/>
        </p:nvSpPr>
        <p:spPr>
          <a:xfrm>
            <a:off x="4968240" y="3694176"/>
            <a:ext cx="2773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Pandas / NumPy</a:t>
            </a:r>
            <a:endParaRPr lang="en-US" sz="1450" dirty="0"/>
          </a:p>
        </p:txBody>
      </p:sp>
      <p:sp>
        <p:nvSpPr>
          <p:cNvPr id="20" name="Text 13"/>
          <p:cNvSpPr txBox="1"/>
          <p:nvPr/>
        </p:nvSpPr>
        <p:spPr>
          <a:xfrm>
            <a:off x="4968240" y="4041648"/>
            <a:ext cx="2773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00"/>
              </a:lnSpc>
              <a:buNone/>
            </a:pPr>
            <a:r>
              <a:rPr lang="en-US" sz="1200" dirty="0">
                <a:solidFill>
                  <a:srgbClr val="AEB9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Computes CV, SV, CPI, SPI and trend series.</a:t>
            </a:r>
            <a:endParaRPr lang="en-US" sz="1200" dirty="0"/>
          </a:p>
        </p:txBody>
      </p:sp>
      <p:pic>
        <p:nvPicPr>
          <p:cNvPr id="21" name="Image 5" descr="/home/claude/work/icons/sklearn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970520" y="3767328"/>
            <a:ext cx="566928" cy="566928"/>
          </a:xfrm>
          <a:prstGeom prst="rect">
            <a:avLst/>
          </a:prstGeom>
        </p:spPr>
      </p:pic>
      <p:sp>
        <p:nvSpPr>
          <p:cNvPr id="22" name="Text 14"/>
          <p:cNvSpPr txBox="1"/>
          <p:nvPr/>
        </p:nvSpPr>
        <p:spPr>
          <a:xfrm>
            <a:off x="8656320" y="3694176"/>
            <a:ext cx="2773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Scikit-learn</a:t>
            </a:r>
            <a:endParaRPr lang="en-US" sz="1450" dirty="0"/>
          </a:p>
        </p:txBody>
      </p:sp>
      <p:sp>
        <p:nvSpPr>
          <p:cNvPr id="23" name="Text 15"/>
          <p:cNvSpPr txBox="1"/>
          <p:nvPr/>
        </p:nvSpPr>
        <p:spPr>
          <a:xfrm>
            <a:off x="8656320" y="4041648"/>
            <a:ext cx="2773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00"/>
              </a:lnSpc>
              <a:buNone/>
            </a:pPr>
            <a:r>
              <a:rPr lang="en-US" sz="1200" dirty="0">
                <a:solidFill>
                  <a:srgbClr val="AEB9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Probabilistic scoring for activity delay-risk.</a:t>
            </a:r>
            <a:endParaRPr lang="en-US" sz="1200" dirty="0"/>
          </a:p>
        </p:txBody>
      </p:sp>
      <p:sp>
        <p:nvSpPr>
          <p:cNvPr id="24" name="Text 16"/>
          <p:cNvSpPr txBox="1"/>
          <p:nvPr/>
        </p:nvSpPr>
        <p:spPr>
          <a:xfrm>
            <a:off x="548640" y="500176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FFD4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 &amp; REPORTING</a:t>
            </a:r>
            <a:endParaRPr lang="en-US" sz="1200" dirty="0"/>
          </a:p>
        </p:txBody>
      </p:sp>
      <p:sp>
        <p:nvSpPr>
          <p:cNvPr id="25" name="Shape 17"/>
          <p:cNvSpPr/>
          <p:nvPr/>
        </p:nvSpPr>
        <p:spPr>
          <a:xfrm>
            <a:off x="548640" y="5312664"/>
            <a:ext cx="11064240" cy="914"/>
          </a:xfrm>
          <a:prstGeom prst="line">
            <a:avLst/>
          </a:prstGeom>
          <a:noFill/>
          <a:ln w="12700">
            <a:solidFill>
              <a:srgbClr val="26314A"/>
            </a:solidFill>
            <a:prstDash val="solid"/>
          </a:ln>
        </p:spPr>
      </p:sp>
      <p:pic>
        <p:nvPicPr>
          <p:cNvPr id="26" name="Image 6" descr="/home/claude/work/icons/docker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94360" y="5513832"/>
            <a:ext cx="566928" cy="566928"/>
          </a:xfrm>
          <a:prstGeom prst="rect">
            <a:avLst/>
          </a:prstGeom>
        </p:spPr>
      </p:pic>
      <p:sp>
        <p:nvSpPr>
          <p:cNvPr id="27" name="Text 18"/>
          <p:cNvSpPr txBox="1"/>
          <p:nvPr/>
        </p:nvSpPr>
        <p:spPr>
          <a:xfrm>
            <a:off x="1280160" y="5440680"/>
            <a:ext cx="2773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</a:t>
            </a:r>
            <a:endParaRPr lang="en-US" sz="1450" dirty="0"/>
          </a:p>
        </p:txBody>
      </p:sp>
      <p:sp>
        <p:nvSpPr>
          <p:cNvPr id="28" name="Text 19"/>
          <p:cNvSpPr txBox="1"/>
          <p:nvPr/>
        </p:nvSpPr>
        <p:spPr>
          <a:xfrm>
            <a:off x="1280160" y="5788152"/>
            <a:ext cx="2773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00"/>
              </a:lnSpc>
              <a:buNone/>
            </a:pPr>
            <a:r>
              <a:rPr lang="en-US" sz="1200" dirty="0">
                <a:solidFill>
                  <a:srgbClr val="AEB9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Packages every backend service into a portable unit.</a:t>
            </a:r>
            <a:endParaRPr lang="en-US" sz="1200" dirty="0"/>
          </a:p>
        </p:txBody>
      </p:sp>
      <p:pic>
        <p:nvPicPr>
          <p:cNvPr id="29" name="Image 7" descr="/home/claude/work/icons/kubernetes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282440" y="5513832"/>
            <a:ext cx="566928" cy="566928"/>
          </a:xfrm>
          <a:prstGeom prst="rect">
            <a:avLst/>
          </a:prstGeom>
        </p:spPr>
      </p:pic>
      <p:sp>
        <p:nvSpPr>
          <p:cNvPr id="30" name="Text 20"/>
          <p:cNvSpPr txBox="1"/>
          <p:nvPr/>
        </p:nvSpPr>
        <p:spPr>
          <a:xfrm>
            <a:off x="4968240" y="5440680"/>
            <a:ext cx="2773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Kubernetes</a:t>
            </a:r>
            <a:endParaRPr lang="en-US" sz="1450" dirty="0"/>
          </a:p>
        </p:txBody>
      </p:sp>
      <p:sp>
        <p:nvSpPr>
          <p:cNvPr id="31" name="Text 21"/>
          <p:cNvSpPr txBox="1"/>
          <p:nvPr/>
        </p:nvSpPr>
        <p:spPr>
          <a:xfrm>
            <a:off x="4968240" y="5788152"/>
            <a:ext cx="2773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00"/>
              </a:lnSpc>
              <a:buNone/>
            </a:pPr>
            <a:r>
              <a:rPr lang="en-US" sz="1200" dirty="0">
                <a:solidFill>
                  <a:srgbClr val="AEB9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Deploys, scales and self-heals the backend pods.</a:t>
            </a:r>
            <a:endParaRPr lang="en-US" sz="1200" dirty="0"/>
          </a:p>
        </p:txBody>
      </p:sp>
      <p:pic>
        <p:nvPicPr>
          <p:cNvPr id="32" name="Image 8" descr="/home/claude/work/icons/powerbi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970520" y="5513832"/>
            <a:ext cx="566928" cy="566928"/>
          </a:xfrm>
          <a:prstGeom prst="rect">
            <a:avLst/>
          </a:prstGeom>
        </p:spPr>
      </p:pic>
      <p:sp>
        <p:nvSpPr>
          <p:cNvPr id="33" name="Text 22"/>
          <p:cNvSpPr txBox="1"/>
          <p:nvPr/>
        </p:nvSpPr>
        <p:spPr>
          <a:xfrm>
            <a:off x="8656320" y="5440680"/>
            <a:ext cx="2773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BI</a:t>
            </a:r>
            <a:endParaRPr lang="en-US" sz="1450" dirty="0"/>
          </a:p>
        </p:txBody>
      </p:sp>
      <p:sp>
        <p:nvSpPr>
          <p:cNvPr id="34" name="Text 23"/>
          <p:cNvSpPr txBox="1"/>
          <p:nvPr/>
        </p:nvSpPr>
        <p:spPr>
          <a:xfrm>
            <a:off x="8656320" y="5788152"/>
            <a:ext cx="2773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00"/>
              </a:lnSpc>
              <a:buNone/>
            </a:pPr>
            <a:r>
              <a:rPr lang="en-US" sz="1200" dirty="0">
                <a:solidFill>
                  <a:srgbClr val="AEB9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dashboards, trend lines and risk alerts.</a:t>
            </a:r>
            <a:endParaRPr lang="en-US" sz="1200" dirty="0"/>
          </a:p>
        </p:txBody>
      </p:sp>
      <p:sp>
        <p:nvSpPr>
          <p:cNvPr id="35" name="Text 24"/>
          <p:cNvSpPr txBox="1"/>
          <p:nvPr/>
        </p:nvSpPr>
        <p:spPr>
          <a:xfrm>
            <a:off x="548640" y="653796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100" dirty="0">
                <a:solidFill>
                  <a:srgbClr val="7C8A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CLOUD-NATIVE CONSTRUCTION INTELLIGENCE PLATFORM</a:t>
            </a:r>
            <a:endParaRPr lang="en-US" sz="900" dirty="0"/>
          </a:p>
        </p:txBody>
      </p:sp>
      <p:sp>
        <p:nvSpPr>
          <p:cNvPr id="36" name="Text 25"/>
          <p:cNvSpPr txBox="1"/>
          <p:nvPr/>
        </p:nvSpPr>
        <p:spPr>
          <a:xfrm>
            <a:off x="11430000" y="6537960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C8A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C8E3EA-A02B-50FF-F3DA-DE642C5A59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work/backgrounds/bg_content.png">
            <a:extLst>
              <a:ext uri="{FF2B5EF4-FFF2-40B4-BE49-F238E27FC236}">
                <a16:creationId xmlns:a16="http://schemas.microsoft.com/office/drawing/2014/main" id="{798AD46F-7AA2-705B-B26D-1C690E847FB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51" name="Text 0">
            <a:extLst>
              <a:ext uri="{FF2B5EF4-FFF2-40B4-BE49-F238E27FC236}">
                <a16:creationId xmlns:a16="http://schemas.microsoft.com/office/drawing/2014/main" id="{CAB20FFD-DF14-CEF7-76BD-7EBD2274E063}"/>
              </a:ext>
            </a:extLst>
          </p:cNvPr>
          <p:cNvSpPr txBox="1"/>
          <p:nvPr/>
        </p:nvSpPr>
        <p:spPr>
          <a:xfrm>
            <a:off x="640080" y="4572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PROPOSED ARCHITECTURE</a:t>
            </a:r>
            <a:endParaRPr lang="en-US" sz="1400" dirty="0"/>
          </a:p>
        </p:txBody>
      </p:sp>
      <p:sp>
        <p:nvSpPr>
          <p:cNvPr id="52" name="Text 1">
            <a:extLst>
              <a:ext uri="{FF2B5EF4-FFF2-40B4-BE49-F238E27FC236}">
                <a16:creationId xmlns:a16="http://schemas.microsoft.com/office/drawing/2014/main" id="{D747B3AB-2CDA-4C39-06A8-74B25CD98BB6}"/>
              </a:ext>
            </a:extLst>
          </p:cNvPr>
          <p:cNvSpPr txBox="1"/>
          <p:nvPr/>
        </p:nvSpPr>
        <p:spPr>
          <a:xfrm>
            <a:off x="640080" y="749808"/>
            <a:ext cx="9601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4F6F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End-to-End Data Flow</a:t>
            </a:r>
            <a:endParaRPr lang="en-US" sz="3400" dirty="0"/>
          </a:p>
        </p:txBody>
      </p:sp>
      <p:sp>
        <p:nvSpPr>
          <p:cNvPr id="53" name="Text 2">
            <a:extLst>
              <a:ext uri="{FF2B5EF4-FFF2-40B4-BE49-F238E27FC236}">
                <a16:creationId xmlns:a16="http://schemas.microsoft.com/office/drawing/2014/main" id="{12C4E878-020C-365B-DDF8-DEF975A1F95A}"/>
              </a:ext>
            </a:extLst>
          </p:cNvPr>
          <p:cNvSpPr txBox="1"/>
          <p:nvPr/>
        </p:nvSpPr>
        <p:spPr>
          <a:xfrm>
            <a:off x="640080" y="141732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A8B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Kubernetes supervises every service in the chain — ingestion, storage, analytics and risk scoring replicate and self-heal independently.</a:t>
            </a:r>
            <a:endParaRPr lang="en-US" sz="1400" dirty="0"/>
          </a:p>
        </p:txBody>
      </p:sp>
      <p:sp>
        <p:nvSpPr>
          <p:cNvPr id="54" name="Shape 3">
            <a:extLst>
              <a:ext uri="{FF2B5EF4-FFF2-40B4-BE49-F238E27FC236}">
                <a16:creationId xmlns:a16="http://schemas.microsoft.com/office/drawing/2014/main" id="{C94004F8-C152-2418-8074-92E66515B13D}"/>
              </a:ext>
            </a:extLst>
          </p:cNvPr>
          <p:cNvSpPr/>
          <p:nvPr/>
        </p:nvSpPr>
        <p:spPr>
          <a:xfrm>
            <a:off x="640080" y="2286000"/>
            <a:ext cx="1810512" cy="2286000"/>
          </a:xfrm>
          <a:prstGeom prst="roundRect">
            <a:avLst>
              <a:gd name="adj" fmla="val 4545"/>
            </a:avLst>
          </a:prstGeom>
          <a:solidFill>
            <a:srgbClr val="141C2E"/>
          </a:solidFill>
          <a:ln w="9525">
            <a:solidFill>
              <a:srgbClr val="26314A"/>
            </a:solidFill>
            <a:prstDash val="solid"/>
          </a:ln>
          <a:effectLst>
            <a:outerShdw blurRad="1270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55" name="Shape 4">
            <a:extLst>
              <a:ext uri="{FF2B5EF4-FFF2-40B4-BE49-F238E27FC236}">
                <a16:creationId xmlns:a16="http://schemas.microsoft.com/office/drawing/2014/main" id="{21B4DE3A-A697-B9DA-72BC-07C9AED721BB}"/>
              </a:ext>
            </a:extLst>
          </p:cNvPr>
          <p:cNvSpPr/>
          <p:nvPr/>
        </p:nvSpPr>
        <p:spPr>
          <a:xfrm>
            <a:off x="1179576" y="2560320"/>
            <a:ext cx="731520" cy="731520"/>
          </a:xfrm>
          <a:prstGeom prst="ellipse">
            <a:avLst/>
          </a:prstGeom>
          <a:solidFill>
            <a:srgbClr val="0F1526"/>
          </a:solidFill>
          <a:ln/>
        </p:spPr>
      </p:sp>
      <p:pic>
        <p:nvPicPr>
          <p:cNvPr id="56" name="Image 0" descr="assets_recolored/file_amber.png">
            <a:extLst>
              <a:ext uri="{FF2B5EF4-FFF2-40B4-BE49-F238E27FC236}">
                <a16:creationId xmlns:a16="http://schemas.microsoft.com/office/drawing/2014/main" id="{4BF76184-AD0D-2D60-679C-A1C0F55580B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35024" y="2715768"/>
            <a:ext cx="420624" cy="420624"/>
          </a:xfrm>
          <a:prstGeom prst="rect">
            <a:avLst/>
          </a:prstGeom>
        </p:spPr>
      </p:pic>
      <p:sp>
        <p:nvSpPr>
          <p:cNvPr id="57" name="Text 5">
            <a:extLst>
              <a:ext uri="{FF2B5EF4-FFF2-40B4-BE49-F238E27FC236}">
                <a16:creationId xmlns:a16="http://schemas.microsoft.com/office/drawing/2014/main" id="{AAF4E664-4469-730A-9D80-DCC143481E32}"/>
              </a:ext>
            </a:extLst>
          </p:cNvPr>
          <p:cNvSpPr txBox="1"/>
          <p:nvPr/>
        </p:nvSpPr>
        <p:spPr>
          <a:xfrm>
            <a:off x="749808" y="3474720"/>
            <a:ext cx="1591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F4F6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Data</a:t>
            </a:r>
            <a:endParaRPr lang="en-US" sz="1450" dirty="0"/>
          </a:p>
        </p:txBody>
      </p:sp>
      <p:sp>
        <p:nvSpPr>
          <p:cNvPr id="58" name="Text 6">
            <a:extLst>
              <a:ext uri="{FF2B5EF4-FFF2-40B4-BE49-F238E27FC236}">
                <a16:creationId xmlns:a16="http://schemas.microsoft.com/office/drawing/2014/main" id="{A368B5E7-4C70-C4B4-5F3F-25D07F6C98B2}"/>
              </a:ext>
            </a:extLst>
          </p:cNvPr>
          <p:cNvSpPr txBox="1"/>
          <p:nvPr/>
        </p:nvSpPr>
        <p:spPr>
          <a:xfrm>
            <a:off x="749808" y="3977640"/>
            <a:ext cx="1591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200" dirty="0">
                <a:solidFill>
                  <a:srgbClr val="A8B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CSV / Excel / REST</a:t>
            </a:r>
            <a:endParaRPr lang="en-US" sz="1200" dirty="0"/>
          </a:p>
        </p:txBody>
      </p:sp>
      <p:pic>
        <p:nvPicPr>
          <p:cNvPr id="59" name="Image 1" descr="assets_recolored/arrowlong_teal.png">
            <a:extLst>
              <a:ext uri="{FF2B5EF4-FFF2-40B4-BE49-F238E27FC236}">
                <a16:creationId xmlns:a16="http://schemas.microsoft.com/office/drawing/2014/main" id="{96C39320-DDE1-7212-9320-149B0AD5236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505456" y="3255264"/>
            <a:ext cx="384048" cy="347472"/>
          </a:xfrm>
          <a:prstGeom prst="rect">
            <a:avLst/>
          </a:prstGeom>
        </p:spPr>
      </p:pic>
      <p:sp>
        <p:nvSpPr>
          <p:cNvPr id="60" name="Shape 7">
            <a:extLst>
              <a:ext uri="{FF2B5EF4-FFF2-40B4-BE49-F238E27FC236}">
                <a16:creationId xmlns:a16="http://schemas.microsoft.com/office/drawing/2014/main" id="{4958A752-EA40-E07E-DBF6-1418D0C10589}"/>
              </a:ext>
            </a:extLst>
          </p:cNvPr>
          <p:cNvSpPr/>
          <p:nvPr/>
        </p:nvSpPr>
        <p:spPr>
          <a:xfrm>
            <a:off x="2953512" y="2286000"/>
            <a:ext cx="1810512" cy="2286000"/>
          </a:xfrm>
          <a:prstGeom prst="roundRect">
            <a:avLst>
              <a:gd name="adj" fmla="val 4545"/>
            </a:avLst>
          </a:prstGeom>
          <a:solidFill>
            <a:srgbClr val="1B2540"/>
          </a:solidFill>
          <a:ln w="9525">
            <a:solidFill>
              <a:srgbClr val="26314A"/>
            </a:solidFill>
            <a:prstDash val="solid"/>
          </a:ln>
          <a:effectLst>
            <a:outerShdw blurRad="1270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61" name="Shape 8">
            <a:extLst>
              <a:ext uri="{FF2B5EF4-FFF2-40B4-BE49-F238E27FC236}">
                <a16:creationId xmlns:a16="http://schemas.microsoft.com/office/drawing/2014/main" id="{BEB62FF9-785F-28EA-F3E6-BF4D34B8885F}"/>
              </a:ext>
            </a:extLst>
          </p:cNvPr>
          <p:cNvSpPr/>
          <p:nvPr/>
        </p:nvSpPr>
        <p:spPr>
          <a:xfrm>
            <a:off x="3493008" y="2560320"/>
            <a:ext cx="731520" cy="731520"/>
          </a:xfrm>
          <a:prstGeom prst="ellipse">
            <a:avLst/>
          </a:prstGeom>
          <a:solidFill>
            <a:srgbClr val="0F1526"/>
          </a:solidFill>
          <a:ln/>
        </p:spPr>
      </p:sp>
      <p:pic>
        <p:nvPicPr>
          <p:cNvPr id="62" name="Image 2" descr="assets_recolored/server_amber.png">
            <a:extLst>
              <a:ext uri="{FF2B5EF4-FFF2-40B4-BE49-F238E27FC236}">
                <a16:creationId xmlns:a16="http://schemas.microsoft.com/office/drawing/2014/main" id="{2F017DD4-7645-8E4E-F021-7CC9E2D3E28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648456" y="2715768"/>
            <a:ext cx="420624" cy="420624"/>
          </a:xfrm>
          <a:prstGeom prst="rect">
            <a:avLst/>
          </a:prstGeom>
        </p:spPr>
      </p:pic>
      <p:sp>
        <p:nvSpPr>
          <p:cNvPr id="63" name="Text 9">
            <a:extLst>
              <a:ext uri="{FF2B5EF4-FFF2-40B4-BE49-F238E27FC236}">
                <a16:creationId xmlns:a16="http://schemas.microsoft.com/office/drawing/2014/main" id="{70CA59AC-C417-D004-3BC0-06D6E5EE51E0}"/>
              </a:ext>
            </a:extLst>
          </p:cNvPr>
          <p:cNvSpPr txBox="1"/>
          <p:nvPr/>
        </p:nvSpPr>
        <p:spPr>
          <a:xfrm>
            <a:off x="3063240" y="3474720"/>
            <a:ext cx="1591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F4F6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Ingestion API</a:t>
            </a:r>
            <a:endParaRPr lang="en-US" sz="1450" dirty="0"/>
          </a:p>
        </p:txBody>
      </p:sp>
      <p:sp>
        <p:nvSpPr>
          <p:cNvPr id="64" name="Text 10">
            <a:extLst>
              <a:ext uri="{FF2B5EF4-FFF2-40B4-BE49-F238E27FC236}">
                <a16:creationId xmlns:a16="http://schemas.microsoft.com/office/drawing/2014/main" id="{DB505829-144F-60DD-A2E7-1E6991E8889E}"/>
              </a:ext>
            </a:extLst>
          </p:cNvPr>
          <p:cNvSpPr txBox="1"/>
          <p:nvPr/>
        </p:nvSpPr>
        <p:spPr>
          <a:xfrm>
            <a:off x="3063240" y="3977640"/>
            <a:ext cx="1591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200" dirty="0">
                <a:solidFill>
                  <a:srgbClr val="A8B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 &amp; standardize</a:t>
            </a:r>
            <a:endParaRPr lang="en-US" sz="1200" dirty="0"/>
          </a:p>
        </p:txBody>
      </p:sp>
      <p:pic>
        <p:nvPicPr>
          <p:cNvPr id="65" name="Image 3" descr="assets_recolored/arrowlong_teal.png">
            <a:extLst>
              <a:ext uri="{FF2B5EF4-FFF2-40B4-BE49-F238E27FC236}">
                <a16:creationId xmlns:a16="http://schemas.microsoft.com/office/drawing/2014/main" id="{F04A1838-5274-4FDE-C91B-71AA2A32FE8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18888" y="3255264"/>
            <a:ext cx="384048" cy="347472"/>
          </a:xfrm>
          <a:prstGeom prst="rect">
            <a:avLst/>
          </a:prstGeom>
        </p:spPr>
      </p:pic>
      <p:sp>
        <p:nvSpPr>
          <p:cNvPr id="66" name="Shape 11">
            <a:extLst>
              <a:ext uri="{FF2B5EF4-FFF2-40B4-BE49-F238E27FC236}">
                <a16:creationId xmlns:a16="http://schemas.microsoft.com/office/drawing/2014/main" id="{C6295226-74A1-9B79-B131-A877B812A10B}"/>
              </a:ext>
            </a:extLst>
          </p:cNvPr>
          <p:cNvSpPr/>
          <p:nvPr/>
        </p:nvSpPr>
        <p:spPr>
          <a:xfrm>
            <a:off x="5266944" y="2286000"/>
            <a:ext cx="1810512" cy="2286000"/>
          </a:xfrm>
          <a:prstGeom prst="roundRect">
            <a:avLst>
              <a:gd name="adj" fmla="val 4545"/>
            </a:avLst>
          </a:prstGeom>
          <a:solidFill>
            <a:srgbClr val="141C2E"/>
          </a:solidFill>
          <a:ln w="9525">
            <a:solidFill>
              <a:srgbClr val="26314A"/>
            </a:solidFill>
            <a:prstDash val="solid"/>
          </a:ln>
          <a:effectLst>
            <a:outerShdw blurRad="1270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67" name="Shape 12">
            <a:extLst>
              <a:ext uri="{FF2B5EF4-FFF2-40B4-BE49-F238E27FC236}">
                <a16:creationId xmlns:a16="http://schemas.microsoft.com/office/drawing/2014/main" id="{22A599A5-C673-B460-5D99-328AF501420D}"/>
              </a:ext>
            </a:extLst>
          </p:cNvPr>
          <p:cNvSpPr/>
          <p:nvPr/>
        </p:nvSpPr>
        <p:spPr>
          <a:xfrm>
            <a:off x="5806440" y="2560320"/>
            <a:ext cx="731520" cy="731520"/>
          </a:xfrm>
          <a:prstGeom prst="ellipse">
            <a:avLst/>
          </a:prstGeom>
          <a:solidFill>
            <a:srgbClr val="0F1526"/>
          </a:solidFill>
          <a:ln/>
        </p:spPr>
      </p:sp>
      <p:pic>
        <p:nvPicPr>
          <p:cNvPr id="68" name="Image 4" descr="assets_recolored/database_amber.png">
            <a:extLst>
              <a:ext uri="{FF2B5EF4-FFF2-40B4-BE49-F238E27FC236}">
                <a16:creationId xmlns:a16="http://schemas.microsoft.com/office/drawing/2014/main" id="{86F7855D-5FFB-171E-CE92-DC047386528B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961888" y="2715768"/>
            <a:ext cx="420624" cy="420624"/>
          </a:xfrm>
          <a:prstGeom prst="rect">
            <a:avLst/>
          </a:prstGeom>
        </p:spPr>
      </p:pic>
      <p:sp>
        <p:nvSpPr>
          <p:cNvPr id="69" name="Text 13">
            <a:extLst>
              <a:ext uri="{FF2B5EF4-FFF2-40B4-BE49-F238E27FC236}">
                <a16:creationId xmlns:a16="http://schemas.microsoft.com/office/drawing/2014/main" id="{BAAD3E41-FEE0-A6EF-B3D1-1381C69B2073}"/>
              </a:ext>
            </a:extLst>
          </p:cNvPr>
          <p:cNvSpPr txBox="1"/>
          <p:nvPr/>
        </p:nvSpPr>
        <p:spPr>
          <a:xfrm>
            <a:off x="5376672" y="3474720"/>
            <a:ext cx="1591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F4F6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</a:t>
            </a:r>
            <a:endParaRPr lang="en-US" sz="1450" dirty="0"/>
          </a:p>
        </p:txBody>
      </p:sp>
      <p:sp>
        <p:nvSpPr>
          <p:cNvPr id="70" name="Text 14">
            <a:extLst>
              <a:ext uri="{FF2B5EF4-FFF2-40B4-BE49-F238E27FC236}">
                <a16:creationId xmlns:a16="http://schemas.microsoft.com/office/drawing/2014/main" id="{0C1C6095-7993-55C0-9E4F-A41C288C9E9B}"/>
              </a:ext>
            </a:extLst>
          </p:cNvPr>
          <p:cNvSpPr txBox="1"/>
          <p:nvPr/>
        </p:nvSpPr>
        <p:spPr>
          <a:xfrm>
            <a:off x="5376672" y="3977640"/>
            <a:ext cx="1591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200" dirty="0">
                <a:solidFill>
                  <a:srgbClr val="A8B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Persistent volume</a:t>
            </a:r>
            <a:endParaRPr lang="en-US" sz="1200" dirty="0"/>
          </a:p>
        </p:txBody>
      </p:sp>
      <p:pic>
        <p:nvPicPr>
          <p:cNvPr id="71" name="Image 5" descr="assets_recolored/arrowlong_teal.png">
            <a:extLst>
              <a:ext uri="{FF2B5EF4-FFF2-40B4-BE49-F238E27FC236}">
                <a16:creationId xmlns:a16="http://schemas.microsoft.com/office/drawing/2014/main" id="{B17DB699-1F82-80EB-F03F-AC101FDF84E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32320" y="3255264"/>
            <a:ext cx="384048" cy="347472"/>
          </a:xfrm>
          <a:prstGeom prst="rect">
            <a:avLst/>
          </a:prstGeom>
        </p:spPr>
      </p:pic>
      <p:sp>
        <p:nvSpPr>
          <p:cNvPr id="72" name="Shape 15">
            <a:extLst>
              <a:ext uri="{FF2B5EF4-FFF2-40B4-BE49-F238E27FC236}">
                <a16:creationId xmlns:a16="http://schemas.microsoft.com/office/drawing/2014/main" id="{6459E95D-C911-9796-61F2-AFF86CB663DF}"/>
              </a:ext>
            </a:extLst>
          </p:cNvPr>
          <p:cNvSpPr/>
          <p:nvPr/>
        </p:nvSpPr>
        <p:spPr>
          <a:xfrm>
            <a:off x="7580376" y="2286000"/>
            <a:ext cx="1810512" cy="2286000"/>
          </a:xfrm>
          <a:prstGeom prst="roundRect">
            <a:avLst>
              <a:gd name="adj" fmla="val 4545"/>
            </a:avLst>
          </a:prstGeom>
          <a:solidFill>
            <a:srgbClr val="1B2540"/>
          </a:solidFill>
          <a:ln w="9525">
            <a:solidFill>
              <a:srgbClr val="26314A"/>
            </a:solidFill>
            <a:prstDash val="solid"/>
          </a:ln>
          <a:effectLst>
            <a:outerShdw blurRad="1270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73" name="Shape 16">
            <a:extLst>
              <a:ext uri="{FF2B5EF4-FFF2-40B4-BE49-F238E27FC236}">
                <a16:creationId xmlns:a16="http://schemas.microsoft.com/office/drawing/2014/main" id="{B4EA2CA7-5DB1-E30E-80F3-158DAC9A01E0}"/>
              </a:ext>
            </a:extLst>
          </p:cNvPr>
          <p:cNvSpPr/>
          <p:nvPr/>
        </p:nvSpPr>
        <p:spPr>
          <a:xfrm>
            <a:off x="8119872" y="2560320"/>
            <a:ext cx="731520" cy="731520"/>
          </a:xfrm>
          <a:prstGeom prst="ellipse">
            <a:avLst/>
          </a:prstGeom>
          <a:solidFill>
            <a:srgbClr val="0F1526"/>
          </a:solidFill>
          <a:ln/>
        </p:spPr>
      </p:sp>
      <p:pic>
        <p:nvPicPr>
          <p:cNvPr id="74" name="Image 6" descr="assets_recolored/chartline_amber.png">
            <a:extLst>
              <a:ext uri="{FF2B5EF4-FFF2-40B4-BE49-F238E27FC236}">
                <a16:creationId xmlns:a16="http://schemas.microsoft.com/office/drawing/2014/main" id="{7A77781C-99B7-45BF-E445-9011D52B8369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275320" y="2715768"/>
            <a:ext cx="420624" cy="420624"/>
          </a:xfrm>
          <a:prstGeom prst="rect">
            <a:avLst/>
          </a:prstGeom>
        </p:spPr>
      </p:pic>
      <p:sp>
        <p:nvSpPr>
          <p:cNvPr id="75" name="Text 17">
            <a:extLst>
              <a:ext uri="{FF2B5EF4-FFF2-40B4-BE49-F238E27FC236}">
                <a16:creationId xmlns:a16="http://schemas.microsoft.com/office/drawing/2014/main" id="{AEDB18F3-B9EA-9076-D7E9-0D691002CAD6}"/>
              </a:ext>
            </a:extLst>
          </p:cNvPr>
          <p:cNvSpPr txBox="1"/>
          <p:nvPr/>
        </p:nvSpPr>
        <p:spPr>
          <a:xfrm>
            <a:off x="7690104" y="3474720"/>
            <a:ext cx="1591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F4F6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Analytics + Risk</a:t>
            </a:r>
            <a:endParaRPr lang="en-US" sz="1450" dirty="0"/>
          </a:p>
        </p:txBody>
      </p:sp>
      <p:sp>
        <p:nvSpPr>
          <p:cNvPr id="76" name="Text 18">
            <a:extLst>
              <a:ext uri="{FF2B5EF4-FFF2-40B4-BE49-F238E27FC236}">
                <a16:creationId xmlns:a16="http://schemas.microsoft.com/office/drawing/2014/main" id="{B746C4BF-02D0-BEC7-FB49-51626F3DAC4C}"/>
              </a:ext>
            </a:extLst>
          </p:cNvPr>
          <p:cNvSpPr txBox="1"/>
          <p:nvPr/>
        </p:nvSpPr>
        <p:spPr>
          <a:xfrm>
            <a:off x="7690104" y="3977640"/>
            <a:ext cx="1591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200" dirty="0">
                <a:solidFill>
                  <a:srgbClr val="A8B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KPIs · risk score</a:t>
            </a:r>
            <a:endParaRPr lang="en-US" sz="1200" dirty="0"/>
          </a:p>
        </p:txBody>
      </p:sp>
      <p:pic>
        <p:nvPicPr>
          <p:cNvPr id="77" name="Image 7" descr="assets_recolored/arrowlong_teal.png">
            <a:extLst>
              <a:ext uri="{FF2B5EF4-FFF2-40B4-BE49-F238E27FC236}">
                <a16:creationId xmlns:a16="http://schemas.microsoft.com/office/drawing/2014/main" id="{119551D1-7D96-F4C5-FE9F-F84A7B84E11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445752" y="3255264"/>
            <a:ext cx="384048" cy="347472"/>
          </a:xfrm>
          <a:prstGeom prst="rect">
            <a:avLst/>
          </a:prstGeom>
        </p:spPr>
      </p:pic>
      <p:sp>
        <p:nvSpPr>
          <p:cNvPr id="78" name="Shape 19">
            <a:extLst>
              <a:ext uri="{FF2B5EF4-FFF2-40B4-BE49-F238E27FC236}">
                <a16:creationId xmlns:a16="http://schemas.microsoft.com/office/drawing/2014/main" id="{D770B458-0C4D-7517-08EA-8E94079D9FB5}"/>
              </a:ext>
            </a:extLst>
          </p:cNvPr>
          <p:cNvSpPr/>
          <p:nvPr/>
        </p:nvSpPr>
        <p:spPr>
          <a:xfrm>
            <a:off x="9893808" y="2286000"/>
            <a:ext cx="1810512" cy="2286000"/>
          </a:xfrm>
          <a:prstGeom prst="roundRect">
            <a:avLst>
              <a:gd name="adj" fmla="val 4545"/>
            </a:avLst>
          </a:prstGeom>
          <a:solidFill>
            <a:srgbClr val="141C2E"/>
          </a:solidFill>
          <a:ln w="9525">
            <a:solidFill>
              <a:srgbClr val="26314A"/>
            </a:solidFill>
            <a:prstDash val="solid"/>
          </a:ln>
          <a:effectLst>
            <a:outerShdw blurRad="1270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79" name="Shape 20">
            <a:extLst>
              <a:ext uri="{FF2B5EF4-FFF2-40B4-BE49-F238E27FC236}">
                <a16:creationId xmlns:a16="http://schemas.microsoft.com/office/drawing/2014/main" id="{CAC7A7EC-CD5A-A842-0179-F6235E3E07DA}"/>
              </a:ext>
            </a:extLst>
          </p:cNvPr>
          <p:cNvSpPr/>
          <p:nvPr/>
        </p:nvSpPr>
        <p:spPr>
          <a:xfrm>
            <a:off x="10433304" y="2560320"/>
            <a:ext cx="731520" cy="731520"/>
          </a:xfrm>
          <a:prstGeom prst="ellipse">
            <a:avLst/>
          </a:prstGeom>
          <a:solidFill>
            <a:srgbClr val="0F1526"/>
          </a:solidFill>
          <a:ln/>
        </p:spPr>
      </p:sp>
      <p:pic>
        <p:nvPicPr>
          <p:cNvPr id="80" name="Image 8" descr="assets_recolored/chartpie_amber.png">
            <a:extLst>
              <a:ext uri="{FF2B5EF4-FFF2-40B4-BE49-F238E27FC236}">
                <a16:creationId xmlns:a16="http://schemas.microsoft.com/office/drawing/2014/main" id="{5595E603-930B-D231-5C3F-5C91AE397ACF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588752" y="2715768"/>
            <a:ext cx="420624" cy="420624"/>
          </a:xfrm>
          <a:prstGeom prst="rect">
            <a:avLst/>
          </a:prstGeom>
        </p:spPr>
      </p:pic>
      <p:sp>
        <p:nvSpPr>
          <p:cNvPr id="81" name="Text 21">
            <a:extLst>
              <a:ext uri="{FF2B5EF4-FFF2-40B4-BE49-F238E27FC236}">
                <a16:creationId xmlns:a16="http://schemas.microsoft.com/office/drawing/2014/main" id="{B8DD69A2-FDC6-5350-A266-08EAED5805BA}"/>
              </a:ext>
            </a:extLst>
          </p:cNvPr>
          <p:cNvSpPr txBox="1"/>
          <p:nvPr/>
        </p:nvSpPr>
        <p:spPr>
          <a:xfrm>
            <a:off x="10003536" y="3474720"/>
            <a:ext cx="1591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F4F6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BI</a:t>
            </a:r>
            <a:endParaRPr lang="en-US" sz="1450" dirty="0"/>
          </a:p>
        </p:txBody>
      </p:sp>
      <p:sp>
        <p:nvSpPr>
          <p:cNvPr id="82" name="Text 22">
            <a:extLst>
              <a:ext uri="{FF2B5EF4-FFF2-40B4-BE49-F238E27FC236}">
                <a16:creationId xmlns:a16="http://schemas.microsoft.com/office/drawing/2014/main" id="{A0BF7EEF-80C7-5C7E-83C2-1EE290655EC5}"/>
              </a:ext>
            </a:extLst>
          </p:cNvPr>
          <p:cNvSpPr txBox="1"/>
          <p:nvPr/>
        </p:nvSpPr>
        <p:spPr>
          <a:xfrm>
            <a:off x="10003536" y="3977640"/>
            <a:ext cx="1591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200" dirty="0">
                <a:solidFill>
                  <a:srgbClr val="A8B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dashboards</a:t>
            </a:r>
            <a:endParaRPr lang="en-US" sz="1200" dirty="0"/>
          </a:p>
        </p:txBody>
      </p:sp>
      <p:sp>
        <p:nvSpPr>
          <p:cNvPr id="83" name="Shape 23">
            <a:extLst>
              <a:ext uri="{FF2B5EF4-FFF2-40B4-BE49-F238E27FC236}">
                <a16:creationId xmlns:a16="http://schemas.microsoft.com/office/drawing/2014/main" id="{3DC9112B-C981-4B89-C2B4-A17669B7F412}"/>
              </a:ext>
            </a:extLst>
          </p:cNvPr>
          <p:cNvSpPr/>
          <p:nvPr/>
        </p:nvSpPr>
        <p:spPr>
          <a:xfrm>
            <a:off x="640080" y="4892040"/>
            <a:ext cx="10927080" cy="1051560"/>
          </a:xfrm>
          <a:prstGeom prst="roundRect">
            <a:avLst>
              <a:gd name="adj" fmla="val 7826"/>
            </a:avLst>
          </a:prstGeom>
          <a:solidFill>
            <a:srgbClr val="13202A"/>
          </a:solidFill>
          <a:ln w="12700">
            <a:solidFill>
              <a:srgbClr val="17A895"/>
            </a:solidFill>
            <a:prstDash val="solid"/>
          </a:ln>
        </p:spPr>
      </p:sp>
      <p:sp>
        <p:nvSpPr>
          <p:cNvPr id="84" name="Shape 24">
            <a:extLst>
              <a:ext uri="{FF2B5EF4-FFF2-40B4-BE49-F238E27FC236}">
                <a16:creationId xmlns:a16="http://schemas.microsoft.com/office/drawing/2014/main" id="{36B07033-B071-2992-5E07-D00D2E976634}"/>
              </a:ext>
            </a:extLst>
          </p:cNvPr>
          <p:cNvSpPr/>
          <p:nvPr/>
        </p:nvSpPr>
        <p:spPr>
          <a:xfrm>
            <a:off x="868680" y="5074920"/>
            <a:ext cx="658368" cy="658368"/>
          </a:xfrm>
          <a:prstGeom prst="ellipse">
            <a:avLst/>
          </a:prstGeom>
          <a:solidFill>
            <a:srgbClr val="0F1526"/>
          </a:solidFill>
          <a:ln/>
        </p:spPr>
      </p:sp>
      <p:pic>
        <p:nvPicPr>
          <p:cNvPr id="85" name="Image 9" descr="assets_recolored/kubernetes_teal.png">
            <a:extLst>
              <a:ext uri="{FF2B5EF4-FFF2-40B4-BE49-F238E27FC236}">
                <a16:creationId xmlns:a16="http://schemas.microsoft.com/office/drawing/2014/main" id="{0A0AECA1-FF24-D211-B83F-E8F40D2B09C1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05840" y="5212080"/>
            <a:ext cx="384048" cy="384048"/>
          </a:xfrm>
          <a:prstGeom prst="rect">
            <a:avLst/>
          </a:prstGeom>
        </p:spPr>
      </p:pic>
      <p:sp>
        <p:nvSpPr>
          <p:cNvPr id="86" name="Text 25">
            <a:extLst>
              <a:ext uri="{FF2B5EF4-FFF2-40B4-BE49-F238E27FC236}">
                <a16:creationId xmlns:a16="http://schemas.microsoft.com/office/drawing/2014/main" id="{7E4EBCC4-23AE-1DC3-9550-43DDFA966D63}"/>
              </a:ext>
            </a:extLst>
          </p:cNvPr>
          <p:cNvSpPr txBox="1"/>
          <p:nvPr/>
        </p:nvSpPr>
        <p:spPr>
          <a:xfrm>
            <a:off x="1691640" y="502920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Orchestration Layer — Kubernetes</a:t>
            </a:r>
            <a:endParaRPr lang="en-US" sz="1450" dirty="0"/>
          </a:p>
        </p:txBody>
      </p:sp>
      <p:sp>
        <p:nvSpPr>
          <p:cNvPr id="87" name="Text 26">
            <a:extLst>
              <a:ext uri="{FF2B5EF4-FFF2-40B4-BE49-F238E27FC236}">
                <a16:creationId xmlns:a16="http://schemas.microsoft.com/office/drawing/2014/main" id="{07D1DA8D-8159-46D7-F8FC-F1F265F228FA}"/>
              </a:ext>
            </a:extLst>
          </p:cNvPr>
          <p:cNvSpPr txBox="1"/>
          <p:nvPr/>
        </p:nvSpPr>
        <p:spPr>
          <a:xfrm>
            <a:off x="1691640" y="5358384"/>
            <a:ext cx="9646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F4F6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Replica sets, rolling updates, health probes and secrets management supervise every service above — the whole chain scales and self-heals as one system.</a:t>
            </a:r>
            <a:endParaRPr lang="en-US" sz="1300" dirty="0"/>
          </a:p>
        </p:txBody>
      </p:sp>
      <p:sp>
        <p:nvSpPr>
          <p:cNvPr id="88" name="Text 27">
            <a:extLst>
              <a:ext uri="{FF2B5EF4-FFF2-40B4-BE49-F238E27FC236}">
                <a16:creationId xmlns:a16="http://schemas.microsoft.com/office/drawing/2014/main" id="{45DA9EB2-C768-1F87-7AB1-1BA72BA93199}"/>
              </a:ext>
            </a:extLst>
          </p:cNvPr>
          <p:cNvSpPr txBox="1"/>
          <p:nvPr/>
        </p:nvSpPr>
        <p:spPr>
          <a:xfrm>
            <a:off x="457200" y="6547104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083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CLOUD-NATIVE CONSTRUCTION PROJECT INTELLIGENCE PLATFORM   ·   Proposed Architecture</a:t>
            </a:r>
            <a:endParaRPr lang="en-US" sz="1000" dirty="0"/>
          </a:p>
        </p:txBody>
      </p:sp>
      <p:sp>
        <p:nvSpPr>
          <p:cNvPr id="89" name="Shape 28">
            <a:extLst>
              <a:ext uri="{FF2B5EF4-FFF2-40B4-BE49-F238E27FC236}">
                <a16:creationId xmlns:a16="http://schemas.microsoft.com/office/drawing/2014/main" id="{82DF2B0E-EAE5-66E3-15A7-08AB2C57D8BA}"/>
              </a:ext>
            </a:extLst>
          </p:cNvPr>
          <p:cNvSpPr/>
          <p:nvPr/>
        </p:nvSpPr>
        <p:spPr>
          <a:xfrm>
            <a:off x="11384280" y="6446520"/>
            <a:ext cx="457200" cy="310896"/>
          </a:xfrm>
          <a:prstGeom prst="roundRect">
            <a:avLst>
              <a:gd name="adj" fmla="val 23529"/>
            </a:avLst>
          </a:prstGeom>
          <a:solidFill>
            <a:srgbClr val="1B2540"/>
          </a:solidFill>
          <a:ln w="9525">
            <a:solidFill>
              <a:srgbClr val="26314A"/>
            </a:solidFill>
            <a:prstDash val="solid"/>
          </a:ln>
        </p:spPr>
      </p:sp>
      <p:sp>
        <p:nvSpPr>
          <p:cNvPr id="90" name="Text 29">
            <a:extLst>
              <a:ext uri="{FF2B5EF4-FFF2-40B4-BE49-F238E27FC236}">
                <a16:creationId xmlns:a16="http://schemas.microsoft.com/office/drawing/2014/main" id="{01C4FFE3-8221-579F-0117-6831D5FF7877}"/>
              </a:ext>
            </a:extLst>
          </p:cNvPr>
          <p:cNvSpPr txBox="1"/>
          <p:nvPr/>
        </p:nvSpPr>
        <p:spPr>
          <a:xfrm>
            <a:off x="11384280" y="6446520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100" dirty="0"/>
          </a:p>
        </p:txBody>
      </p:sp>
    </p:spTree>
    <p:extLst>
      <p:ext uri="{BB962C8B-B14F-4D97-AF65-F5344CB8AC3E}">
        <p14:creationId xmlns:p14="http://schemas.microsoft.com/office/powerpoint/2010/main" val="168598202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work/backgrounds/bg_conten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548640" y="3200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rgbClr val="2E8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PROPOSED ARCHITECTURE</a:t>
            </a:r>
            <a:endParaRPr lang="en-US" sz="14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667512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Major Components</a:t>
            </a:r>
            <a:endParaRPr lang="en-US" sz="3000" dirty="0"/>
          </a:p>
        </p:txBody>
      </p:sp>
      <p:sp>
        <p:nvSpPr>
          <p:cNvPr id="5" name="Shape 2"/>
          <p:cNvSpPr/>
          <p:nvPr/>
        </p:nvSpPr>
        <p:spPr>
          <a:xfrm>
            <a:off x="548640" y="1600200"/>
            <a:ext cx="2697480" cy="2103120"/>
          </a:xfrm>
          <a:prstGeom prst="roundRect">
            <a:avLst>
              <a:gd name="adj" fmla="val 3913"/>
            </a:avLst>
          </a:prstGeom>
          <a:solidFill>
            <a:srgbClr val="141B2E"/>
          </a:solidFill>
          <a:ln w="12700">
            <a:solidFill>
              <a:srgbClr val="26314A"/>
            </a:solidFill>
            <a:prstDash val="solid"/>
          </a:ln>
          <a:effectLst>
            <a:outerShdw blurRad="127000" dist="38100" dir="5400000" algn="bl" rotWithShape="0">
              <a:srgbClr val="000000">
                <a:alpha val="35000"/>
              </a:srgbClr>
            </a:outerShdw>
          </a:effectLst>
        </p:spPr>
      </p:sp>
      <p:pic>
        <p:nvPicPr>
          <p:cNvPr id="6" name="Image 1" descr="/home/claude/work/icons/fil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520" y="1783080"/>
            <a:ext cx="457200" cy="457200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731520" y="2350008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Sources</a:t>
            </a:r>
            <a:endParaRPr lang="en-US" sz="1600" dirty="0"/>
          </a:p>
        </p:txBody>
      </p:sp>
      <p:sp>
        <p:nvSpPr>
          <p:cNvPr id="8" name="Text 4"/>
          <p:cNvSpPr txBox="1"/>
          <p:nvPr/>
        </p:nvSpPr>
        <p:spPr>
          <a:xfrm>
            <a:off x="731520" y="2770632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kern="0" spc="50" dirty="0">
                <a:solidFill>
                  <a:srgbClr val="35E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CSV / Excel / REST / BIM</a:t>
            </a:r>
            <a:endParaRPr lang="en-US" sz="1100" dirty="0"/>
          </a:p>
        </p:txBody>
      </p:sp>
      <p:sp>
        <p:nvSpPr>
          <p:cNvPr id="9" name="Text 5"/>
          <p:cNvSpPr txBox="1"/>
          <p:nvPr/>
        </p:nvSpPr>
        <p:spPr>
          <a:xfrm>
            <a:off x="731520" y="3044952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350"/>
              </a:lnSpc>
              <a:buNone/>
            </a:pPr>
            <a:r>
              <a:rPr lang="en-US" sz="1200" dirty="0">
                <a:solidFill>
                  <a:srgbClr val="AEB9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CSV/Excel exports, REST updates, and optional BIM-derived project data.</a:t>
            </a:r>
            <a:endParaRPr lang="en-US" sz="1200" dirty="0"/>
          </a:p>
        </p:txBody>
      </p:sp>
      <p:sp>
        <p:nvSpPr>
          <p:cNvPr id="10" name="Shape 6"/>
          <p:cNvSpPr/>
          <p:nvPr/>
        </p:nvSpPr>
        <p:spPr>
          <a:xfrm>
            <a:off x="3383280" y="1600200"/>
            <a:ext cx="2697480" cy="2103120"/>
          </a:xfrm>
          <a:prstGeom prst="roundRect">
            <a:avLst>
              <a:gd name="adj" fmla="val 3913"/>
            </a:avLst>
          </a:prstGeom>
          <a:solidFill>
            <a:srgbClr val="141B2E"/>
          </a:solidFill>
          <a:ln w="12700">
            <a:solidFill>
              <a:srgbClr val="26314A"/>
            </a:solidFill>
            <a:prstDash val="solid"/>
          </a:ln>
          <a:effectLst>
            <a:outerShdw blurRad="127000" dist="38100" dir="5400000" algn="bl" rotWithShape="0">
              <a:srgbClr val="000000">
                <a:alpha val="35000"/>
              </a:srgbClr>
            </a:outerShdw>
          </a:effectLst>
        </p:spPr>
      </p:sp>
      <p:pic>
        <p:nvPicPr>
          <p:cNvPr id="11" name="Image 2" descr="/home/claude/work/icons/server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66160" y="1783080"/>
            <a:ext cx="457200" cy="457200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3566160" y="2350008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Ingestion Service</a:t>
            </a:r>
            <a:endParaRPr lang="en-US" sz="1600" dirty="0"/>
          </a:p>
        </p:txBody>
      </p:sp>
      <p:sp>
        <p:nvSpPr>
          <p:cNvPr id="13" name="Text 8"/>
          <p:cNvSpPr txBox="1"/>
          <p:nvPr/>
        </p:nvSpPr>
        <p:spPr>
          <a:xfrm>
            <a:off x="3566160" y="2770632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kern="0" spc="50" dirty="0">
                <a:solidFill>
                  <a:srgbClr val="35E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+ FastAPI + Docker</a:t>
            </a:r>
            <a:endParaRPr lang="en-US" sz="1100" dirty="0"/>
          </a:p>
        </p:txBody>
      </p:sp>
      <p:sp>
        <p:nvSpPr>
          <p:cNvPr id="14" name="Text 9"/>
          <p:cNvSpPr txBox="1"/>
          <p:nvPr/>
        </p:nvSpPr>
        <p:spPr>
          <a:xfrm>
            <a:off x="3566160" y="3044952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350"/>
              </a:lnSpc>
              <a:buNone/>
            </a:pPr>
            <a:r>
              <a:rPr lang="en-US" sz="1200" dirty="0">
                <a:solidFill>
                  <a:srgbClr val="AEB9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Validates and standardizes every incoming record before storage.</a:t>
            </a:r>
            <a:endParaRPr lang="en-US" sz="1200" dirty="0"/>
          </a:p>
        </p:txBody>
      </p:sp>
      <p:sp>
        <p:nvSpPr>
          <p:cNvPr id="15" name="Shape 10"/>
          <p:cNvSpPr/>
          <p:nvPr/>
        </p:nvSpPr>
        <p:spPr>
          <a:xfrm>
            <a:off x="6217920" y="1600200"/>
            <a:ext cx="2697480" cy="2103120"/>
          </a:xfrm>
          <a:prstGeom prst="roundRect">
            <a:avLst>
              <a:gd name="adj" fmla="val 3913"/>
            </a:avLst>
          </a:prstGeom>
          <a:solidFill>
            <a:srgbClr val="141B2E"/>
          </a:solidFill>
          <a:ln w="12700">
            <a:solidFill>
              <a:srgbClr val="26314A"/>
            </a:solidFill>
            <a:prstDash val="solid"/>
          </a:ln>
          <a:effectLst>
            <a:outerShdw blurRad="127000" dist="38100" dir="5400000" algn="bl" rotWithShape="0">
              <a:srgbClr val="000000">
                <a:alpha val="35000"/>
              </a:srgbClr>
            </a:outerShdw>
          </a:effectLst>
        </p:spPr>
      </p:sp>
      <p:pic>
        <p:nvPicPr>
          <p:cNvPr id="16" name="Image 3" descr="/home/claude/work/icons/databas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00800" y="1783080"/>
            <a:ext cx="457200" cy="457200"/>
          </a:xfrm>
          <a:prstGeom prst="rect">
            <a:avLst/>
          </a:prstGeom>
        </p:spPr>
      </p:pic>
      <p:sp>
        <p:nvSpPr>
          <p:cNvPr id="17" name="Text 11"/>
          <p:cNvSpPr txBox="1"/>
          <p:nvPr/>
        </p:nvSpPr>
        <p:spPr>
          <a:xfrm>
            <a:off x="6400800" y="2350008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Central Data Store</a:t>
            </a:r>
            <a:endParaRPr lang="en-US" sz="1600" dirty="0"/>
          </a:p>
        </p:txBody>
      </p:sp>
      <p:sp>
        <p:nvSpPr>
          <p:cNvPr id="18" name="Text 12"/>
          <p:cNvSpPr txBox="1"/>
          <p:nvPr/>
        </p:nvSpPr>
        <p:spPr>
          <a:xfrm>
            <a:off x="6400800" y="2770632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kern="0" spc="50" dirty="0">
                <a:solidFill>
                  <a:srgbClr val="35E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 + Persistent Volume</a:t>
            </a:r>
            <a:endParaRPr lang="en-US" sz="1100" dirty="0"/>
          </a:p>
        </p:txBody>
      </p:sp>
      <p:sp>
        <p:nvSpPr>
          <p:cNvPr id="19" name="Text 13"/>
          <p:cNvSpPr txBox="1"/>
          <p:nvPr/>
        </p:nvSpPr>
        <p:spPr>
          <a:xfrm>
            <a:off x="6400800" y="3044952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350"/>
              </a:lnSpc>
              <a:buNone/>
            </a:pPr>
            <a:r>
              <a:rPr lang="en-US" sz="1200" dirty="0">
                <a:solidFill>
                  <a:srgbClr val="AEB9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Durable store holding the full history for every project.</a:t>
            </a:r>
            <a:endParaRPr lang="en-US" sz="1200" dirty="0"/>
          </a:p>
        </p:txBody>
      </p:sp>
      <p:sp>
        <p:nvSpPr>
          <p:cNvPr id="20" name="Shape 14"/>
          <p:cNvSpPr/>
          <p:nvPr/>
        </p:nvSpPr>
        <p:spPr>
          <a:xfrm>
            <a:off x="9052560" y="1600200"/>
            <a:ext cx="2697480" cy="2103120"/>
          </a:xfrm>
          <a:prstGeom prst="roundRect">
            <a:avLst>
              <a:gd name="adj" fmla="val 3913"/>
            </a:avLst>
          </a:prstGeom>
          <a:solidFill>
            <a:srgbClr val="141B2E"/>
          </a:solidFill>
          <a:ln w="12700">
            <a:solidFill>
              <a:srgbClr val="26314A"/>
            </a:solidFill>
            <a:prstDash val="solid"/>
          </a:ln>
          <a:effectLst>
            <a:outerShdw blurRad="127000" dist="38100" dir="5400000" algn="bl" rotWithShape="0">
              <a:srgbClr val="000000">
                <a:alpha val="35000"/>
              </a:srgbClr>
            </a:outerShdw>
          </a:effectLst>
        </p:spPr>
      </p:sp>
      <p:pic>
        <p:nvPicPr>
          <p:cNvPr id="21" name="Image 4" descr="/home/claude/work/icons/chartlin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235440" y="1783080"/>
            <a:ext cx="457200" cy="457200"/>
          </a:xfrm>
          <a:prstGeom prst="rect">
            <a:avLst/>
          </a:prstGeom>
        </p:spPr>
      </p:pic>
      <p:sp>
        <p:nvSpPr>
          <p:cNvPr id="22" name="Text 15"/>
          <p:cNvSpPr txBox="1"/>
          <p:nvPr/>
        </p:nvSpPr>
        <p:spPr>
          <a:xfrm>
            <a:off x="9235440" y="2350008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Analytics Service</a:t>
            </a:r>
            <a:endParaRPr lang="en-US" sz="1600" dirty="0"/>
          </a:p>
        </p:txBody>
      </p:sp>
      <p:sp>
        <p:nvSpPr>
          <p:cNvPr id="23" name="Text 16"/>
          <p:cNvSpPr txBox="1"/>
          <p:nvPr/>
        </p:nvSpPr>
        <p:spPr>
          <a:xfrm>
            <a:off x="9235440" y="2770632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kern="0" spc="50" dirty="0">
                <a:solidFill>
                  <a:srgbClr val="35E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Pandas / NumPy</a:t>
            </a:r>
            <a:endParaRPr lang="en-US" sz="1100" dirty="0"/>
          </a:p>
        </p:txBody>
      </p:sp>
      <p:sp>
        <p:nvSpPr>
          <p:cNvPr id="24" name="Text 17"/>
          <p:cNvSpPr txBox="1"/>
          <p:nvPr/>
        </p:nvSpPr>
        <p:spPr>
          <a:xfrm>
            <a:off x="9235440" y="3044952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350"/>
              </a:lnSpc>
              <a:buNone/>
            </a:pPr>
            <a:r>
              <a:rPr lang="en-US" sz="1200" dirty="0">
                <a:solidFill>
                  <a:srgbClr val="AEB9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Computes CV, SV, CPI, SPI and trend series from raw records.</a:t>
            </a:r>
            <a:endParaRPr lang="en-US" sz="1200" dirty="0"/>
          </a:p>
        </p:txBody>
      </p:sp>
      <p:sp>
        <p:nvSpPr>
          <p:cNvPr id="25" name="Shape 18"/>
          <p:cNvSpPr/>
          <p:nvPr/>
        </p:nvSpPr>
        <p:spPr>
          <a:xfrm>
            <a:off x="548640" y="3886200"/>
            <a:ext cx="2697480" cy="2103120"/>
          </a:xfrm>
          <a:prstGeom prst="roundRect">
            <a:avLst>
              <a:gd name="adj" fmla="val 3913"/>
            </a:avLst>
          </a:prstGeom>
          <a:solidFill>
            <a:srgbClr val="141B2E"/>
          </a:solidFill>
          <a:ln w="12700">
            <a:solidFill>
              <a:srgbClr val="26314A"/>
            </a:solidFill>
            <a:prstDash val="solid"/>
          </a:ln>
          <a:effectLst>
            <a:outerShdw blurRad="127000" dist="38100" dir="5400000" algn="bl" rotWithShape="0">
              <a:srgbClr val="000000">
                <a:alpha val="35000"/>
              </a:srgbClr>
            </a:outerShdw>
          </a:effectLst>
        </p:spPr>
      </p:sp>
      <p:pic>
        <p:nvPicPr>
          <p:cNvPr id="26" name="Image 5" descr="/home/claude/work/icons/warning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31520" y="4069080"/>
            <a:ext cx="457200" cy="457200"/>
          </a:xfrm>
          <a:prstGeom prst="rect">
            <a:avLst/>
          </a:prstGeom>
        </p:spPr>
      </p:pic>
      <p:sp>
        <p:nvSpPr>
          <p:cNvPr id="27" name="Text 19"/>
          <p:cNvSpPr txBox="1"/>
          <p:nvPr/>
        </p:nvSpPr>
        <p:spPr>
          <a:xfrm>
            <a:off x="731520" y="4636008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Delay-Risk Service</a:t>
            </a:r>
            <a:endParaRPr lang="en-US" sz="1600" dirty="0"/>
          </a:p>
        </p:txBody>
      </p:sp>
      <p:sp>
        <p:nvSpPr>
          <p:cNvPr id="28" name="Text 20"/>
          <p:cNvSpPr txBox="1"/>
          <p:nvPr/>
        </p:nvSpPr>
        <p:spPr>
          <a:xfrm>
            <a:off x="731520" y="5056632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kern="0" spc="50" dirty="0">
                <a:solidFill>
                  <a:srgbClr val="35E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Scikit-learn</a:t>
            </a:r>
            <a:endParaRPr lang="en-US" sz="1100" dirty="0"/>
          </a:p>
        </p:txBody>
      </p:sp>
      <p:sp>
        <p:nvSpPr>
          <p:cNvPr id="29" name="Text 21"/>
          <p:cNvSpPr txBox="1"/>
          <p:nvPr/>
        </p:nvSpPr>
        <p:spPr>
          <a:xfrm>
            <a:off x="731520" y="5330952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350"/>
              </a:lnSpc>
              <a:buNone/>
            </a:pPr>
            <a:r>
              <a:rPr lang="en-US" sz="1200" dirty="0">
                <a:solidFill>
                  <a:srgbClr val="AEB9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Probabilistic scoring of activity-level delay risk.</a:t>
            </a:r>
            <a:endParaRPr lang="en-US" sz="1200" dirty="0"/>
          </a:p>
        </p:txBody>
      </p:sp>
      <p:sp>
        <p:nvSpPr>
          <p:cNvPr id="30" name="Shape 22"/>
          <p:cNvSpPr/>
          <p:nvPr/>
        </p:nvSpPr>
        <p:spPr>
          <a:xfrm>
            <a:off x="3383280" y="3886200"/>
            <a:ext cx="2697480" cy="2103120"/>
          </a:xfrm>
          <a:prstGeom prst="roundRect">
            <a:avLst>
              <a:gd name="adj" fmla="val 3913"/>
            </a:avLst>
          </a:prstGeom>
          <a:solidFill>
            <a:srgbClr val="141B2E"/>
          </a:solidFill>
          <a:ln w="12700">
            <a:solidFill>
              <a:srgbClr val="26314A"/>
            </a:solidFill>
            <a:prstDash val="solid"/>
          </a:ln>
          <a:effectLst>
            <a:outerShdw blurRad="127000" dist="38100" dir="5400000" algn="bl" rotWithShape="0">
              <a:srgbClr val="000000">
                <a:alpha val="35000"/>
              </a:srgbClr>
            </a:outerShdw>
          </a:effectLst>
        </p:spPr>
      </p:sp>
      <p:pic>
        <p:nvPicPr>
          <p:cNvPr id="31" name="Image 6" descr="/home/claude/work/icons/kubernetes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566160" y="4069080"/>
            <a:ext cx="457200" cy="457200"/>
          </a:xfrm>
          <a:prstGeom prst="rect">
            <a:avLst/>
          </a:prstGeom>
        </p:spPr>
      </p:pic>
      <p:sp>
        <p:nvSpPr>
          <p:cNvPr id="32" name="Text 23"/>
          <p:cNvSpPr txBox="1"/>
          <p:nvPr/>
        </p:nvSpPr>
        <p:spPr>
          <a:xfrm>
            <a:off x="3566160" y="4636008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Orchestration Layer</a:t>
            </a:r>
            <a:endParaRPr lang="en-US" sz="1600" dirty="0"/>
          </a:p>
        </p:txBody>
      </p:sp>
      <p:sp>
        <p:nvSpPr>
          <p:cNvPr id="33" name="Text 24"/>
          <p:cNvSpPr txBox="1"/>
          <p:nvPr/>
        </p:nvSpPr>
        <p:spPr>
          <a:xfrm>
            <a:off x="3566160" y="5056632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kern="0" spc="50" dirty="0">
                <a:solidFill>
                  <a:srgbClr val="35E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Kubernetes</a:t>
            </a:r>
            <a:endParaRPr lang="en-US" sz="1100" dirty="0"/>
          </a:p>
        </p:txBody>
      </p:sp>
      <p:sp>
        <p:nvSpPr>
          <p:cNvPr id="34" name="Text 25"/>
          <p:cNvSpPr txBox="1"/>
          <p:nvPr/>
        </p:nvSpPr>
        <p:spPr>
          <a:xfrm>
            <a:off x="3566160" y="5330952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350"/>
              </a:lnSpc>
              <a:buNone/>
            </a:pPr>
            <a:r>
              <a:rPr lang="en-US" sz="1200" dirty="0">
                <a:solidFill>
                  <a:srgbClr val="AEB9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Manages replicas, health checks, secrets and scaling.</a:t>
            </a:r>
            <a:endParaRPr lang="en-US" sz="1200" dirty="0"/>
          </a:p>
        </p:txBody>
      </p:sp>
      <p:sp>
        <p:nvSpPr>
          <p:cNvPr id="35" name="Shape 26"/>
          <p:cNvSpPr/>
          <p:nvPr/>
        </p:nvSpPr>
        <p:spPr>
          <a:xfrm>
            <a:off x="6217920" y="3886200"/>
            <a:ext cx="2697480" cy="2103120"/>
          </a:xfrm>
          <a:prstGeom prst="roundRect">
            <a:avLst>
              <a:gd name="adj" fmla="val 3913"/>
            </a:avLst>
          </a:prstGeom>
          <a:solidFill>
            <a:srgbClr val="141B2E"/>
          </a:solidFill>
          <a:ln w="12700">
            <a:solidFill>
              <a:srgbClr val="26314A"/>
            </a:solidFill>
            <a:prstDash val="solid"/>
          </a:ln>
          <a:effectLst>
            <a:outerShdw blurRad="127000" dist="38100" dir="5400000" algn="bl" rotWithShape="0">
              <a:srgbClr val="000000">
                <a:alpha val="35000"/>
              </a:srgbClr>
            </a:outerShdw>
          </a:effectLst>
        </p:spPr>
      </p:sp>
      <p:pic>
        <p:nvPicPr>
          <p:cNvPr id="36" name="Image 7" descr="/home/claude/work/icons/chartpi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400800" y="4069080"/>
            <a:ext cx="457200" cy="457200"/>
          </a:xfrm>
          <a:prstGeom prst="rect">
            <a:avLst/>
          </a:prstGeom>
        </p:spPr>
      </p:pic>
      <p:sp>
        <p:nvSpPr>
          <p:cNvPr id="37" name="Text 27"/>
          <p:cNvSpPr txBox="1"/>
          <p:nvPr/>
        </p:nvSpPr>
        <p:spPr>
          <a:xfrm>
            <a:off x="6400800" y="4636008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Visualization Layer</a:t>
            </a:r>
            <a:endParaRPr lang="en-US" sz="1600" dirty="0"/>
          </a:p>
        </p:txBody>
      </p:sp>
      <p:sp>
        <p:nvSpPr>
          <p:cNvPr id="38" name="Text 28"/>
          <p:cNvSpPr txBox="1"/>
          <p:nvPr/>
        </p:nvSpPr>
        <p:spPr>
          <a:xfrm>
            <a:off x="6400800" y="5056632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kern="0" spc="50" dirty="0">
                <a:solidFill>
                  <a:srgbClr val="35E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BI</a:t>
            </a:r>
            <a:endParaRPr lang="en-US" sz="1100" dirty="0"/>
          </a:p>
        </p:txBody>
      </p:sp>
      <p:sp>
        <p:nvSpPr>
          <p:cNvPr id="39" name="Text 29"/>
          <p:cNvSpPr txBox="1"/>
          <p:nvPr/>
        </p:nvSpPr>
        <p:spPr>
          <a:xfrm>
            <a:off x="6400800" y="5330952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350"/>
              </a:lnSpc>
              <a:buNone/>
            </a:pPr>
            <a:r>
              <a:rPr lang="en-US" sz="1200" dirty="0">
                <a:solidFill>
                  <a:srgbClr val="AEB9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KPIs, trend lines and delay-risk alerts.</a:t>
            </a:r>
            <a:endParaRPr lang="en-US" sz="1200" dirty="0"/>
          </a:p>
        </p:txBody>
      </p:sp>
      <p:sp>
        <p:nvSpPr>
          <p:cNvPr id="40" name="Shape 30"/>
          <p:cNvSpPr/>
          <p:nvPr/>
        </p:nvSpPr>
        <p:spPr>
          <a:xfrm>
            <a:off x="9052560" y="3886200"/>
            <a:ext cx="2697480" cy="2103120"/>
          </a:xfrm>
          <a:prstGeom prst="roundRect">
            <a:avLst>
              <a:gd name="adj" fmla="val 3913"/>
            </a:avLst>
          </a:prstGeom>
          <a:solidFill>
            <a:srgbClr val="141B2E"/>
          </a:solidFill>
          <a:ln w="12700">
            <a:solidFill>
              <a:srgbClr val="26314A"/>
            </a:solidFill>
            <a:prstDash val="solid"/>
          </a:ln>
          <a:effectLst>
            <a:outerShdw blurRad="127000" dist="38100" dir="5400000" algn="bl" rotWithShape="0">
              <a:srgbClr val="000000">
                <a:alpha val="35000"/>
              </a:srgbClr>
            </a:outerShdw>
          </a:effectLst>
        </p:spPr>
      </p:sp>
      <p:pic>
        <p:nvPicPr>
          <p:cNvPr id="41" name="Image 8" descr="/home/claude/work/icons/cub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9235440" y="4069080"/>
            <a:ext cx="457200" cy="457200"/>
          </a:xfrm>
          <a:prstGeom prst="rect">
            <a:avLst/>
          </a:prstGeom>
        </p:spPr>
      </p:pic>
      <p:sp>
        <p:nvSpPr>
          <p:cNvPr id="42" name="Text 31"/>
          <p:cNvSpPr txBox="1"/>
          <p:nvPr/>
        </p:nvSpPr>
        <p:spPr>
          <a:xfrm>
            <a:off x="9235440" y="4636008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Deployable System</a:t>
            </a:r>
            <a:endParaRPr lang="en-US" sz="1600" dirty="0"/>
          </a:p>
        </p:txBody>
      </p:sp>
      <p:sp>
        <p:nvSpPr>
          <p:cNvPr id="43" name="Text 32"/>
          <p:cNvSpPr txBox="1"/>
          <p:nvPr/>
        </p:nvSpPr>
        <p:spPr>
          <a:xfrm>
            <a:off x="9235440" y="5056632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kern="0" spc="50" dirty="0">
                <a:solidFill>
                  <a:srgbClr val="35E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+ Kubernetes</a:t>
            </a:r>
            <a:endParaRPr lang="en-US" sz="1100" dirty="0"/>
          </a:p>
        </p:txBody>
      </p:sp>
      <p:sp>
        <p:nvSpPr>
          <p:cNvPr id="44" name="Text 33"/>
          <p:cNvSpPr txBox="1"/>
          <p:nvPr/>
        </p:nvSpPr>
        <p:spPr>
          <a:xfrm>
            <a:off x="9235440" y="5330952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350"/>
              </a:lnSpc>
              <a:buNone/>
            </a:pPr>
            <a:r>
              <a:rPr lang="en-US" sz="1200" dirty="0">
                <a:solidFill>
                  <a:srgbClr val="AEB9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seven pieces ship and scale together as a single platform.</a:t>
            </a:r>
            <a:endParaRPr lang="en-US" sz="1200" dirty="0"/>
          </a:p>
        </p:txBody>
      </p:sp>
      <p:sp>
        <p:nvSpPr>
          <p:cNvPr id="45" name="Text 34"/>
          <p:cNvSpPr txBox="1"/>
          <p:nvPr/>
        </p:nvSpPr>
        <p:spPr>
          <a:xfrm>
            <a:off x="548640" y="653796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kern="0" spc="100" dirty="0">
                <a:solidFill>
                  <a:srgbClr val="7C8A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CLOUD-NATIVE CONSTRUCTION INTELLIGENCE PLATFORM</a:t>
            </a:r>
            <a:endParaRPr lang="en-US" sz="1000" dirty="0"/>
          </a:p>
        </p:txBody>
      </p:sp>
      <p:sp>
        <p:nvSpPr>
          <p:cNvPr id="46" name="Text 35"/>
          <p:cNvSpPr txBox="1"/>
          <p:nvPr/>
        </p:nvSpPr>
        <p:spPr>
          <a:xfrm>
            <a:off x="11430000" y="6537960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7C8A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work/backgrounds/bg_conten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548640" y="3200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2E8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PROPOSED ARCHITECTURE</a:t>
            </a:r>
            <a:endParaRPr lang="en-US" sz="13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621792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Deployment Architecture — Inside the Cluster</a:t>
            </a:r>
            <a:endParaRPr lang="en-US" sz="3000" dirty="0"/>
          </a:p>
        </p:txBody>
      </p:sp>
      <p:sp>
        <p:nvSpPr>
          <p:cNvPr id="5" name="Shape 2"/>
          <p:cNvSpPr/>
          <p:nvPr/>
        </p:nvSpPr>
        <p:spPr>
          <a:xfrm>
            <a:off x="502920" y="2880360"/>
            <a:ext cx="1691640" cy="2011680"/>
          </a:xfrm>
          <a:prstGeom prst="roundRect">
            <a:avLst>
              <a:gd name="adj" fmla="val 4865"/>
            </a:avLst>
          </a:prstGeom>
          <a:solidFill>
            <a:srgbClr val="1B2438"/>
          </a:solidFill>
          <a:ln w="12700">
            <a:solidFill>
              <a:srgbClr val="26314A"/>
            </a:solidFill>
            <a:prstDash val="solid"/>
          </a:ln>
          <a:effectLst>
            <a:outerShdw blurRad="127000" dist="38100" dir="5400000" algn="bl" rotWithShape="0">
              <a:srgbClr val="000000">
                <a:alpha val="35000"/>
              </a:srgbClr>
            </a:outerShdw>
          </a:effectLst>
        </p:spPr>
      </p:sp>
      <p:pic>
        <p:nvPicPr>
          <p:cNvPr id="6" name="Image 1" descr="/home/claude/work/icons/sq_fil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56132" y="3108960"/>
            <a:ext cx="585216" cy="585216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594360" y="3840480"/>
            <a:ext cx="1508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Sources</a:t>
            </a:r>
            <a:endParaRPr lang="en-US" sz="1350" dirty="0"/>
          </a:p>
        </p:txBody>
      </p:sp>
      <p:sp>
        <p:nvSpPr>
          <p:cNvPr id="8" name="Text 4"/>
          <p:cNvSpPr txBox="1"/>
          <p:nvPr/>
        </p:nvSpPr>
        <p:spPr>
          <a:xfrm>
            <a:off x="594360" y="4206240"/>
            <a:ext cx="1508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300"/>
              </a:lnSpc>
              <a:buNone/>
            </a:pPr>
            <a:r>
              <a:rPr lang="en-US" sz="1100" dirty="0">
                <a:solidFill>
                  <a:srgbClr val="AEB9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CSV, Excel, REST &amp; BIM exports</a:t>
            </a:r>
            <a:endParaRPr lang="en-US" sz="1100" dirty="0"/>
          </a:p>
        </p:txBody>
      </p:sp>
      <p:pic>
        <p:nvPicPr>
          <p:cNvPr id="9" name="Image 2" descr="/home/claude/work/icons/arrow_plain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249424" y="3767328"/>
            <a:ext cx="237744" cy="237744"/>
          </a:xfrm>
          <a:prstGeom prst="rect">
            <a:avLst/>
          </a:prstGeom>
        </p:spPr>
      </p:pic>
      <p:sp>
        <p:nvSpPr>
          <p:cNvPr id="10" name="Shape 5"/>
          <p:cNvSpPr/>
          <p:nvPr/>
        </p:nvSpPr>
        <p:spPr>
          <a:xfrm>
            <a:off x="3246120" y="1691640"/>
            <a:ext cx="6858000" cy="4434840"/>
          </a:xfrm>
          <a:prstGeom prst="roundRect">
            <a:avLst>
              <a:gd name="adj" fmla="val 2474"/>
            </a:avLst>
          </a:prstGeom>
          <a:solidFill>
            <a:srgbClr val="0D1424"/>
          </a:solidFill>
          <a:ln w="22225">
            <a:solidFill>
              <a:srgbClr val="2E8CFF"/>
            </a:solidFill>
            <a:prstDash val="dash"/>
          </a:ln>
        </p:spPr>
      </p:sp>
      <p:pic>
        <p:nvPicPr>
          <p:cNvPr id="11" name="Image 3" descr="/home/claude/work/icons/kubernetes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447288" y="1874520"/>
            <a:ext cx="384048" cy="384048"/>
          </a:xfrm>
          <a:prstGeom prst="rect">
            <a:avLst/>
          </a:prstGeom>
        </p:spPr>
      </p:pic>
      <p:sp>
        <p:nvSpPr>
          <p:cNvPr id="12" name="Text 6"/>
          <p:cNvSpPr txBox="1"/>
          <p:nvPr/>
        </p:nvSpPr>
        <p:spPr>
          <a:xfrm>
            <a:off x="3931920" y="1892808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150" dirty="0">
                <a:solidFill>
                  <a:srgbClr val="2E8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KUBERNETES CLUSTER</a:t>
            </a:r>
            <a:endParaRPr lang="en-US" sz="1300" dirty="0"/>
          </a:p>
        </p:txBody>
      </p:sp>
      <p:sp>
        <p:nvSpPr>
          <p:cNvPr id="13" name="Shape 7"/>
          <p:cNvSpPr/>
          <p:nvPr/>
        </p:nvSpPr>
        <p:spPr>
          <a:xfrm>
            <a:off x="7909560" y="1892808"/>
            <a:ext cx="1920240" cy="384048"/>
          </a:xfrm>
          <a:prstGeom prst="roundRect">
            <a:avLst>
              <a:gd name="adj" fmla="val 50000"/>
            </a:avLst>
          </a:prstGeom>
          <a:solidFill>
            <a:srgbClr val="141B2E"/>
          </a:solidFill>
          <a:ln w="12700">
            <a:solidFill>
              <a:srgbClr val="35E8E0"/>
            </a:solidFill>
            <a:prstDash val="solid"/>
          </a:ln>
        </p:spPr>
      </p:sp>
      <p:sp>
        <p:nvSpPr>
          <p:cNvPr id="14" name="Text 8"/>
          <p:cNvSpPr txBox="1"/>
          <p:nvPr/>
        </p:nvSpPr>
        <p:spPr>
          <a:xfrm>
            <a:off x="7909560" y="1892808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35E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Ingress / Load Balancer</a:t>
            </a:r>
            <a:endParaRPr lang="en-US" sz="1050" dirty="0"/>
          </a:p>
        </p:txBody>
      </p:sp>
      <p:sp>
        <p:nvSpPr>
          <p:cNvPr id="15" name="Shape 9"/>
          <p:cNvSpPr/>
          <p:nvPr/>
        </p:nvSpPr>
        <p:spPr>
          <a:xfrm>
            <a:off x="3712464" y="2615184"/>
            <a:ext cx="2788920" cy="1143000"/>
          </a:xfrm>
          <a:prstGeom prst="roundRect">
            <a:avLst>
              <a:gd name="adj" fmla="val 6400"/>
            </a:avLst>
          </a:prstGeom>
          <a:solidFill>
            <a:srgbClr val="0F1728"/>
          </a:solidFill>
          <a:ln w="12700">
            <a:solidFill>
              <a:srgbClr val="26314A"/>
            </a:solidFill>
            <a:prstDash val="solid"/>
          </a:ln>
        </p:spPr>
      </p:sp>
      <p:sp>
        <p:nvSpPr>
          <p:cNvPr id="16" name="Shape 10"/>
          <p:cNvSpPr/>
          <p:nvPr/>
        </p:nvSpPr>
        <p:spPr>
          <a:xfrm>
            <a:off x="3639312" y="2542032"/>
            <a:ext cx="2788920" cy="1143000"/>
          </a:xfrm>
          <a:prstGeom prst="roundRect">
            <a:avLst>
              <a:gd name="adj" fmla="val 6400"/>
            </a:avLst>
          </a:prstGeom>
          <a:solidFill>
            <a:srgbClr val="0F1728"/>
          </a:solidFill>
          <a:ln w="12700">
            <a:solidFill>
              <a:srgbClr val="26314A"/>
            </a:solidFill>
            <a:prstDash val="solid"/>
          </a:ln>
        </p:spPr>
      </p:sp>
      <p:sp>
        <p:nvSpPr>
          <p:cNvPr id="17" name="Shape 11"/>
          <p:cNvSpPr/>
          <p:nvPr/>
        </p:nvSpPr>
        <p:spPr>
          <a:xfrm>
            <a:off x="3566160" y="2468880"/>
            <a:ext cx="2788920" cy="1143000"/>
          </a:xfrm>
          <a:prstGeom prst="roundRect">
            <a:avLst>
              <a:gd name="adj" fmla="val 7200"/>
            </a:avLst>
          </a:prstGeom>
          <a:solidFill>
            <a:srgbClr val="141B2E"/>
          </a:solidFill>
          <a:ln w="12700">
            <a:solidFill>
              <a:srgbClr val="2E8CFF"/>
            </a:solidFill>
            <a:prstDash val="solid"/>
          </a:ln>
        </p:spPr>
      </p:sp>
      <p:pic>
        <p:nvPicPr>
          <p:cNvPr id="18" name="Image 4" descr="/home/claude/work/icons/server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730752" y="2615184"/>
            <a:ext cx="384048" cy="384048"/>
          </a:xfrm>
          <a:prstGeom prst="rect">
            <a:avLst/>
          </a:prstGeom>
        </p:spPr>
      </p:pic>
      <p:sp>
        <p:nvSpPr>
          <p:cNvPr id="19" name="Text 12"/>
          <p:cNvSpPr txBox="1"/>
          <p:nvPr/>
        </p:nvSpPr>
        <p:spPr>
          <a:xfrm>
            <a:off x="4206240" y="2596896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Ingestion Pods</a:t>
            </a:r>
            <a:endParaRPr lang="en-US" sz="1250" dirty="0"/>
          </a:p>
        </p:txBody>
      </p:sp>
      <p:sp>
        <p:nvSpPr>
          <p:cNvPr id="20" name="Text 13"/>
          <p:cNvSpPr txBox="1"/>
          <p:nvPr/>
        </p:nvSpPr>
        <p:spPr>
          <a:xfrm>
            <a:off x="3730752" y="2999232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dirty="0">
                <a:solidFill>
                  <a:srgbClr val="2E8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+ FastAPI</a:t>
            </a:r>
            <a:endParaRPr lang="en-US" sz="1000" dirty="0"/>
          </a:p>
        </p:txBody>
      </p:sp>
      <p:sp>
        <p:nvSpPr>
          <p:cNvPr id="21" name="Text 14"/>
          <p:cNvSpPr txBox="1"/>
          <p:nvPr/>
        </p:nvSpPr>
        <p:spPr>
          <a:xfrm>
            <a:off x="3730752" y="324612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7C8A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× 3 replicas, auto-scaled</a:t>
            </a:r>
            <a:endParaRPr lang="en-US" sz="1000" dirty="0"/>
          </a:p>
        </p:txBody>
      </p:sp>
      <p:sp>
        <p:nvSpPr>
          <p:cNvPr id="22" name="Shape 15"/>
          <p:cNvSpPr/>
          <p:nvPr/>
        </p:nvSpPr>
        <p:spPr>
          <a:xfrm>
            <a:off x="6867144" y="2615184"/>
            <a:ext cx="2788920" cy="1143000"/>
          </a:xfrm>
          <a:prstGeom prst="roundRect">
            <a:avLst>
              <a:gd name="adj" fmla="val 6400"/>
            </a:avLst>
          </a:prstGeom>
          <a:solidFill>
            <a:srgbClr val="0F1728"/>
          </a:solidFill>
          <a:ln w="12700">
            <a:solidFill>
              <a:srgbClr val="26314A"/>
            </a:solidFill>
            <a:prstDash val="solid"/>
          </a:ln>
        </p:spPr>
      </p:sp>
      <p:sp>
        <p:nvSpPr>
          <p:cNvPr id="23" name="Shape 16"/>
          <p:cNvSpPr/>
          <p:nvPr/>
        </p:nvSpPr>
        <p:spPr>
          <a:xfrm>
            <a:off x="6793992" y="2542032"/>
            <a:ext cx="2788920" cy="1143000"/>
          </a:xfrm>
          <a:prstGeom prst="roundRect">
            <a:avLst>
              <a:gd name="adj" fmla="val 6400"/>
            </a:avLst>
          </a:prstGeom>
          <a:solidFill>
            <a:srgbClr val="0F1728"/>
          </a:solidFill>
          <a:ln w="12700">
            <a:solidFill>
              <a:srgbClr val="26314A"/>
            </a:solidFill>
            <a:prstDash val="solid"/>
          </a:ln>
        </p:spPr>
      </p:sp>
      <p:sp>
        <p:nvSpPr>
          <p:cNvPr id="24" name="Shape 17"/>
          <p:cNvSpPr/>
          <p:nvPr/>
        </p:nvSpPr>
        <p:spPr>
          <a:xfrm>
            <a:off x="6720840" y="2468880"/>
            <a:ext cx="2788920" cy="1143000"/>
          </a:xfrm>
          <a:prstGeom prst="roundRect">
            <a:avLst>
              <a:gd name="adj" fmla="val 7200"/>
            </a:avLst>
          </a:prstGeom>
          <a:solidFill>
            <a:srgbClr val="141B2E"/>
          </a:solidFill>
          <a:ln w="12700">
            <a:solidFill>
              <a:srgbClr val="35E8E0"/>
            </a:solidFill>
            <a:prstDash val="solid"/>
          </a:ln>
        </p:spPr>
      </p:sp>
      <p:pic>
        <p:nvPicPr>
          <p:cNvPr id="25" name="Image 5" descr="/home/claude/work/icons/chartlin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885432" y="2615184"/>
            <a:ext cx="384048" cy="384048"/>
          </a:xfrm>
          <a:prstGeom prst="rect">
            <a:avLst/>
          </a:prstGeom>
        </p:spPr>
      </p:pic>
      <p:sp>
        <p:nvSpPr>
          <p:cNvPr id="26" name="Text 18"/>
          <p:cNvSpPr txBox="1"/>
          <p:nvPr/>
        </p:nvSpPr>
        <p:spPr>
          <a:xfrm>
            <a:off x="7360920" y="2596896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Analytics + Risk Pods</a:t>
            </a:r>
            <a:endParaRPr lang="en-US" sz="1250" dirty="0"/>
          </a:p>
        </p:txBody>
      </p:sp>
      <p:sp>
        <p:nvSpPr>
          <p:cNvPr id="27" name="Text 19"/>
          <p:cNvSpPr txBox="1"/>
          <p:nvPr/>
        </p:nvSpPr>
        <p:spPr>
          <a:xfrm>
            <a:off x="6885432" y="2999232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dirty="0">
                <a:solidFill>
                  <a:srgbClr val="35E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Pandas / Scikit-learn</a:t>
            </a:r>
            <a:endParaRPr lang="en-US" sz="1000" dirty="0"/>
          </a:p>
        </p:txBody>
      </p:sp>
      <p:sp>
        <p:nvSpPr>
          <p:cNvPr id="28" name="Text 20"/>
          <p:cNvSpPr txBox="1"/>
          <p:nvPr/>
        </p:nvSpPr>
        <p:spPr>
          <a:xfrm>
            <a:off x="6885432" y="324612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7C8A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× 3 replicas, auto-scaled</a:t>
            </a:r>
            <a:endParaRPr lang="en-US" sz="1000" dirty="0"/>
          </a:p>
        </p:txBody>
      </p:sp>
      <p:pic>
        <p:nvPicPr>
          <p:cNvPr id="29" name="Image 6" descr="/home/claude/work/icons/arrow_plain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05332" y="2889018"/>
            <a:ext cx="392545" cy="457200"/>
          </a:xfrm>
          <a:prstGeom prst="rect">
            <a:avLst/>
          </a:prstGeom>
        </p:spPr>
      </p:pic>
      <p:sp>
        <p:nvSpPr>
          <p:cNvPr id="30" name="Shape 21"/>
          <p:cNvSpPr/>
          <p:nvPr/>
        </p:nvSpPr>
        <p:spPr>
          <a:xfrm>
            <a:off x="9509760" y="3611880"/>
            <a:ext cx="914" cy="0"/>
          </a:xfrm>
          <a:prstGeom prst="line">
            <a:avLst/>
          </a:prstGeom>
          <a:noFill/>
          <a:ln w="19050">
            <a:solidFill>
              <a:srgbClr val="35E8E0"/>
            </a:solidFill>
            <a:prstDash val="dash"/>
            <a:tailEnd type="triangle"/>
          </a:ln>
        </p:spPr>
      </p:sp>
      <p:sp>
        <p:nvSpPr>
          <p:cNvPr id="31" name="Shape 22"/>
          <p:cNvSpPr/>
          <p:nvPr/>
        </p:nvSpPr>
        <p:spPr>
          <a:xfrm>
            <a:off x="5212080" y="4114800"/>
            <a:ext cx="2926080" cy="960120"/>
          </a:xfrm>
          <a:prstGeom prst="roundRect">
            <a:avLst>
              <a:gd name="adj" fmla="val 8571"/>
            </a:avLst>
          </a:prstGeom>
          <a:solidFill>
            <a:srgbClr val="1B2438"/>
          </a:solidFill>
          <a:ln w="12700">
            <a:solidFill>
              <a:srgbClr val="35E8E0"/>
            </a:solidFill>
            <a:prstDash val="solid"/>
          </a:ln>
          <a:effectLst>
            <a:outerShdw blurRad="127000" dist="38100" dir="5400000" algn="bl" rotWithShape="0">
              <a:srgbClr val="000000">
                <a:alpha val="35000"/>
              </a:srgbClr>
            </a:outerShdw>
          </a:effectLst>
        </p:spPr>
      </p:sp>
      <p:pic>
        <p:nvPicPr>
          <p:cNvPr id="32" name="Image 7" descr="/home/claude/work/icons/database_cyan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376672" y="4315968"/>
            <a:ext cx="548640" cy="548640"/>
          </a:xfrm>
          <a:prstGeom prst="rect">
            <a:avLst/>
          </a:prstGeom>
        </p:spPr>
      </p:pic>
      <p:sp>
        <p:nvSpPr>
          <p:cNvPr id="33" name="Text 23"/>
          <p:cNvSpPr txBox="1"/>
          <p:nvPr/>
        </p:nvSpPr>
        <p:spPr>
          <a:xfrm>
            <a:off x="6080760" y="425196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 StatefulSet</a:t>
            </a:r>
            <a:endParaRPr lang="en-US" sz="1300" dirty="0"/>
          </a:p>
        </p:txBody>
      </p:sp>
      <p:sp>
        <p:nvSpPr>
          <p:cNvPr id="34" name="Text 24"/>
          <p:cNvSpPr txBox="1"/>
          <p:nvPr/>
        </p:nvSpPr>
        <p:spPr>
          <a:xfrm>
            <a:off x="6080760" y="461772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AEB9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Persistent Volume · project history</a:t>
            </a:r>
            <a:endParaRPr lang="en-US" sz="1050" dirty="0"/>
          </a:p>
        </p:txBody>
      </p:sp>
      <p:sp>
        <p:nvSpPr>
          <p:cNvPr id="35" name="Shape 25"/>
          <p:cNvSpPr/>
          <p:nvPr/>
        </p:nvSpPr>
        <p:spPr>
          <a:xfrm>
            <a:off x="4960620" y="3611880"/>
            <a:ext cx="1714500" cy="502920"/>
          </a:xfrm>
          <a:prstGeom prst="line">
            <a:avLst/>
          </a:prstGeom>
          <a:noFill/>
          <a:ln w="15875">
            <a:solidFill>
              <a:srgbClr val="26314A"/>
            </a:solidFill>
            <a:prstDash val="solid"/>
          </a:ln>
        </p:spPr>
      </p:sp>
      <p:sp>
        <p:nvSpPr>
          <p:cNvPr id="36" name="Shape 26"/>
          <p:cNvSpPr/>
          <p:nvPr/>
        </p:nvSpPr>
        <p:spPr>
          <a:xfrm>
            <a:off x="6675120" y="3611880"/>
            <a:ext cx="1440180" cy="502920"/>
          </a:xfrm>
          <a:prstGeom prst="line">
            <a:avLst/>
          </a:prstGeom>
          <a:noFill/>
          <a:ln w="15875">
            <a:solidFill>
              <a:srgbClr val="26314A"/>
            </a:solidFill>
            <a:prstDash val="solid"/>
          </a:ln>
        </p:spPr>
      </p:sp>
      <p:pic>
        <p:nvPicPr>
          <p:cNvPr id="37" name="Image 8" descr="/home/claude/work/icons/sq_bolt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566160" y="5440680"/>
            <a:ext cx="365760" cy="365760"/>
          </a:xfrm>
          <a:prstGeom prst="rect">
            <a:avLst/>
          </a:prstGeom>
        </p:spPr>
      </p:pic>
      <p:sp>
        <p:nvSpPr>
          <p:cNvPr id="38" name="Text 27"/>
          <p:cNvSpPr txBox="1"/>
          <p:nvPr/>
        </p:nvSpPr>
        <p:spPr>
          <a:xfrm>
            <a:off x="4023360" y="5440680"/>
            <a:ext cx="152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AEB9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Auto-scaling</a:t>
            </a:r>
            <a:endParaRPr lang="en-US" sz="1150" dirty="0"/>
          </a:p>
        </p:txBody>
      </p:sp>
      <p:pic>
        <p:nvPicPr>
          <p:cNvPr id="39" name="Image 9" descr="/home/claude/work/icons/sq_shiel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638800" y="5440680"/>
            <a:ext cx="365760" cy="365760"/>
          </a:xfrm>
          <a:prstGeom prst="rect">
            <a:avLst/>
          </a:prstGeom>
        </p:spPr>
      </p:pic>
      <p:sp>
        <p:nvSpPr>
          <p:cNvPr id="40" name="Text 28"/>
          <p:cNvSpPr txBox="1"/>
          <p:nvPr/>
        </p:nvSpPr>
        <p:spPr>
          <a:xfrm>
            <a:off x="6096000" y="5440680"/>
            <a:ext cx="152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AEB9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Self-healing</a:t>
            </a:r>
            <a:endParaRPr lang="en-US" sz="1150" dirty="0"/>
          </a:p>
        </p:txBody>
      </p:sp>
      <p:pic>
        <p:nvPicPr>
          <p:cNvPr id="41" name="Image 10" descr="/home/claude/work/icons/sq_clou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711440" y="5440680"/>
            <a:ext cx="365760" cy="365760"/>
          </a:xfrm>
          <a:prstGeom prst="rect">
            <a:avLst/>
          </a:prstGeom>
        </p:spPr>
      </p:pic>
      <p:sp>
        <p:nvSpPr>
          <p:cNvPr id="42" name="Text 29"/>
          <p:cNvSpPr txBox="1"/>
          <p:nvPr/>
        </p:nvSpPr>
        <p:spPr>
          <a:xfrm>
            <a:off x="8168640" y="5440680"/>
            <a:ext cx="152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AEB9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Rolling updates</a:t>
            </a:r>
            <a:endParaRPr lang="en-US" sz="1150" dirty="0"/>
          </a:p>
        </p:txBody>
      </p:sp>
      <p:sp>
        <p:nvSpPr>
          <p:cNvPr id="43" name="Shape 30"/>
          <p:cNvSpPr/>
          <p:nvPr/>
        </p:nvSpPr>
        <p:spPr>
          <a:xfrm>
            <a:off x="10332720" y="1828800"/>
            <a:ext cx="1554480" cy="1280160"/>
          </a:xfrm>
          <a:prstGeom prst="roundRect">
            <a:avLst>
              <a:gd name="adj" fmla="val 6429"/>
            </a:avLst>
          </a:prstGeom>
          <a:solidFill>
            <a:srgbClr val="1B2438"/>
          </a:solidFill>
          <a:ln w="12700">
            <a:solidFill>
              <a:srgbClr val="FFD400"/>
            </a:solidFill>
            <a:prstDash val="solid"/>
          </a:ln>
          <a:effectLst>
            <a:outerShdw blurRad="127000" dist="38100" dir="5400000" algn="bl" rotWithShape="0">
              <a:srgbClr val="000000">
                <a:alpha val="35000"/>
              </a:srgbClr>
            </a:outerShdw>
          </a:effectLst>
        </p:spPr>
      </p:sp>
      <p:pic>
        <p:nvPicPr>
          <p:cNvPr id="44" name="Image 11" descr="/home/claude/work/icons/sq_chartpi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0835640" y="1965960"/>
            <a:ext cx="548640" cy="548640"/>
          </a:xfrm>
          <a:prstGeom prst="rect">
            <a:avLst/>
          </a:prstGeom>
        </p:spPr>
      </p:pic>
      <p:sp>
        <p:nvSpPr>
          <p:cNvPr id="45" name="Text 31"/>
          <p:cNvSpPr txBox="1"/>
          <p:nvPr/>
        </p:nvSpPr>
        <p:spPr>
          <a:xfrm>
            <a:off x="10332720" y="260604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BI</a:t>
            </a:r>
            <a:endParaRPr lang="en-US" sz="1250" dirty="0"/>
          </a:p>
        </p:txBody>
      </p:sp>
      <p:sp>
        <p:nvSpPr>
          <p:cNvPr id="46" name="Text 32"/>
          <p:cNvSpPr txBox="1"/>
          <p:nvPr/>
        </p:nvSpPr>
        <p:spPr>
          <a:xfrm>
            <a:off x="10332720" y="2880360"/>
            <a:ext cx="1554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AEB9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Dashboards</a:t>
            </a:r>
            <a:endParaRPr lang="en-US" sz="1000" dirty="0"/>
          </a:p>
        </p:txBody>
      </p:sp>
      <p:sp>
        <p:nvSpPr>
          <p:cNvPr id="47" name="Shape 33"/>
          <p:cNvSpPr/>
          <p:nvPr/>
        </p:nvSpPr>
        <p:spPr>
          <a:xfrm>
            <a:off x="9829800" y="2084832"/>
            <a:ext cx="502920" cy="914"/>
          </a:xfrm>
          <a:prstGeom prst="line">
            <a:avLst/>
          </a:prstGeom>
          <a:noFill/>
          <a:ln w="19050">
            <a:solidFill>
              <a:srgbClr val="FFD400"/>
            </a:solidFill>
            <a:prstDash val="solid"/>
            <a:tailEnd type="triangle"/>
          </a:ln>
        </p:spPr>
      </p:sp>
      <p:sp>
        <p:nvSpPr>
          <p:cNvPr id="48" name="Text 34"/>
          <p:cNvSpPr txBox="1"/>
          <p:nvPr/>
        </p:nvSpPr>
        <p:spPr>
          <a:xfrm>
            <a:off x="548640" y="653796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100" dirty="0">
                <a:solidFill>
                  <a:srgbClr val="7C8A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CLOUD-NATIVE CONSTRUCTION INTELLIGENCE PLATFORM</a:t>
            </a:r>
            <a:endParaRPr lang="en-US" sz="900" dirty="0"/>
          </a:p>
        </p:txBody>
      </p:sp>
      <p:sp>
        <p:nvSpPr>
          <p:cNvPr id="49" name="Text 35"/>
          <p:cNvSpPr txBox="1"/>
          <p:nvPr/>
        </p:nvSpPr>
        <p:spPr>
          <a:xfrm>
            <a:off x="11430000" y="6537960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C8A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work/backgrounds/bg_conten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548640" y="3200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2E8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MODEL</a:t>
            </a:r>
            <a:endParaRPr lang="en-US" sz="13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621792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Core Entities &amp; Data Lineage</a:t>
            </a:r>
            <a:endParaRPr lang="en-US" sz="30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1554480"/>
            <a:ext cx="3520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50" b="1" kern="0" spc="150" dirty="0">
                <a:solidFill>
                  <a:srgbClr val="2E8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MASTER DATA</a:t>
            </a:r>
            <a:endParaRPr lang="en-US" sz="1250" dirty="0"/>
          </a:p>
        </p:txBody>
      </p:sp>
      <p:sp>
        <p:nvSpPr>
          <p:cNvPr id="6" name="Shape 3"/>
          <p:cNvSpPr/>
          <p:nvPr/>
        </p:nvSpPr>
        <p:spPr>
          <a:xfrm>
            <a:off x="548640" y="2011680"/>
            <a:ext cx="3520440" cy="1371600"/>
          </a:xfrm>
          <a:prstGeom prst="roundRect">
            <a:avLst>
              <a:gd name="adj" fmla="val 6000"/>
            </a:avLst>
          </a:prstGeom>
          <a:solidFill>
            <a:srgbClr val="141B2E"/>
          </a:solidFill>
          <a:ln w="12700">
            <a:solidFill>
              <a:srgbClr val="2E8CFF"/>
            </a:solidFill>
            <a:prstDash val="solid"/>
          </a:ln>
          <a:effectLst>
            <a:outerShdw blurRad="127000" dist="38100" dir="5400000" algn="bl" rotWithShape="0">
              <a:srgbClr val="000000">
                <a:alpha val="35000"/>
              </a:srgbClr>
            </a:outerShdw>
          </a:effectLst>
        </p:spPr>
      </p:sp>
      <p:pic>
        <p:nvPicPr>
          <p:cNvPr id="7" name="Image 1" descr="/home/claude/work/icons/databas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520" y="2194560"/>
            <a:ext cx="457200" cy="457200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1325880" y="2231136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</a:t>
            </a:r>
            <a:endParaRPr lang="en-US" sz="1500" dirty="0"/>
          </a:p>
        </p:txBody>
      </p:sp>
      <p:sp>
        <p:nvSpPr>
          <p:cNvPr id="9" name="Text 5"/>
          <p:cNvSpPr txBox="1"/>
          <p:nvPr/>
        </p:nvSpPr>
        <p:spPr>
          <a:xfrm>
            <a:off x="731520" y="2788920"/>
            <a:ext cx="3154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200" dirty="0">
                <a:solidFill>
                  <a:srgbClr val="AEB9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project_id, name, baseline dates, budget</a:t>
            </a:r>
            <a:endParaRPr lang="en-US" sz="1200" dirty="0"/>
          </a:p>
        </p:txBody>
      </p:sp>
      <p:sp>
        <p:nvSpPr>
          <p:cNvPr id="10" name="Shape 6"/>
          <p:cNvSpPr/>
          <p:nvPr/>
        </p:nvSpPr>
        <p:spPr>
          <a:xfrm>
            <a:off x="548640" y="3584448"/>
            <a:ext cx="3520440" cy="1371600"/>
          </a:xfrm>
          <a:prstGeom prst="roundRect">
            <a:avLst>
              <a:gd name="adj" fmla="val 6000"/>
            </a:avLst>
          </a:prstGeom>
          <a:solidFill>
            <a:srgbClr val="141B2E"/>
          </a:solidFill>
          <a:ln w="12700">
            <a:solidFill>
              <a:srgbClr val="2E8CFF"/>
            </a:solidFill>
            <a:prstDash val="solid"/>
          </a:ln>
          <a:effectLst>
            <a:outerShdw blurRad="127000" dist="38100" dir="5400000" algn="bl" rotWithShape="0">
              <a:srgbClr val="000000">
                <a:alpha val="35000"/>
              </a:srgbClr>
            </a:outerShdw>
          </a:effectLst>
        </p:spPr>
      </p:sp>
      <p:pic>
        <p:nvPicPr>
          <p:cNvPr id="11" name="Image 2" descr="/home/claude/work/icons/databas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520" y="3767328"/>
            <a:ext cx="457200" cy="457200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1325880" y="3803904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Activity</a:t>
            </a:r>
            <a:endParaRPr lang="en-US" sz="1500" dirty="0"/>
          </a:p>
        </p:txBody>
      </p:sp>
      <p:sp>
        <p:nvSpPr>
          <p:cNvPr id="13" name="Text 8"/>
          <p:cNvSpPr txBox="1"/>
          <p:nvPr/>
        </p:nvSpPr>
        <p:spPr>
          <a:xfrm>
            <a:off x="731520" y="4361688"/>
            <a:ext cx="3154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200" dirty="0">
                <a:solidFill>
                  <a:srgbClr val="AEB9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activity_id, planned dates, planned cost</a:t>
            </a:r>
            <a:endParaRPr lang="en-US" sz="1200" dirty="0"/>
          </a:p>
        </p:txBody>
      </p:sp>
      <p:pic>
        <p:nvPicPr>
          <p:cNvPr id="14" name="Image 3" descr="/home/claude/work/icons/arrow_plain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078224" y="2578608"/>
            <a:ext cx="237744" cy="237744"/>
          </a:xfrm>
          <a:prstGeom prst="rect">
            <a:avLst/>
          </a:prstGeom>
        </p:spPr>
      </p:pic>
      <p:pic>
        <p:nvPicPr>
          <p:cNvPr id="15" name="Image 4" descr="/home/claude/work/icons/arrow_plain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078224" y="4151376"/>
            <a:ext cx="237744" cy="237744"/>
          </a:xfrm>
          <a:prstGeom prst="rect">
            <a:avLst/>
          </a:prstGeom>
        </p:spPr>
      </p:pic>
      <p:sp>
        <p:nvSpPr>
          <p:cNvPr id="16" name="Text 9"/>
          <p:cNvSpPr txBox="1"/>
          <p:nvPr/>
        </p:nvSpPr>
        <p:spPr>
          <a:xfrm>
            <a:off x="4325112" y="1554480"/>
            <a:ext cx="3520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50" b="1" kern="0" spc="150" dirty="0">
                <a:solidFill>
                  <a:srgbClr val="35E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TIME-SERIES FACTS</a:t>
            </a:r>
            <a:endParaRPr lang="en-US" sz="1250" dirty="0"/>
          </a:p>
        </p:txBody>
      </p:sp>
      <p:sp>
        <p:nvSpPr>
          <p:cNvPr id="17" name="Shape 10"/>
          <p:cNvSpPr/>
          <p:nvPr/>
        </p:nvSpPr>
        <p:spPr>
          <a:xfrm>
            <a:off x="4325112" y="2011680"/>
            <a:ext cx="3520440" cy="1371600"/>
          </a:xfrm>
          <a:prstGeom prst="roundRect">
            <a:avLst>
              <a:gd name="adj" fmla="val 6000"/>
            </a:avLst>
          </a:prstGeom>
          <a:solidFill>
            <a:srgbClr val="141B2E"/>
          </a:solidFill>
          <a:ln w="12700">
            <a:solidFill>
              <a:srgbClr val="35E8E0"/>
            </a:solidFill>
            <a:prstDash val="solid"/>
          </a:ln>
          <a:effectLst>
            <a:outerShdw blurRad="127000" dist="38100" dir="5400000" algn="bl" rotWithShape="0">
              <a:srgbClr val="000000">
                <a:alpha val="35000"/>
              </a:srgbClr>
            </a:outerShdw>
          </a:effectLst>
        </p:spPr>
      </p:sp>
      <p:pic>
        <p:nvPicPr>
          <p:cNvPr id="18" name="Image 5" descr="/home/claude/work/icons/databas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07992" y="2194560"/>
            <a:ext cx="457200" cy="457200"/>
          </a:xfrm>
          <a:prstGeom prst="rect">
            <a:avLst/>
          </a:prstGeom>
        </p:spPr>
      </p:pic>
      <p:sp>
        <p:nvSpPr>
          <p:cNvPr id="19" name="Text 11"/>
          <p:cNvSpPr txBox="1"/>
          <p:nvPr/>
        </p:nvSpPr>
        <p:spPr>
          <a:xfrm>
            <a:off x="5102352" y="2231136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ProgressUpdate</a:t>
            </a:r>
            <a:endParaRPr lang="en-US" sz="1500" dirty="0"/>
          </a:p>
        </p:txBody>
      </p:sp>
      <p:sp>
        <p:nvSpPr>
          <p:cNvPr id="20" name="Text 12"/>
          <p:cNvSpPr txBox="1"/>
          <p:nvPr/>
        </p:nvSpPr>
        <p:spPr>
          <a:xfrm>
            <a:off x="4507992" y="2788920"/>
            <a:ext cx="3154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200" dirty="0">
                <a:solidFill>
                  <a:srgbClr val="AEB9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timestamp, actual_progress</a:t>
            </a:r>
            <a:endParaRPr lang="en-US" sz="1200" dirty="0"/>
          </a:p>
        </p:txBody>
      </p:sp>
      <p:sp>
        <p:nvSpPr>
          <p:cNvPr id="21" name="Shape 13"/>
          <p:cNvSpPr/>
          <p:nvPr/>
        </p:nvSpPr>
        <p:spPr>
          <a:xfrm>
            <a:off x="4325112" y="3584448"/>
            <a:ext cx="3520440" cy="1371600"/>
          </a:xfrm>
          <a:prstGeom prst="roundRect">
            <a:avLst>
              <a:gd name="adj" fmla="val 6000"/>
            </a:avLst>
          </a:prstGeom>
          <a:solidFill>
            <a:srgbClr val="141B2E"/>
          </a:solidFill>
          <a:ln w="12700">
            <a:solidFill>
              <a:srgbClr val="35E8E0"/>
            </a:solidFill>
            <a:prstDash val="solid"/>
          </a:ln>
          <a:effectLst>
            <a:outerShdw blurRad="127000" dist="38100" dir="5400000" algn="bl" rotWithShape="0">
              <a:srgbClr val="000000">
                <a:alpha val="35000"/>
              </a:srgbClr>
            </a:outerShdw>
          </a:effectLst>
        </p:spPr>
      </p:sp>
      <p:pic>
        <p:nvPicPr>
          <p:cNvPr id="22" name="Image 6" descr="/home/claude/work/icons/databas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07992" y="3767328"/>
            <a:ext cx="457200" cy="457200"/>
          </a:xfrm>
          <a:prstGeom prst="rect">
            <a:avLst/>
          </a:prstGeom>
        </p:spPr>
      </p:pic>
      <p:sp>
        <p:nvSpPr>
          <p:cNvPr id="23" name="Text 14"/>
          <p:cNvSpPr txBox="1"/>
          <p:nvPr/>
        </p:nvSpPr>
        <p:spPr>
          <a:xfrm>
            <a:off x="5102352" y="3803904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CostRecord</a:t>
            </a:r>
            <a:endParaRPr lang="en-US" sz="1500" dirty="0"/>
          </a:p>
        </p:txBody>
      </p:sp>
      <p:sp>
        <p:nvSpPr>
          <p:cNvPr id="24" name="Text 15"/>
          <p:cNvSpPr txBox="1"/>
          <p:nvPr/>
        </p:nvSpPr>
        <p:spPr>
          <a:xfrm>
            <a:off x="4507992" y="4361688"/>
            <a:ext cx="3154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200" dirty="0">
                <a:solidFill>
                  <a:srgbClr val="AEB9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timestamp, actual_cost, earned_value</a:t>
            </a:r>
            <a:endParaRPr lang="en-US" sz="1200" dirty="0"/>
          </a:p>
        </p:txBody>
      </p:sp>
      <p:pic>
        <p:nvPicPr>
          <p:cNvPr id="25" name="Image 7" descr="/home/claude/work/icons/arrow_plain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54696" y="2578608"/>
            <a:ext cx="237744" cy="237744"/>
          </a:xfrm>
          <a:prstGeom prst="rect">
            <a:avLst/>
          </a:prstGeom>
        </p:spPr>
      </p:pic>
      <p:pic>
        <p:nvPicPr>
          <p:cNvPr id="26" name="Image 8" descr="/home/claude/work/icons/arrow_plain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54696" y="4151376"/>
            <a:ext cx="237744" cy="237744"/>
          </a:xfrm>
          <a:prstGeom prst="rect">
            <a:avLst/>
          </a:prstGeom>
        </p:spPr>
      </p:pic>
      <p:sp>
        <p:nvSpPr>
          <p:cNvPr id="27" name="Text 16"/>
          <p:cNvSpPr txBox="1"/>
          <p:nvPr/>
        </p:nvSpPr>
        <p:spPr>
          <a:xfrm>
            <a:off x="8101584" y="1554480"/>
            <a:ext cx="3520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50" b="1" kern="0" spc="150" dirty="0">
                <a:solidFill>
                  <a:srgbClr val="FFD4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COMPUTED OUTPUTS</a:t>
            </a:r>
            <a:endParaRPr lang="en-US" sz="1250" dirty="0"/>
          </a:p>
        </p:txBody>
      </p:sp>
      <p:sp>
        <p:nvSpPr>
          <p:cNvPr id="28" name="Shape 17"/>
          <p:cNvSpPr/>
          <p:nvPr/>
        </p:nvSpPr>
        <p:spPr>
          <a:xfrm>
            <a:off x="8101584" y="2011680"/>
            <a:ext cx="3520440" cy="1371600"/>
          </a:xfrm>
          <a:prstGeom prst="roundRect">
            <a:avLst>
              <a:gd name="adj" fmla="val 6000"/>
            </a:avLst>
          </a:prstGeom>
          <a:solidFill>
            <a:srgbClr val="141B2E"/>
          </a:solidFill>
          <a:ln w="12700">
            <a:solidFill>
              <a:srgbClr val="FFD400"/>
            </a:solidFill>
            <a:prstDash val="solid"/>
          </a:ln>
          <a:effectLst>
            <a:outerShdw blurRad="127000" dist="38100" dir="5400000" algn="bl" rotWithShape="0">
              <a:srgbClr val="000000">
                <a:alpha val="35000"/>
              </a:srgbClr>
            </a:outerShdw>
          </a:effectLst>
        </p:spPr>
      </p:sp>
      <p:pic>
        <p:nvPicPr>
          <p:cNvPr id="29" name="Image 9" descr="/home/claude/work/icons/database_cyan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284464" y="2194560"/>
            <a:ext cx="457200" cy="457200"/>
          </a:xfrm>
          <a:prstGeom prst="rect">
            <a:avLst/>
          </a:prstGeom>
        </p:spPr>
      </p:pic>
      <p:sp>
        <p:nvSpPr>
          <p:cNvPr id="30" name="Text 18"/>
          <p:cNvSpPr txBox="1"/>
          <p:nvPr/>
        </p:nvSpPr>
        <p:spPr>
          <a:xfrm>
            <a:off x="8878824" y="2231136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KPIResult</a:t>
            </a:r>
            <a:endParaRPr lang="en-US" sz="1500" dirty="0"/>
          </a:p>
        </p:txBody>
      </p:sp>
      <p:sp>
        <p:nvSpPr>
          <p:cNvPr id="31" name="Text 19"/>
          <p:cNvSpPr txBox="1"/>
          <p:nvPr/>
        </p:nvSpPr>
        <p:spPr>
          <a:xfrm>
            <a:off x="8284464" y="2788920"/>
            <a:ext cx="3154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200" dirty="0">
                <a:solidFill>
                  <a:srgbClr val="AEB9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CV, SV, CPI, SPI, variance</a:t>
            </a:r>
            <a:endParaRPr lang="en-US" sz="1200" dirty="0"/>
          </a:p>
        </p:txBody>
      </p:sp>
      <p:sp>
        <p:nvSpPr>
          <p:cNvPr id="32" name="Shape 20"/>
          <p:cNvSpPr/>
          <p:nvPr/>
        </p:nvSpPr>
        <p:spPr>
          <a:xfrm>
            <a:off x="8101584" y="3584448"/>
            <a:ext cx="3520440" cy="1371600"/>
          </a:xfrm>
          <a:prstGeom prst="roundRect">
            <a:avLst>
              <a:gd name="adj" fmla="val 6000"/>
            </a:avLst>
          </a:prstGeom>
          <a:solidFill>
            <a:srgbClr val="141B2E"/>
          </a:solidFill>
          <a:ln w="12700">
            <a:solidFill>
              <a:srgbClr val="FFD400"/>
            </a:solidFill>
            <a:prstDash val="solid"/>
          </a:ln>
          <a:effectLst>
            <a:outerShdw blurRad="127000" dist="38100" dir="5400000" algn="bl" rotWithShape="0">
              <a:srgbClr val="000000">
                <a:alpha val="35000"/>
              </a:srgbClr>
            </a:outerShdw>
          </a:effectLst>
        </p:spPr>
      </p:sp>
      <p:pic>
        <p:nvPicPr>
          <p:cNvPr id="33" name="Image 10" descr="/home/claude/work/icons/database_cyan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284464" y="3767328"/>
            <a:ext cx="457200" cy="457200"/>
          </a:xfrm>
          <a:prstGeom prst="rect">
            <a:avLst/>
          </a:prstGeom>
        </p:spPr>
      </p:pic>
      <p:sp>
        <p:nvSpPr>
          <p:cNvPr id="34" name="Text 21"/>
          <p:cNvSpPr txBox="1"/>
          <p:nvPr/>
        </p:nvSpPr>
        <p:spPr>
          <a:xfrm>
            <a:off x="8878824" y="3803904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RiskResult</a:t>
            </a:r>
            <a:endParaRPr lang="en-US" sz="1500" dirty="0"/>
          </a:p>
        </p:txBody>
      </p:sp>
      <p:sp>
        <p:nvSpPr>
          <p:cNvPr id="35" name="Text 22"/>
          <p:cNvSpPr txBox="1"/>
          <p:nvPr/>
        </p:nvSpPr>
        <p:spPr>
          <a:xfrm>
            <a:off x="8284464" y="4361688"/>
            <a:ext cx="3154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200" dirty="0">
                <a:solidFill>
                  <a:srgbClr val="AEB9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risk_score, risk_class, top_factors</a:t>
            </a:r>
            <a:endParaRPr lang="en-US" sz="1200" dirty="0"/>
          </a:p>
        </p:txBody>
      </p:sp>
      <p:sp>
        <p:nvSpPr>
          <p:cNvPr id="36" name="Shape 23"/>
          <p:cNvSpPr/>
          <p:nvPr/>
        </p:nvSpPr>
        <p:spPr>
          <a:xfrm>
            <a:off x="548640" y="5623560"/>
            <a:ext cx="11064240" cy="685800"/>
          </a:xfrm>
          <a:prstGeom prst="roundRect">
            <a:avLst>
              <a:gd name="adj" fmla="val 12000"/>
            </a:avLst>
          </a:prstGeom>
          <a:solidFill>
            <a:srgbClr val="1B2438"/>
          </a:solidFill>
          <a:ln w="12700">
            <a:solidFill>
              <a:srgbClr val="26314A"/>
            </a:solidFill>
            <a:prstDash val="solid"/>
          </a:ln>
          <a:effectLst>
            <a:outerShdw blurRad="1270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37" name="Text 24"/>
          <p:cNvSpPr txBox="1"/>
          <p:nvPr/>
        </p:nvSpPr>
        <p:spPr>
          <a:xfrm>
            <a:off x="822960" y="5623560"/>
            <a:ext cx="10515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350" dirty="0">
                <a:solidFill>
                  <a:srgbClr val="E7E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and Activity are stable master data; ProgressUpdate and CostRecord are append-only time-series facts; KPIResult and RiskResult store the platform’s computed outputs — each layer feeding the next.</a:t>
            </a:r>
            <a:endParaRPr lang="en-US" sz="1350" dirty="0"/>
          </a:p>
        </p:txBody>
      </p:sp>
      <p:sp>
        <p:nvSpPr>
          <p:cNvPr id="38" name="Text 25"/>
          <p:cNvSpPr txBox="1"/>
          <p:nvPr/>
        </p:nvSpPr>
        <p:spPr>
          <a:xfrm>
            <a:off x="548640" y="653796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100" dirty="0">
                <a:solidFill>
                  <a:srgbClr val="7C8A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CLOUD-NATIVE CONSTRUCTION INTELLIGENCE PLATFORM</a:t>
            </a:r>
            <a:endParaRPr lang="en-US" sz="900" dirty="0"/>
          </a:p>
        </p:txBody>
      </p:sp>
      <p:sp>
        <p:nvSpPr>
          <p:cNvPr id="39" name="Text 26"/>
          <p:cNvSpPr txBox="1"/>
          <p:nvPr/>
        </p:nvSpPr>
        <p:spPr>
          <a:xfrm>
            <a:off x="11430000" y="6537960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C8A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work/backgrounds/bg_conten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548640" y="3200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2E8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VISUALIZATION LAYER</a:t>
            </a:r>
            <a:endParaRPr lang="en-US" sz="13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621792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Power BI Dashboard Design</a:t>
            </a:r>
            <a:endParaRPr lang="en-US" sz="3000" dirty="0"/>
          </a:p>
        </p:txBody>
      </p:sp>
      <p:sp>
        <p:nvSpPr>
          <p:cNvPr id="5" name="Shape 2"/>
          <p:cNvSpPr/>
          <p:nvPr/>
        </p:nvSpPr>
        <p:spPr>
          <a:xfrm>
            <a:off x="548640" y="1554480"/>
            <a:ext cx="3566160" cy="2148840"/>
          </a:xfrm>
          <a:prstGeom prst="roundRect">
            <a:avLst>
              <a:gd name="adj" fmla="val 3830"/>
            </a:avLst>
          </a:prstGeom>
          <a:solidFill>
            <a:srgbClr val="141B2E"/>
          </a:solidFill>
          <a:ln w="12700">
            <a:solidFill>
              <a:srgbClr val="26314A"/>
            </a:solidFill>
            <a:prstDash val="solid"/>
          </a:ln>
          <a:effectLst>
            <a:outerShdw blurRad="1270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6" name="Text 3"/>
          <p:cNvSpPr txBox="1"/>
          <p:nvPr/>
        </p:nvSpPr>
        <p:spPr>
          <a:xfrm>
            <a:off x="749808" y="1719072"/>
            <a:ext cx="316382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Overview</a:t>
            </a:r>
            <a:endParaRPr lang="en-US" sz="1450" dirty="0"/>
          </a:p>
        </p:txBody>
      </p:sp>
      <p:sp>
        <p:nvSpPr>
          <p:cNvPr id="7" name="Text 4"/>
          <p:cNvSpPr txBox="1"/>
          <p:nvPr/>
        </p:nvSpPr>
        <p:spPr>
          <a:xfrm>
            <a:off x="749808" y="2057400"/>
            <a:ext cx="316382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00"/>
              </a:lnSpc>
              <a:buNone/>
            </a:pPr>
            <a:r>
              <a:rPr lang="en-US" sz="1200" dirty="0">
                <a:solidFill>
                  <a:srgbClr val="AEB9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Budget, earned value, completion %, CPI, SPI and high-risk activity count in one glance.</a:t>
            </a:r>
            <a:endParaRPr lang="en-US" sz="1200" dirty="0"/>
          </a:p>
        </p:txBody>
      </p:sp>
      <p:graphicFrame>
        <p:nvGraphicFramePr>
          <p:cNvPr id="8" name="Chart 0"/>
          <p:cNvGraphicFramePr/>
          <p:nvPr/>
        </p:nvGraphicFramePr>
        <p:xfrm>
          <a:off x="749808" y="2788920"/>
          <a:ext cx="3163824" cy="7772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9" name="Shape 5"/>
          <p:cNvSpPr/>
          <p:nvPr/>
        </p:nvSpPr>
        <p:spPr>
          <a:xfrm>
            <a:off x="4297680" y="1554480"/>
            <a:ext cx="3566160" cy="2148840"/>
          </a:xfrm>
          <a:prstGeom prst="roundRect">
            <a:avLst>
              <a:gd name="adj" fmla="val 3830"/>
            </a:avLst>
          </a:prstGeom>
          <a:solidFill>
            <a:srgbClr val="141B2E"/>
          </a:solidFill>
          <a:ln w="12700">
            <a:solidFill>
              <a:srgbClr val="26314A"/>
            </a:solidFill>
            <a:prstDash val="solid"/>
          </a:ln>
          <a:effectLst>
            <a:outerShdw blurRad="1270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0" name="Text 6"/>
          <p:cNvSpPr txBox="1"/>
          <p:nvPr/>
        </p:nvSpPr>
        <p:spPr>
          <a:xfrm>
            <a:off x="4498848" y="1719072"/>
            <a:ext cx="316382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Performance</a:t>
            </a:r>
            <a:endParaRPr lang="en-US" sz="1450" dirty="0"/>
          </a:p>
        </p:txBody>
      </p:sp>
      <p:sp>
        <p:nvSpPr>
          <p:cNvPr id="11" name="Text 7"/>
          <p:cNvSpPr txBox="1"/>
          <p:nvPr/>
        </p:nvSpPr>
        <p:spPr>
          <a:xfrm>
            <a:off x="4498848" y="2057400"/>
            <a:ext cx="316382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00"/>
              </a:lnSpc>
              <a:buNone/>
            </a:pPr>
            <a:r>
              <a:rPr lang="en-US" sz="1200" dirty="0">
                <a:solidFill>
                  <a:srgbClr val="AEB9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Budget vs. actual/earned value, variance trend, and the top cost overruns by activity.</a:t>
            </a:r>
            <a:endParaRPr lang="en-US" sz="1200" dirty="0"/>
          </a:p>
        </p:txBody>
      </p:sp>
      <p:graphicFrame>
        <p:nvGraphicFramePr>
          <p:cNvPr id="12" name="Chart 1"/>
          <p:cNvGraphicFramePr/>
          <p:nvPr/>
        </p:nvGraphicFramePr>
        <p:xfrm>
          <a:off x="4498848" y="2788920"/>
          <a:ext cx="3163824" cy="7772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sp>
        <p:nvSpPr>
          <p:cNvPr id="13" name="Shape 8"/>
          <p:cNvSpPr/>
          <p:nvPr/>
        </p:nvSpPr>
        <p:spPr>
          <a:xfrm>
            <a:off x="8046720" y="1554480"/>
            <a:ext cx="3566160" cy="2148840"/>
          </a:xfrm>
          <a:prstGeom prst="roundRect">
            <a:avLst>
              <a:gd name="adj" fmla="val 3830"/>
            </a:avLst>
          </a:prstGeom>
          <a:solidFill>
            <a:srgbClr val="141B2E"/>
          </a:solidFill>
          <a:ln w="12700">
            <a:solidFill>
              <a:srgbClr val="26314A"/>
            </a:solidFill>
            <a:prstDash val="solid"/>
          </a:ln>
          <a:effectLst>
            <a:outerShdw blurRad="1270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4" name="Text 9"/>
          <p:cNvSpPr txBox="1"/>
          <p:nvPr/>
        </p:nvSpPr>
        <p:spPr>
          <a:xfrm>
            <a:off x="8247888" y="1719072"/>
            <a:ext cx="316382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Schedule Performance</a:t>
            </a:r>
            <a:endParaRPr lang="en-US" sz="1450" dirty="0"/>
          </a:p>
        </p:txBody>
      </p:sp>
      <p:sp>
        <p:nvSpPr>
          <p:cNvPr id="15" name="Text 10"/>
          <p:cNvSpPr txBox="1"/>
          <p:nvPr/>
        </p:nvSpPr>
        <p:spPr>
          <a:xfrm>
            <a:off x="8247888" y="2057400"/>
            <a:ext cx="316382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00"/>
              </a:lnSpc>
              <a:buNone/>
            </a:pPr>
            <a:r>
              <a:rPr lang="en-US" sz="1200" dirty="0">
                <a:solidFill>
                  <a:srgbClr val="AEB9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Planned vs. actual progress, SPI trend line, and currently delayed activities.</a:t>
            </a:r>
            <a:endParaRPr lang="en-US" sz="1200" dirty="0"/>
          </a:p>
        </p:txBody>
      </p:sp>
      <p:graphicFrame>
        <p:nvGraphicFramePr>
          <p:cNvPr id="16" name="Chart 2"/>
          <p:cNvGraphicFramePr/>
          <p:nvPr/>
        </p:nvGraphicFramePr>
        <p:xfrm>
          <a:off x="8247888" y="2788920"/>
          <a:ext cx="3163824" cy="7772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6"/>
          </a:graphicData>
        </a:graphic>
      </p:graphicFrame>
      <p:sp>
        <p:nvSpPr>
          <p:cNvPr id="17" name="Shape 11"/>
          <p:cNvSpPr/>
          <p:nvPr/>
        </p:nvSpPr>
        <p:spPr>
          <a:xfrm>
            <a:off x="548640" y="3931920"/>
            <a:ext cx="5440680" cy="2148840"/>
          </a:xfrm>
          <a:prstGeom prst="roundRect">
            <a:avLst>
              <a:gd name="adj" fmla="val 3830"/>
            </a:avLst>
          </a:prstGeom>
          <a:solidFill>
            <a:srgbClr val="141B2E"/>
          </a:solidFill>
          <a:ln w="12700">
            <a:solidFill>
              <a:srgbClr val="26314A"/>
            </a:solidFill>
            <a:prstDash val="solid"/>
          </a:ln>
          <a:effectLst>
            <a:outerShdw blurRad="1270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8" name="Text 12"/>
          <p:cNvSpPr txBox="1"/>
          <p:nvPr/>
        </p:nvSpPr>
        <p:spPr>
          <a:xfrm>
            <a:off x="749808" y="4096512"/>
            <a:ext cx="503834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Delay-Risk View</a:t>
            </a:r>
            <a:endParaRPr lang="en-US" sz="1450" dirty="0"/>
          </a:p>
        </p:txBody>
      </p:sp>
      <p:sp>
        <p:nvSpPr>
          <p:cNvPr id="19" name="Text 13"/>
          <p:cNvSpPr txBox="1"/>
          <p:nvPr/>
        </p:nvSpPr>
        <p:spPr>
          <a:xfrm>
            <a:off x="749808" y="4434840"/>
            <a:ext cx="50383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00"/>
              </a:lnSpc>
              <a:buNone/>
            </a:pPr>
            <a:r>
              <a:rPr lang="en-US" sz="1200" dirty="0">
                <a:solidFill>
                  <a:srgbClr val="AEB9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probability by activity, risk category, contributing factors and trend over time.</a:t>
            </a:r>
            <a:endParaRPr lang="en-US" sz="1200" dirty="0"/>
          </a:p>
        </p:txBody>
      </p:sp>
      <p:graphicFrame>
        <p:nvGraphicFramePr>
          <p:cNvPr id="20" name="Chart 3"/>
          <p:cNvGraphicFramePr/>
          <p:nvPr/>
        </p:nvGraphicFramePr>
        <p:xfrm>
          <a:off x="841248" y="4937760"/>
          <a:ext cx="1188720" cy="11887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7"/>
          </a:graphicData>
        </a:graphic>
      </p:graphicFrame>
      <p:sp>
        <p:nvSpPr>
          <p:cNvPr id="21" name="Shape 14"/>
          <p:cNvSpPr/>
          <p:nvPr/>
        </p:nvSpPr>
        <p:spPr>
          <a:xfrm>
            <a:off x="6172200" y="3931920"/>
            <a:ext cx="5440680" cy="2148840"/>
          </a:xfrm>
          <a:prstGeom prst="roundRect">
            <a:avLst>
              <a:gd name="adj" fmla="val 3830"/>
            </a:avLst>
          </a:prstGeom>
          <a:solidFill>
            <a:srgbClr val="141B2E"/>
          </a:solidFill>
          <a:ln w="12700">
            <a:solidFill>
              <a:srgbClr val="26314A"/>
            </a:solidFill>
            <a:prstDash val="solid"/>
          </a:ln>
          <a:effectLst>
            <a:outerShdw blurRad="1270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22" name="Text 15"/>
          <p:cNvSpPr txBox="1"/>
          <p:nvPr/>
        </p:nvSpPr>
        <p:spPr>
          <a:xfrm>
            <a:off x="6373368" y="4096512"/>
            <a:ext cx="503834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Operational Health</a:t>
            </a:r>
            <a:endParaRPr lang="en-US" sz="1450" dirty="0"/>
          </a:p>
        </p:txBody>
      </p:sp>
      <p:sp>
        <p:nvSpPr>
          <p:cNvPr id="23" name="Text 16"/>
          <p:cNvSpPr txBox="1"/>
          <p:nvPr/>
        </p:nvSpPr>
        <p:spPr>
          <a:xfrm>
            <a:off x="6373368" y="4434840"/>
            <a:ext cx="50383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00"/>
              </a:lnSpc>
              <a:buNone/>
            </a:pPr>
            <a:r>
              <a:rPr lang="en-US" sz="1200" dirty="0">
                <a:solidFill>
                  <a:srgbClr val="AEB9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Last data refresh, records processed, and live backend service status.</a:t>
            </a:r>
            <a:endParaRPr lang="en-US" sz="1200" dirty="0"/>
          </a:p>
        </p:txBody>
      </p:sp>
      <p:graphicFrame>
        <p:nvGraphicFramePr>
          <p:cNvPr id="24" name="Chart 4"/>
          <p:cNvGraphicFramePr/>
          <p:nvPr/>
        </p:nvGraphicFramePr>
        <p:xfrm>
          <a:off x="6373368" y="5074920"/>
          <a:ext cx="4718304" cy="8686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8"/>
          </a:graphicData>
        </a:graphic>
      </p:graphicFrame>
      <p:sp>
        <p:nvSpPr>
          <p:cNvPr id="25" name="Text 17"/>
          <p:cNvSpPr txBox="1"/>
          <p:nvPr/>
        </p:nvSpPr>
        <p:spPr>
          <a:xfrm>
            <a:off x="548640" y="653796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100" dirty="0">
                <a:solidFill>
                  <a:srgbClr val="7C8A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CLOUD-NATIVE CONSTRUCTION INTELLIGENCE PLATFORM</a:t>
            </a:r>
            <a:endParaRPr lang="en-US" sz="900" dirty="0"/>
          </a:p>
        </p:txBody>
      </p:sp>
      <p:sp>
        <p:nvSpPr>
          <p:cNvPr id="26" name="Text 18"/>
          <p:cNvSpPr txBox="1"/>
          <p:nvPr/>
        </p:nvSpPr>
        <p:spPr>
          <a:xfrm>
            <a:off x="11430000" y="6537960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C8A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work/backgrounds/bg_conclusi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548640" y="461772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kern="0" spc="200" dirty="0">
                <a:solidFill>
                  <a:srgbClr val="FFD400"/>
                </a:solidFill>
                <a:latin typeface="Century Schoolbook" panose="02040604050505020304" pitchFamily="18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3200" dirty="0">
              <a:latin typeface="Century Schoolbook" panose="02040604050505020304" pitchFamily="18" charset="0"/>
            </a:endParaRPr>
          </a:p>
        </p:txBody>
      </p:sp>
      <p:sp>
        <p:nvSpPr>
          <p:cNvPr id="4" name="Text 1"/>
          <p:cNvSpPr txBox="1"/>
          <p:nvPr/>
        </p:nvSpPr>
        <p:spPr>
          <a:xfrm>
            <a:off x="548640" y="781812"/>
            <a:ext cx="10515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chemeClr val="bg1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Four Research Threads.</a:t>
            </a:r>
            <a:endParaRPr lang="en-US" sz="2000" dirty="0">
              <a:solidFill>
                <a:schemeClr val="bg1"/>
              </a:solidFill>
            </a:endParaRPr>
          </a:p>
          <a:p>
            <a:pPr marL="0" indent="0">
              <a:buNone/>
            </a:pPr>
            <a:r>
              <a:rPr lang="en-US" sz="2000" b="1" dirty="0">
                <a:solidFill>
                  <a:schemeClr val="bg1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One Deployable Platform.</a:t>
            </a:r>
            <a:endParaRPr lang="en-US" sz="2000" dirty="0">
              <a:solidFill>
                <a:schemeClr val="bg1"/>
              </a:solidFill>
            </a:endParaRPr>
          </a:p>
        </p:txBody>
      </p:sp>
      <p:sp>
        <p:nvSpPr>
          <p:cNvPr id="5" name="Text 2"/>
          <p:cNvSpPr txBox="1"/>
          <p:nvPr/>
        </p:nvSpPr>
        <p:spPr>
          <a:xfrm>
            <a:off x="548640" y="2075688"/>
            <a:ext cx="11064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just">
              <a:lnSpc>
                <a:spcPts val="1900"/>
              </a:lnSpc>
              <a:buNone/>
            </a:pPr>
            <a:r>
              <a:rPr lang="en-US" sz="1500" dirty="0">
                <a:solidFill>
                  <a:srgbClr val="AEB9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project set out to prove that construction project control does not need four separate tools studied in isolation. By combining a unified data model, predictive delay-risk scoring, Power BI as a decision-ready visualization layer, and Docker plus Kubernetes for deployment, it delivers one reproducible, self-healing, horizontally scalable platform — turning scattered spreadsheets and disconnected dashboards into a single system that both shows what happened and forecasts what is likely to happen next.</a:t>
            </a:r>
            <a:endParaRPr lang="en-US" sz="1500" dirty="0"/>
          </a:p>
        </p:txBody>
      </p:sp>
      <p:sp>
        <p:nvSpPr>
          <p:cNvPr id="6" name="Shape 3"/>
          <p:cNvSpPr/>
          <p:nvPr/>
        </p:nvSpPr>
        <p:spPr>
          <a:xfrm>
            <a:off x="548640" y="3429000"/>
            <a:ext cx="5440680" cy="1417320"/>
          </a:xfrm>
          <a:prstGeom prst="roundRect">
            <a:avLst>
              <a:gd name="adj" fmla="val 5806"/>
            </a:avLst>
          </a:prstGeom>
          <a:solidFill>
            <a:srgbClr val="1B2438"/>
          </a:solidFill>
          <a:ln w="12700">
            <a:solidFill>
              <a:srgbClr val="00B0F0"/>
            </a:solidFill>
            <a:prstDash val="solid"/>
          </a:ln>
          <a:effectLst>
            <a:outerShdw blurRad="127000" dist="38100" dir="5400000" algn="bl" rotWithShape="0">
              <a:srgbClr val="000000">
                <a:alpha val="35000"/>
              </a:srgbClr>
            </a:outerShdw>
          </a:effectLst>
        </p:spPr>
      </p:sp>
      <p:pic>
        <p:nvPicPr>
          <p:cNvPr id="7" name="Image 1" descr="/home/claude/work/icons/layer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9808" y="3630168"/>
            <a:ext cx="457200" cy="457200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1371600" y="3593592"/>
            <a:ext cx="4434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Integrated Data Model</a:t>
            </a:r>
            <a:endParaRPr lang="en-US" sz="1450" dirty="0"/>
          </a:p>
        </p:txBody>
      </p:sp>
      <p:sp>
        <p:nvSpPr>
          <p:cNvPr id="9" name="Text 5"/>
          <p:cNvSpPr txBox="1"/>
          <p:nvPr/>
        </p:nvSpPr>
        <p:spPr>
          <a:xfrm>
            <a:off x="1371600" y="3977640"/>
            <a:ext cx="4434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50"/>
              </a:lnSpc>
              <a:buNone/>
            </a:pPr>
            <a:r>
              <a:rPr lang="en-US" sz="1200" dirty="0">
                <a:solidFill>
                  <a:srgbClr val="AEB9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Spanning project, cost, progress and risk in one consistent schema shared across every service.</a:t>
            </a:r>
            <a:endParaRPr lang="en-US" sz="1200" dirty="0"/>
          </a:p>
        </p:txBody>
      </p:sp>
      <p:sp>
        <p:nvSpPr>
          <p:cNvPr id="10" name="Shape 6"/>
          <p:cNvSpPr/>
          <p:nvPr/>
        </p:nvSpPr>
        <p:spPr>
          <a:xfrm>
            <a:off x="6172200" y="3429000"/>
            <a:ext cx="5440680" cy="1417320"/>
          </a:xfrm>
          <a:prstGeom prst="roundRect">
            <a:avLst>
              <a:gd name="adj" fmla="val 5806"/>
            </a:avLst>
          </a:prstGeom>
          <a:solidFill>
            <a:srgbClr val="1B2438"/>
          </a:solidFill>
          <a:ln w="12700">
            <a:solidFill>
              <a:srgbClr val="00B0F0"/>
            </a:solidFill>
            <a:prstDash val="solid"/>
          </a:ln>
          <a:effectLst>
            <a:outerShdw blurRad="127000" dist="38100" dir="5400000" algn="bl" rotWithShape="0">
              <a:srgbClr val="000000">
                <a:alpha val="35000"/>
              </a:srgbClr>
            </a:outerShdw>
          </a:effectLst>
        </p:spPr>
      </p:sp>
      <p:pic>
        <p:nvPicPr>
          <p:cNvPr id="11" name="Image 2" descr="/home/claude/work/icons/warning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73368" y="3630168"/>
            <a:ext cx="457200" cy="457200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6995160" y="3593592"/>
            <a:ext cx="4434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Predictive Delay-Risk Scoring</a:t>
            </a:r>
            <a:endParaRPr lang="en-US" sz="1450" dirty="0"/>
          </a:p>
        </p:txBody>
      </p:sp>
      <p:sp>
        <p:nvSpPr>
          <p:cNvPr id="13" name="Text 8"/>
          <p:cNvSpPr txBox="1"/>
          <p:nvPr/>
        </p:nvSpPr>
        <p:spPr>
          <a:xfrm>
            <a:off x="6995160" y="3977640"/>
            <a:ext cx="4434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50"/>
              </a:lnSpc>
              <a:buNone/>
            </a:pPr>
            <a:r>
              <a:rPr lang="en-US" sz="1200" dirty="0">
                <a:solidFill>
                  <a:srgbClr val="AEB9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Sitting alongside standard EVM/schedule KPIs, not replacing them — forecasting risk instead of just reporting it.</a:t>
            </a:r>
            <a:endParaRPr lang="en-US" sz="1200" dirty="0"/>
          </a:p>
        </p:txBody>
      </p:sp>
      <p:sp>
        <p:nvSpPr>
          <p:cNvPr id="14" name="Shape 9"/>
          <p:cNvSpPr/>
          <p:nvPr/>
        </p:nvSpPr>
        <p:spPr>
          <a:xfrm>
            <a:off x="548640" y="5029200"/>
            <a:ext cx="5440680" cy="1417320"/>
          </a:xfrm>
          <a:prstGeom prst="roundRect">
            <a:avLst>
              <a:gd name="adj" fmla="val 5806"/>
            </a:avLst>
          </a:prstGeom>
          <a:solidFill>
            <a:srgbClr val="1B2438"/>
          </a:solidFill>
          <a:ln w="12700">
            <a:solidFill>
              <a:srgbClr val="00B0F0"/>
            </a:solidFill>
            <a:prstDash val="solid"/>
          </a:ln>
          <a:effectLst>
            <a:outerShdw blurRad="127000" dist="38100" dir="5400000" algn="bl" rotWithShape="0">
              <a:srgbClr val="000000">
                <a:alpha val="35000"/>
              </a:srgbClr>
            </a:outerShdw>
          </a:effectLst>
        </p:spPr>
      </p:sp>
      <p:pic>
        <p:nvPicPr>
          <p:cNvPr id="15" name="Image 3" descr="/home/claude/work/icons/chartpi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49808" y="5230368"/>
            <a:ext cx="457200" cy="457200"/>
          </a:xfrm>
          <a:prstGeom prst="rect">
            <a:avLst/>
          </a:prstGeom>
        </p:spPr>
      </p:pic>
      <p:sp>
        <p:nvSpPr>
          <p:cNvPr id="16" name="Text 10"/>
          <p:cNvSpPr txBox="1"/>
          <p:nvPr/>
        </p:nvSpPr>
        <p:spPr>
          <a:xfrm>
            <a:off x="1371600" y="5193792"/>
            <a:ext cx="4434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BI as Decision Layer</a:t>
            </a:r>
            <a:endParaRPr lang="en-US" sz="1450" dirty="0"/>
          </a:p>
        </p:txBody>
      </p:sp>
      <p:sp>
        <p:nvSpPr>
          <p:cNvPr id="17" name="Text 11"/>
          <p:cNvSpPr txBox="1"/>
          <p:nvPr/>
        </p:nvSpPr>
        <p:spPr>
          <a:xfrm>
            <a:off x="1371600" y="5577840"/>
            <a:ext cx="4434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50"/>
              </a:lnSpc>
              <a:buNone/>
            </a:pPr>
            <a:r>
              <a:rPr lang="en-US" sz="1200" dirty="0">
                <a:solidFill>
                  <a:srgbClr val="AEB9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decision-ready visualization layer for executives and site teams, not just static after-the-fact reporting.</a:t>
            </a:r>
            <a:endParaRPr lang="en-US" sz="1200" dirty="0"/>
          </a:p>
        </p:txBody>
      </p:sp>
      <p:sp>
        <p:nvSpPr>
          <p:cNvPr id="18" name="Shape 12"/>
          <p:cNvSpPr/>
          <p:nvPr/>
        </p:nvSpPr>
        <p:spPr>
          <a:xfrm>
            <a:off x="6172200" y="5029200"/>
            <a:ext cx="5440680" cy="1417320"/>
          </a:xfrm>
          <a:prstGeom prst="roundRect">
            <a:avLst>
              <a:gd name="adj" fmla="val 5806"/>
            </a:avLst>
          </a:prstGeom>
          <a:solidFill>
            <a:srgbClr val="1B2438"/>
          </a:solidFill>
          <a:ln w="12700">
            <a:solidFill>
              <a:srgbClr val="00B0F0"/>
            </a:solidFill>
            <a:prstDash val="solid"/>
          </a:ln>
          <a:effectLst>
            <a:outerShdw blurRad="127000" dist="38100" dir="5400000" algn="bl" rotWithShape="0">
              <a:srgbClr val="000000">
                <a:alpha val="35000"/>
              </a:srgbClr>
            </a:outerShdw>
          </a:effectLst>
        </p:spPr>
      </p:sp>
      <p:pic>
        <p:nvPicPr>
          <p:cNvPr id="19" name="Image 4" descr="/home/claude/work/icons/kubernetes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373368" y="5230368"/>
            <a:ext cx="457200" cy="457200"/>
          </a:xfrm>
          <a:prstGeom prst="rect">
            <a:avLst/>
          </a:prstGeom>
        </p:spPr>
      </p:pic>
      <p:sp>
        <p:nvSpPr>
          <p:cNvPr id="20" name="Text 13"/>
          <p:cNvSpPr txBox="1"/>
          <p:nvPr/>
        </p:nvSpPr>
        <p:spPr>
          <a:xfrm>
            <a:off x="6995160" y="5193792"/>
            <a:ext cx="4434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+ Kubernetes</a:t>
            </a:r>
            <a:endParaRPr lang="en-US" sz="1450" dirty="0"/>
          </a:p>
        </p:txBody>
      </p:sp>
      <p:sp>
        <p:nvSpPr>
          <p:cNvPr id="21" name="Text 14"/>
          <p:cNvSpPr txBox="1"/>
          <p:nvPr/>
        </p:nvSpPr>
        <p:spPr>
          <a:xfrm>
            <a:off x="6995160" y="5577840"/>
            <a:ext cx="4434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50"/>
              </a:lnSpc>
              <a:buNone/>
            </a:pPr>
            <a:r>
              <a:rPr lang="en-US" sz="1200" dirty="0">
                <a:solidFill>
                  <a:srgbClr val="AEB9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Repeatable, self-healing, horizontally scalable deployment by design, not by manual operations effort.</a:t>
            </a:r>
            <a:endParaRPr lang="en-US" sz="1200" dirty="0"/>
          </a:p>
        </p:txBody>
      </p:sp>
      <p:sp>
        <p:nvSpPr>
          <p:cNvPr id="22" name="Text 15"/>
          <p:cNvSpPr txBox="1"/>
          <p:nvPr/>
        </p:nvSpPr>
        <p:spPr>
          <a:xfrm>
            <a:off x="548640" y="6537960"/>
            <a:ext cx="11064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kern="0" spc="100" dirty="0">
                <a:solidFill>
                  <a:srgbClr val="7C8A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CLOUD-NATIVE CONSTRUCTION PROJECT INTELLIGENCE PLATFORM   ·   POWER BI  ·  DOCKER  ·  KUBERNETES</a:t>
            </a:r>
            <a:endParaRPr lang="en-US" sz="9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work/backgrounds/bg_conten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548640" y="43434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just"/>
            <a:r>
              <a:rPr lang="en-US" sz="3200" b="1" kern="0" spc="200" dirty="0">
                <a:solidFill>
                  <a:srgbClr val="2E8CFF"/>
                </a:solidFill>
                <a:latin typeface="Century Schoolbook" panose="02040604050505020304" pitchFamily="18" charset="0"/>
                <a:ea typeface="Calibri" pitchFamily="34" charset="-122"/>
                <a:cs typeface="Calibri" pitchFamily="34" charset="-120"/>
              </a:rPr>
              <a:t>REFERENCES</a:t>
            </a:r>
            <a:endParaRPr lang="en-US" sz="3200" dirty="0">
              <a:latin typeface="Century Schoolbook" panose="02040604050505020304" pitchFamily="18" charset="0"/>
            </a:endParaRPr>
          </a:p>
        </p:txBody>
      </p:sp>
      <p:sp>
        <p:nvSpPr>
          <p:cNvPr id="5" name="Shape 2"/>
          <p:cNvSpPr/>
          <p:nvPr/>
        </p:nvSpPr>
        <p:spPr>
          <a:xfrm>
            <a:off x="548640" y="1508760"/>
            <a:ext cx="5440680" cy="1572768"/>
          </a:xfrm>
          <a:prstGeom prst="roundRect">
            <a:avLst>
              <a:gd name="adj" fmla="val 5233"/>
            </a:avLst>
          </a:prstGeom>
          <a:solidFill>
            <a:srgbClr val="141B2E"/>
          </a:solidFill>
          <a:ln w="12700">
            <a:solidFill>
              <a:srgbClr val="26314A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731520" y="16459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just">
              <a:buNone/>
            </a:pPr>
            <a:r>
              <a:rPr lang="en-US" sz="1400" b="1" dirty="0">
                <a:solidFill>
                  <a:srgbClr val="2E8C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[1]</a:t>
            </a:r>
            <a:endParaRPr lang="en-US" sz="1400" dirty="0"/>
          </a:p>
        </p:txBody>
      </p:sp>
      <p:sp>
        <p:nvSpPr>
          <p:cNvPr id="7" name="Text 4"/>
          <p:cNvSpPr txBox="1"/>
          <p:nvPr/>
        </p:nvSpPr>
        <p:spPr>
          <a:xfrm>
            <a:off x="1143000" y="1627632"/>
            <a:ext cx="466344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just">
              <a:lnSpc>
                <a:spcPts val="1500"/>
              </a:lnSpc>
              <a:buNone/>
            </a:pPr>
            <a:r>
              <a:rPr lang="en-US" sz="1250" dirty="0">
                <a:solidFill>
                  <a:srgbClr val="E7E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C.-Y. Chiu and A. D. Russell, "Design of a construction management data visualization environment: A top-down approach," Automation in Construction, vol. 20, no. 4, pp. 399–417, 2011.</a:t>
            </a:r>
            <a:endParaRPr lang="en-US" sz="1250" dirty="0"/>
          </a:p>
        </p:txBody>
      </p:sp>
      <p:sp>
        <p:nvSpPr>
          <p:cNvPr id="8" name="Text 5"/>
          <p:cNvSpPr txBox="1"/>
          <p:nvPr/>
        </p:nvSpPr>
        <p:spPr>
          <a:xfrm>
            <a:off x="1143000" y="2715768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just">
              <a:buNone/>
            </a:pPr>
            <a:r>
              <a:rPr lang="en-US" sz="1050" dirty="0">
                <a:solidFill>
                  <a:srgbClr val="7C8A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DOI: 10.1016/j.autcon.2010.11.010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6172200" y="1508760"/>
            <a:ext cx="5440680" cy="1572768"/>
          </a:xfrm>
          <a:prstGeom prst="roundRect">
            <a:avLst>
              <a:gd name="adj" fmla="val 5233"/>
            </a:avLst>
          </a:prstGeom>
          <a:solidFill>
            <a:srgbClr val="141B2E"/>
          </a:solidFill>
          <a:ln w="12700">
            <a:solidFill>
              <a:srgbClr val="26314A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6355080" y="16459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just">
              <a:buNone/>
            </a:pPr>
            <a:r>
              <a:rPr lang="en-US" sz="1400" b="1" dirty="0">
                <a:solidFill>
                  <a:srgbClr val="2E8C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[2]</a:t>
            </a:r>
            <a:endParaRPr lang="en-US" sz="1400" dirty="0"/>
          </a:p>
        </p:txBody>
      </p:sp>
      <p:sp>
        <p:nvSpPr>
          <p:cNvPr id="11" name="Text 8"/>
          <p:cNvSpPr txBox="1"/>
          <p:nvPr/>
        </p:nvSpPr>
        <p:spPr>
          <a:xfrm>
            <a:off x="6766560" y="1627632"/>
            <a:ext cx="466344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just">
              <a:lnSpc>
                <a:spcPts val="1500"/>
              </a:lnSpc>
              <a:buNone/>
            </a:pPr>
            <a:r>
              <a:rPr lang="en-US" sz="1250" dirty="0">
                <a:solidFill>
                  <a:srgbClr val="E7E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 Al-Sulaiti et al., "Using Data Analytics and Visualization Dashboard for EPC Project Performance Assessment," 2021 IEEE 8th ICIEA, pp. 207–211, 2021.</a:t>
            </a:r>
            <a:endParaRPr lang="en-US" sz="1250" dirty="0"/>
          </a:p>
        </p:txBody>
      </p:sp>
      <p:sp>
        <p:nvSpPr>
          <p:cNvPr id="12" name="Text 9"/>
          <p:cNvSpPr txBox="1"/>
          <p:nvPr/>
        </p:nvSpPr>
        <p:spPr>
          <a:xfrm>
            <a:off x="6766560" y="2715768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just">
              <a:buNone/>
            </a:pPr>
            <a:r>
              <a:rPr lang="en-US" sz="1050" dirty="0">
                <a:solidFill>
                  <a:srgbClr val="7C8A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DOI: 10.1109/ICIEA52957.2021.9436728</a:t>
            </a:r>
            <a:endParaRPr lang="en-US" sz="1050" dirty="0"/>
          </a:p>
        </p:txBody>
      </p:sp>
      <p:sp>
        <p:nvSpPr>
          <p:cNvPr id="13" name="Shape 10"/>
          <p:cNvSpPr/>
          <p:nvPr/>
        </p:nvSpPr>
        <p:spPr>
          <a:xfrm>
            <a:off x="548640" y="3246120"/>
            <a:ext cx="5440680" cy="1572768"/>
          </a:xfrm>
          <a:prstGeom prst="roundRect">
            <a:avLst>
              <a:gd name="adj" fmla="val 5233"/>
            </a:avLst>
          </a:prstGeom>
          <a:solidFill>
            <a:srgbClr val="141B2E"/>
          </a:solidFill>
          <a:ln w="12700">
            <a:solidFill>
              <a:srgbClr val="26314A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731520" y="33832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just">
              <a:buNone/>
            </a:pPr>
            <a:r>
              <a:rPr lang="en-US" sz="1400" b="1" dirty="0">
                <a:solidFill>
                  <a:srgbClr val="2E8C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[3]</a:t>
            </a:r>
            <a:endParaRPr lang="en-US" sz="1400" dirty="0"/>
          </a:p>
        </p:txBody>
      </p:sp>
      <p:sp>
        <p:nvSpPr>
          <p:cNvPr id="15" name="Text 12"/>
          <p:cNvSpPr txBox="1"/>
          <p:nvPr/>
        </p:nvSpPr>
        <p:spPr>
          <a:xfrm>
            <a:off x="1143000" y="3364992"/>
            <a:ext cx="466344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just">
              <a:lnSpc>
                <a:spcPts val="1500"/>
              </a:lnSpc>
              <a:buNone/>
            </a:pPr>
            <a:r>
              <a:rPr lang="en-US" sz="1250" dirty="0">
                <a:solidFill>
                  <a:srgbClr val="E7E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K. Radman et al., "Digital technologies and data-driven delay management process for construction projects," Frontiers in Built Environment, vol. 8, 1029586, 2022.</a:t>
            </a:r>
            <a:endParaRPr lang="en-US" sz="1250" dirty="0"/>
          </a:p>
        </p:txBody>
      </p:sp>
      <p:sp>
        <p:nvSpPr>
          <p:cNvPr id="16" name="Text 13"/>
          <p:cNvSpPr txBox="1"/>
          <p:nvPr/>
        </p:nvSpPr>
        <p:spPr>
          <a:xfrm>
            <a:off x="1143000" y="4453128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just">
              <a:buNone/>
            </a:pPr>
            <a:r>
              <a:rPr lang="en-US" sz="1050" dirty="0">
                <a:solidFill>
                  <a:srgbClr val="7C8A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DOI: 10.3389/fbuil.2022.1029586</a:t>
            </a:r>
            <a:endParaRPr lang="en-US" sz="1050" dirty="0"/>
          </a:p>
        </p:txBody>
      </p:sp>
      <p:sp>
        <p:nvSpPr>
          <p:cNvPr id="17" name="Shape 14"/>
          <p:cNvSpPr/>
          <p:nvPr/>
        </p:nvSpPr>
        <p:spPr>
          <a:xfrm>
            <a:off x="6172200" y="3246120"/>
            <a:ext cx="5440680" cy="1572768"/>
          </a:xfrm>
          <a:prstGeom prst="roundRect">
            <a:avLst>
              <a:gd name="adj" fmla="val 5233"/>
            </a:avLst>
          </a:prstGeom>
          <a:solidFill>
            <a:srgbClr val="141B2E"/>
          </a:solidFill>
          <a:ln w="12700">
            <a:solidFill>
              <a:srgbClr val="26314A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6355080" y="33832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just">
              <a:buNone/>
            </a:pPr>
            <a:r>
              <a:rPr lang="en-US" sz="1400" b="1" dirty="0">
                <a:solidFill>
                  <a:srgbClr val="2E8C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[4]</a:t>
            </a:r>
            <a:endParaRPr lang="en-US" sz="1400" dirty="0"/>
          </a:p>
        </p:txBody>
      </p:sp>
      <p:sp>
        <p:nvSpPr>
          <p:cNvPr id="19" name="Text 16"/>
          <p:cNvSpPr txBox="1"/>
          <p:nvPr/>
        </p:nvSpPr>
        <p:spPr>
          <a:xfrm>
            <a:off x="6766560" y="3364992"/>
            <a:ext cx="466344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just">
              <a:lnSpc>
                <a:spcPts val="1500"/>
              </a:lnSpc>
              <a:buNone/>
            </a:pPr>
            <a:r>
              <a:rPr lang="en-US" sz="1250" dirty="0">
                <a:solidFill>
                  <a:srgbClr val="E7E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R. Gajera, "Integrating Power BI with Project Control Systems: Enhancing Real-Time Cost Tracking and Visualization in Construction," IJSRCE, vol. 7, no. 5, pp. 154–160, 2023.</a:t>
            </a:r>
            <a:endParaRPr lang="en-US" sz="1250" dirty="0"/>
          </a:p>
        </p:txBody>
      </p:sp>
      <p:sp>
        <p:nvSpPr>
          <p:cNvPr id="20" name="Text 17"/>
          <p:cNvSpPr txBox="1"/>
          <p:nvPr/>
        </p:nvSpPr>
        <p:spPr>
          <a:xfrm>
            <a:off x="6766560" y="4453128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just">
              <a:buNone/>
            </a:pPr>
            <a:r>
              <a:rPr lang="en-US" sz="1050" dirty="0">
                <a:solidFill>
                  <a:srgbClr val="7C8A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DOI: 10.32628/IJSRCE123761</a:t>
            </a:r>
            <a:endParaRPr lang="en-US" sz="1050" dirty="0"/>
          </a:p>
        </p:txBody>
      </p:sp>
      <p:sp>
        <p:nvSpPr>
          <p:cNvPr id="21" name="Shape 18"/>
          <p:cNvSpPr/>
          <p:nvPr/>
        </p:nvSpPr>
        <p:spPr>
          <a:xfrm>
            <a:off x="548640" y="4983480"/>
            <a:ext cx="5440680" cy="1572768"/>
          </a:xfrm>
          <a:prstGeom prst="roundRect">
            <a:avLst>
              <a:gd name="adj" fmla="val 5233"/>
            </a:avLst>
          </a:prstGeom>
          <a:solidFill>
            <a:srgbClr val="141B2E"/>
          </a:solidFill>
          <a:ln w="12700">
            <a:solidFill>
              <a:srgbClr val="26314A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731520" y="51206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just">
              <a:buNone/>
            </a:pPr>
            <a:r>
              <a:rPr lang="en-US" sz="1400" b="1" dirty="0">
                <a:solidFill>
                  <a:srgbClr val="2E8C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[5]</a:t>
            </a:r>
            <a:endParaRPr lang="en-US" sz="1400" dirty="0"/>
          </a:p>
        </p:txBody>
      </p:sp>
      <p:sp>
        <p:nvSpPr>
          <p:cNvPr id="23" name="Text 20"/>
          <p:cNvSpPr txBox="1"/>
          <p:nvPr/>
        </p:nvSpPr>
        <p:spPr>
          <a:xfrm>
            <a:off x="1143000" y="5102352"/>
            <a:ext cx="466344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just">
              <a:lnSpc>
                <a:spcPts val="1500"/>
              </a:lnSpc>
              <a:buNone/>
            </a:pPr>
            <a:r>
              <a:rPr lang="en-US" sz="1250" dirty="0">
                <a:solidFill>
                  <a:srgbClr val="E7E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S. Zhang and X. Wang, "Quantifying Schedule Delay Risk in Construction Projects: A Data-Driven Approach with BIM and Probabilistic Reliability Analysis," Advances in Civil Engineering, vol. 2023, Article ID 5525655.</a:t>
            </a:r>
            <a:endParaRPr lang="en-US" sz="1250" dirty="0"/>
          </a:p>
        </p:txBody>
      </p:sp>
      <p:sp>
        <p:nvSpPr>
          <p:cNvPr id="24" name="Text 21"/>
          <p:cNvSpPr txBox="1"/>
          <p:nvPr/>
        </p:nvSpPr>
        <p:spPr>
          <a:xfrm>
            <a:off x="1143000" y="6190488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just">
              <a:buNone/>
            </a:pPr>
            <a:r>
              <a:rPr lang="en-US" sz="1050" dirty="0">
                <a:solidFill>
                  <a:srgbClr val="7C8A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DOI: 10.1155/2023/5525655</a:t>
            </a:r>
            <a:endParaRPr lang="en-US" sz="1050" dirty="0"/>
          </a:p>
        </p:txBody>
      </p:sp>
      <p:sp>
        <p:nvSpPr>
          <p:cNvPr id="25" name="Shape 22"/>
          <p:cNvSpPr/>
          <p:nvPr/>
        </p:nvSpPr>
        <p:spPr>
          <a:xfrm>
            <a:off x="6172200" y="4983480"/>
            <a:ext cx="5440680" cy="1572768"/>
          </a:xfrm>
          <a:prstGeom prst="roundRect">
            <a:avLst>
              <a:gd name="adj" fmla="val 5233"/>
            </a:avLst>
          </a:prstGeom>
          <a:solidFill>
            <a:srgbClr val="141B2E"/>
          </a:solidFill>
          <a:ln w="12700">
            <a:solidFill>
              <a:srgbClr val="26314A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6355080" y="51206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just">
              <a:buNone/>
            </a:pPr>
            <a:r>
              <a:rPr lang="en-US" sz="1400" b="1" dirty="0">
                <a:solidFill>
                  <a:srgbClr val="2E8C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[6]</a:t>
            </a:r>
            <a:endParaRPr lang="en-US" sz="1400" dirty="0"/>
          </a:p>
        </p:txBody>
      </p:sp>
      <p:sp>
        <p:nvSpPr>
          <p:cNvPr id="27" name="Text 24"/>
          <p:cNvSpPr txBox="1"/>
          <p:nvPr/>
        </p:nvSpPr>
        <p:spPr>
          <a:xfrm>
            <a:off x="6766560" y="5102352"/>
            <a:ext cx="466344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just">
              <a:lnSpc>
                <a:spcPts val="1500"/>
              </a:lnSpc>
              <a:buNone/>
            </a:pPr>
            <a:r>
              <a:rPr lang="en-US" sz="1250" dirty="0">
                <a:solidFill>
                  <a:srgbClr val="E7E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O. Sanusi, "The Role of Data-Driven Decision-Making in Reducing Project Delays and Cost Overruns in Civil Engineering Projects," SAMRIDDHI, vol. 16, no. 4, pp. 182–192, 2024.</a:t>
            </a:r>
            <a:endParaRPr lang="en-US" sz="1250" dirty="0"/>
          </a:p>
        </p:txBody>
      </p:sp>
      <p:sp>
        <p:nvSpPr>
          <p:cNvPr id="28" name="Text 25"/>
          <p:cNvSpPr txBox="1"/>
          <p:nvPr/>
        </p:nvSpPr>
        <p:spPr>
          <a:xfrm>
            <a:off x="6766560" y="6190488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just">
              <a:buNone/>
            </a:pPr>
            <a:r>
              <a:rPr lang="en-US" sz="1050" dirty="0">
                <a:solidFill>
                  <a:srgbClr val="7C8A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DOI: 10.18090/samriddhi.v16i04.08</a:t>
            </a:r>
            <a:endParaRPr lang="en-US" sz="1050" dirty="0"/>
          </a:p>
        </p:txBody>
      </p:sp>
      <p:sp>
        <p:nvSpPr>
          <p:cNvPr id="29" name="Text 26"/>
          <p:cNvSpPr txBox="1"/>
          <p:nvPr/>
        </p:nvSpPr>
        <p:spPr>
          <a:xfrm>
            <a:off x="548640" y="653796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just">
              <a:buNone/>
            </a:pPr>
            <a:r>
              <a:rPr lang="en-US" sz="900" kern="0" spc="100" dirty="0">
                <a:solidFill>
                  <a:srgbClr val="7C8A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CLOUD-NATIVE CONSTRUCTION INTELLIGENCE PLATFORM</a:t>
            </a:r>
            <a:endParaRPr lang="en-US" sz="900" dirty="0"/>
          </a:p>
        </p:txBody>
      </p:sp>
      <p:sp>
        <p:nvSpPr>
          <p:cNvPr id="30" name="Text 27"/>
          <p:cNvSpPr txBox="1"/>
          <p:nvPr/>
        </p:nvSpPr>
        <p:spPr>
          <a:xfrm>
            <a:off x="11430000" y="6537960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just">
              <a:buNone/>
            </a:pPr>
            <a:r>
              <a:rPr lang="en-US" sz="900" dirty="0">
                <a:solidFill>
                  <a:srgbClr val="7C8A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120</TotalTime>
  <Words>2137</Words>
  <Application>Microsoft Office PowerPoint</Application>
  <PresentationFormat>Widescreen</PresentationFormat>
  <Paragraphs>323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1" baseType="lpstr">
      <vt:lpstr>Arial</vt:lpstr>
      <vt:lpstr>Calibri</vt:lpstr>
      <vt:lpstr>Cambria</vt:lpstr>
      <vt:lpstr>Century Schoolbook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AK Sao</cp:lastModifiedBy>
  <cp:revision>11</cp:revision>
  <dcterms:created xsi:type="dcterms:W3CDTF">2026-08-27T07:40:20Z</dcterms:created>
  <dcterms:modified xsi:type="dcterms:W3CDTF">2026-09-15T10:40:29Z</dcterms:modified>
</cp:coreProperties>
</file>