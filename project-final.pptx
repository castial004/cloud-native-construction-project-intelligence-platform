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00">
                <a:solidFill>
                  <a:srgbClr val="38BDF8"/>
                </a:solidFill>
                <a:latin typeface="Calibri"/>
              </a:rPr>
              <a:t>FINAL-YEAR PROJECT  •  VISUAL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Cloud-Native Construction Project
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94A3B8"/>
                </a:solidFill>
                <a:latin typeface="Calibri"/>
              </a:rPr>
              <a:t>Predictive Delay-Risk Scoring &amp; Real-Time Performance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4069080"/>
            <a:ext cx="146304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2E8F0"/>
                </a:solidFill>
                <a:latin typeface="Calibri"/>
              </a:rPr>
              <a:t>Aryan Kishor Sao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81728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Dept. of Computer Science &amp;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Bhilai Institute of Technology, Durg,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623560"/>
            <a:ext cx="92811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FastAPI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882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PostgreSQL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1548" y="5623560"/>
            <a:ext cx="1408176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scikit-learn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6883" y="5623560"/>
            <a:ext cx="102412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Power BI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8171" y="5623560"/>
            <a:ext cx="832104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Docker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17436" y="5623560"/>
            <a:ext cx="1216152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00" b="1">
                <a:solidFill>
                  <a:srgbClr val="38BDF8"/>
                </a:solidFill>
                <a:latin typeface="Calibri"/>
              </a:rPr>
              <a:t>Kubernetes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92023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Introduction &amp;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2860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Why construction control needs a deployable intelligence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53511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999231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Problem 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364991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Fragmentation, retrospection, and the analytics–deployment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32504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40782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Literature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4443984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What prior work covers — and what it leaves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11496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51572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Research Gap &amp; Objectives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19" y="5522976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The missing link and the seven objectives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1920239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2860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Ingestion → storage → analytics → visualization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953511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2999231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364991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Data model, EVM, ML risk, web UI, Power BI, deployment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32504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0782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Results &amp;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4443984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Model benchmark, EVM correctness, 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111496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8BDF8"/>
                </a:solidFill>
                <a:latin typeface="Calibr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51572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522976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4A3B8"/>
                </a:solidFill>
                <a:latin typeface="Calibri"/>
              </a:rPr>
              <a:t>Contributions and next steps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•  Construction project control depends on the triple constraint: schedule, cost, and scope.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•  Despite tools like Primavera P6 and MS Project, cost overruns and schedule slippage remain endemic.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•  A root cause is delayed visibility: progress and cost data are collected through manual site logs, spreadsheets, and disconnected subcontractor reports.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94A3B8"/>
                </a:solidFill>
                <a:latin typeface="Calibri"/>
              </a:rPr>
              <a:t>–  Variances are identified only at periodic commercial meetings — long after corrective action could help.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E2E8F0"/>
                </a:solidFill>
                <a:latin typeface="Calibri"/>
              </a:rPr>
              <a:t>•  Industry 4.0 (BIM, IoT, QR capture) and BI dashboards (Power BI) show value individually, but remain siloed.</a:t>
            </a:r>
          </a:p>
          <a:p>
            <a:pPr lvl="1">
              <a:spcAft>
                <a:spcPts val="300"/>
              </a:spcAft>
            </a:pPr>
            <a:r>
              <a:rPr sz="1400">
                <a:solidFill>
                  <a:srgbClr val="94A3B8"/>
                </a:solidFill>
                <a:latin typeface="Calibri"/>
              </a:rPr>
              <a:t>–  The need: continuous, evidence-based monitoring — not retrospective reporting.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394960"/>
            <a:ext cx="347472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54864" cy="8229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550468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Triple Constraint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57972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Schedule · Cost · Scope tracked together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5394960"/>
            <a:ext cx="347472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5394960"/>
            <a:ext cx="54864" cy="8229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550468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Delayed Visibility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57972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Data fragmented and reported late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5394960"/>
            <a:ext cx="3474720" cy="82296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5394960"/>
            <a:ext cx="54864" cy="82296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550468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Our Aim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5797296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Continuous, predictive project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01 —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Three Systemic Deficiencies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56616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1. Data Fragmentation &amp; Latency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Site records, cost sheets, and baselines live in siloed applications with no unified schema. Teams manually rebuild reporting models every 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920240"/>
            <a:ext cx="3566160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2. Retrospective, Not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CPI and SPI describe historical performance. They offer no probabilistic forecast to warn of activity-level delay before the critical path slips.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1920240"/>
            <a:ext cx="3566160" cy="2926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59" y="1920240"/>
            <a:ext cx="3566160" cy="9144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59" y="2194560"/>
            <a:ext cx="3108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3. Analytics Disconnected from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971800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94A3B8"/>
                </a:solidFill>
                <a:latin typeface="Calibri"/>
              </a:rPr>
              <a:t>Advanced predictive models exist as isolated research scripts — not reproducible, containerized, auto-scaling systems.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21808"/>
            <a:ext cx="103327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  <a:latin typeface="Calibri"/>
              </a:rPr>
              <a:t>Consequence:  schedule and cost variances are discovered too late for preventive intervention — and there is no single reproducible system to fix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Chiu &amp; Russell (2011)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Construction data visualization environment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Visual frameworks improve schedule comprehension vs. Gantt charts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Schedule-only; no cost, resources, or prediction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Al-Sulaiti et al. (2021)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dashboards for EPC KPIs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reporting elevates management visibility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assessment; not predictive or cloud-native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(2022)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Digital delay-management lifecycle (DC → DA → DP)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Integrated data lifecycle is essential to cut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Conceptual architecture; no ML or containerization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Visualization and data-lifecycle work is mature — but stays descriptive and schedule-centric.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03 —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Related Work — Part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834640"/>
                <a:gridCol w="3017520"/>
                <a:gridCol w="2834640"/>
              </a:tblGrid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Key Observation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Gajera (2023)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Power BI integrated with project controls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Dynamic cost tracking; ~25% lower reporting latency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Descriptive visualization; no predictive model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Zhang &amp; Wang (2023)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Probabilistic schedule risk (SORM + softmax CPM)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Differentiable reliability finds most-probable failure point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Isolated numerical model; no ingestion or UI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E2E8F0"/>
                          </a:solidFill>
                          <a:latin typeface="Calibri"/>
                        </a:rPr>
                        <a:t>Radman et al. / RealCONs (2026)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QR + BIM + SQL + Power BI field monitoring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Strong data continuity (SPI 1.01 vs 0.89)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2E8F0"/>
                          </a:solidFill>
                          <a:latin typeface="Calibri"/>
                        </a:rPr>
                        <a:t>Deterministic EV; no predictive ML or containers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Predictive and deployment techniques exist in isolation — never combined into one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The Missing Link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1234440"/>
          </a:xfrm>
          <a:prstGeom prst="roundRect">
            <a:avLst>
              <a:gd name="adj" fmla="val 10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241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E2E8F0"/>
                </a:solidFill>
                <a:latin typeface="Calibri"/>
              </a:rPr>
              <a:t>No study presents a single, reproducible architecture that ingests heterogeneous project data, computes EVM, predicts delay risk with machine learning, visualizes results, and deploys reproducibly — all in one system.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Predictive algorithms live apart from visual business intelligence.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Fragile Pipelines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Manual, spreadsheet-bound data preparation.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352044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3520440"/>
            <a:ext cx="54864" cy="137160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1" y="3630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No Reproducibility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3922776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containerized, auto-scaling deployment architecture.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→ The platform we build closes all three gaps in one deployable system.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04 —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Seven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Unified Data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Project, activity, progress, cost, resource, KPI, risk entities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2880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5681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Validated Ingestion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FastAPI microservice rejecting malformed data (HTTP 422)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Automated EVM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CV, SV, CPI, SPI, EAC, TEAC computed in the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92608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05409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Delay-Risk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38328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ML classifiers + probabilistic reliability formulation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Multi-tier Dashboard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Executive, cost, schedule, and risk 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402336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20624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4151376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Cloud-Native Deploy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48056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+ Kubernetes with probes, HPA, persistence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120640"/>
            <a:ext cx="5349240" cy="932688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59" y="530352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38BDF8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248655"/>
            <a:ext cx="4297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Evaluation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Analytical correctness, prediction quality, deployment repeatability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05 —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End-to-End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1627632" cy="1325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5740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Data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CSV / REST / site updates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587752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2057400"/>
            <a:ext cx="1627632" cy="1325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1448" y="205740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32888" y="2240280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Ingestion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FastAPI + Pydantic validation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114800" y="2587752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79976" y="2057400"/>
            <a:ext cx="1627632" cy="1325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9976" y="2057400"/>
            <a:ext cx="1627632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240280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8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3-tier schema + views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053328" y="2587752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18504" y="2057400"/>
            <a:ext cx="1627632" cy="1325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18504" y="205740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9944" y="2240280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Analytics + 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1656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EVM + delay-risk scoring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91856" y="2587752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57031" y="2057400"/>
            <a:ext cx="1627632" cy="1325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57031" y="2057400"/>
            <a:ext cx="1627632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1" y="2240280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Curated Views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0183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Reporting-ready data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930384" y="2587752"/>
            <a:ext cx="219456" cy="274320"/>
          </a:xfrm>
          <a:prstGeom prst="right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195559" y="2057400"/>
            <a:ext cx="1627632" cy="132588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95559" y="2057400"/>
            <a:ext cx="1627632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86999" y="2240280"/>
            <a:ext cx="14447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Web UI / Power BI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8711" y="2697480"/>
            <a:ext cx="1481328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80" b="0" i="0">
                <a:solidFill>
                  <a:srgbClr val="94A3B8"/>
                </a:solidFill>
                <a:latin typeface="Calibri"/>
              </a:rPr>
              <a:t>Dashboards &amp; alerts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94760"/>
            <a:ext cx="11155680" cy="77724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931920"/>
            <a:ext cx="10789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2E8F0"/>
                </a:solidFill>
                <a:latin typeface="Calibri"/>
              </a:rPr>
              <a:t>Kubernetes orchestrates every backend service — health probes, autoscaling, persistent storage.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Separation of concerns: ingestion, storage, analytics, and presentation are independent.</a:t>
            </a:r>
          </a:p>
          <a:p>
            <a:pPr lvl="1">
              <a:spcAft>
                <a:spcPts val="300"/>
              </a:spcAft>
            </a:pPr>
            <a:r>
              <a:rPr sz="1000">
                <a:solidFill>
                  <a:srgbClr val="94A3B8"/>
                </a:solidFill>
                <a:latin typeface="Calibri"/>
              </a:rPr>
              <a:t>–  A dashboard outage never compromises data capture; analytics scales without redesign.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Power BI consumes curated views (not the live OLTP tables), keeping the BI model simple.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A Three-Tier Relational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38BDF8"/>
                </a:solidFill>
                <a:latin typeface="Calibri"/>
              </a:rPr>
              <a:t>MASTER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name · contractor · BAC · baseline 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id · WBS · trade · planned dates · budget · float · criticality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22C55E"/>
                </a:solidFill>
                <a:latin typeface="Calibri"/>
              </a:rPr>
              <a:t>TIME-SERIES (append-only)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744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ProgressUpdate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744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% complete · PV · EV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9943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CostRecord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2744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activity · timestamp · actual cost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99432" y="466344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47548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ResourceRecord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27448" y="504748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workers · equipment · 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874519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162033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0116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00">
                <a:solidFill>
                  <a:srgbClr val="F59E0B"/>
                </a:solidFill>
                <a:latin typeface="Calibri"/>
              </a:rPr>
              <a:t>COMPUTED OUTPUTS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94192" y="246888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25603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KPIResult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85292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PV · EV · AC · CV · SV · CPI · SPI · EAC · TEAC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94192" y="3566160"/>
            <a:ext cx="320040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22208" y="36576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RiskResult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3950208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94A3B8"/>
                </a:solidFill>
                <a:latin typeface="Calibri"/>
              </a:rPr>
              <a:t>delay probability · category · model version · top features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4A3B8"/>
                </a:solidFill>
                <a:latin typeface="Calibri"/>
              </a:rPr>
              <a:t>Curated SQL views (v_activity_current, v_project_summary, v_progress_trend, v_cost_trend) expose reporting-ready fields to the UI and Power BI.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Data Pipeline &amp; Earned Value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FastAPI ingestion validates every record against strict Pydantic schemas — malformed payloads are rejected with HTTP 422.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Alembic migrations build the schema; curated views are (re)applied idempotently.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The analytics worker computes EVM as of a per-project status date (midpoint of each project's reporting window).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2900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53872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9319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1788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Variance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42900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53872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9319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− PV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788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Variance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342900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39" y="353872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CPI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39" y="39319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9" y="41788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Cost Performance 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6344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477316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SPI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516635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 / PV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4132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Schedule Performance Index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466344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7316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EAC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16635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BAC / CPI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4132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Estimate At Completion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466344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39" y="477316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38BDF8"/>
                </a:solidFill>
                <a:latin typeface="Calibri"/>
              </a:rPr>
              <a:t>TEAC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9" y="5166359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Duration / SPI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9" y="54132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Time Estimate At Completion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22C55E"/>
                </a:solidFill>
                <a:latin typeface="Calibri"/>
              </a:rPr>
              <a:t>Every KPI row is verified: CV = EV − AC, SV = EV − PV, CPI = EV / AC, SPI = EV / PV.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Predictive Delay-Risk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03520" cy="182880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SUPERVISED BINARY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yᵢ = 1  if  (ActualFinishᵢ − PlannedFinishᵢ) &gt; 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τ = acceptable schedule buffer. Features: planned duration, total float, predecessor count, subcontractor delay rate, criticality, SPI trend.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8308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920240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PROBABILISTIC RELIABILITY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86000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Sᵢ = Softmax(Eⱼ)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788920"/>
            <a:ext cx="4754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 temperature-scaled softmax surrogate of the CPM max operator locates the most-probable failure point across the activity network.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77639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Three candidate classifiers compared with 5-fold cross-validation: Random Forest, Gradient Boosting, SVM.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SVM (calibrated) selected by ROC-AUC and persisted for scoring.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Every activity receives a delay probability → Low / Medium / High risk category.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38BDF8"/>
                </a:solidFill>
                <a:latin typeface="Calibri"/>
              </a:rPr>
              <a:t>Ties the predictive layer directly to project-control features — not generic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Interactive Web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FastAPI + Jinja2 + Chart.js — no build step, containerized like every other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64008" cy="1188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4231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81635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Budget, EV, AC, CPI, SPI, high-risk count; per-project 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28600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2286000"/>
            <a:ext cx="64008" cy="1188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24231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81635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Cumulative actual-cost curve; top cost overrun activities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228600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9" y="2286000"/>
            <a:ext cx="64008" cy="1188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242316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81635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Planned-vs-earned S-curve; most-delayed activities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64008" cy="1188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38404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Delay-Risk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423367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Probability histogram; top-risk activities with badges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70332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3703320"/>
            <a:ext cx="64008" cy="118872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38404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Activities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23367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Filterable explorer (project / risk / trade / critical)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59" y="3703320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9" y="3703320"/>
            <a:ext cx="64008" cy="118872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327" y="384048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 &amp; Actions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423367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30" b="0" i="0">
                <a:solidFill>
                  <a:srgbClr val="94A3B8"/>
                </a:solidFill>
                <a:latin typeface="Calibri"/>
              </a:rPr>
              <a:t>CSV upload · Recompute EVM+Risk · Retrain model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57800"/>
            <a:ext cx="10881360" cy="868680"/>
          </a:xfrm>
          <a:prstGeom prst="roundRect">
            <a:avLst>
              <a:gd name="adj" fmla="val 12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394960"/>
            <a:ext cx="104241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E2E8F0"/>
                </a:solidFill>
                <a:latin typeface="Calibri"/>
              </a:rPr>
              <a:t>One command launches everything — ./run.sh (Linux/macOS) or .\run.ps1 (Windows) → http://localhost:8080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Power BI Decision Layer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Power BI connects to curated PostgreSQL views (import or DirectQuery) — not the raw OLTP tables.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DAX measures compute cumulative PV/EV/AC curves and portfolio-level CPI/SPI.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E2E8F0"/>
                </a:solidFill>
                <a:latin typeface="Calibri"/>
              </a:rPr>
              <a:t>•  Four report pages mirror the platform's decision tiers.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Executive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 vs. EV vs. AC · CPI · SPI · high-risk count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83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547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Cost Performance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913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Budget/actual/earned curves · cost-variance trend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Schedule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Planned vs. actual · SV · SPI trend · delayed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526280"/>
            <a:ext cx="5349240" cy="987552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690872"/>
            <a:ext cx="4846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8BDF8"/>
                </a:solidFill>
                <a:latin typeface="Calibri"/>
              </a:rPr>
              <a:t>Delay-Risk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0566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94A3B8"/>
                </a:solidFill>
                <a:latin typeface="Calibri"/>
              </a:rPr>
              <a:t>Risk probability · category · contributing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94A3B8"/>
                </a:solidFill>
                <a:latin typeface="Calibri"/>
              </a:rPr>
              <a:t>Reproducible even offline: curated views export to CSV for template import.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06 —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Cloud-Native on Kubernetes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72800" cy="3794760"/>
          </a:xfrm>
          <a:prstGeom prst="roundRect">
            <a:avLst>
              <a:gd name="adj" fmla="val 4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KUBERNETES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331720"/>
            <a:ext cx="2331720" cy="7315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39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StatefulSet: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39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PostgreSQL + PVC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2 replicas · HPA 2–6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97880" y="2331720"/>
            <a:ext cx="233172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97880" y="2331720"/>
            <a:ext cx="2331720" cy="7315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Deployment: 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926079"/>
            <a:ext cx="2057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1 replica · health probes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0" y="2331720"/>
            <a:ext cx="2926080" cy="11887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2331720"/>
            <a:ext cx="292608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514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Job: 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2926079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migrate → ingest → train → verify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86200"/>
            <a:ext cx="2570378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Liveness / readiness probes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7074" y="3886200"/>
            <a:ext cx="2485339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Horizontal Pod Autoscaling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0429" y="3886200"/>
            <a:ext cx="2315260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Persistent Volume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23706" y="3886200"/>
            <a:ext cx="1719986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Secrets isolation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" y="4453128"/>
            <a:ext cx="3080613" cy="4572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0">
                <a:solidFill>
                  <a:srgbClr val="E2E8F0"/>
                </a:solidFill>
                <a:latin typeface="Calibri"/>
              </a:rPr>
              <a:t>Declarative manifests (kustomize)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Docker packages a single shared image; Kubernetes provides reproducible orchestration.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E2E8F0"/>
                </a:solidFill>
                <a:latin typeface="Calibri"/>
              </a:rPr>
              <a:t>•  Self-healing verified: a deleted ingestion pod is rescheduled in ~1 second.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07 —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Model Benchmark &amp;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00">
                <a:solidFill>
                  <a:srgbClr val="38BDF8"/>
                </a:solidFill>
                <a:latin typeface="Calibri"/>
              </a:rPr>
              <a:t>TABLE II — DELAY-RISK CLASSIFIERS (5-FOLD CV)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713232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60120"/>
                <a:gridCol w="960120"/>
                <a:gridCol w="960120"/>
                <a:gridCol w="960120"/>
                <a:gridCol w="118872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Rec.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82296" marR="54864" marT="18288" marB="18288" anchor="ctr">
                    <a:solidFill>
                      <a:srgbClr val="0B4F6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0.704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0.805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0.746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0.955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0.903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0.820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0.713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0.762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82296" marR="54864" marT="18288" marB="18288" anchor="ctr">
                    <a:solidFill>
                      <a:srgbClr val="1620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E2E8F0"/>
                          </a:solidFill>
                          <a:latin typeface="Calibri"/>
                        </a:rPr>
                        <a:t>SVM (selected)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0.849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0.791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0.811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Calibri"/>
                        </a:rPr>
                        <a:t>0.969</a:t>
                      </a:r>
                    </a:p>
                  </a:txBody>
                  <a:tcPr marL="82296" marR="54864" marT="18288" marB="18288"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22C55E"/>
                </a:solidFill>
                <a:latin typeface="Calibri"/>
              </a:rPr>
              <a:t>SVM selected by highest ROC-AUC.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737360"/>
            <a:ext cx="3931920" cy="4297680"/>
          </a:xfrm>
          <a:prstGeom prst="roundRect">
            <a:avLst>
              <a:gd name="adj" fmla="val 6000"/>
            </a:avLst>
          </a:prstGeom>
          <a:solidFill>
            <a:srgbClr val="162033"/>
          </a:solidFill>
          <a:ln w="1270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874519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22C55E"/>
                </a:solidFill>
                <a:latin typeface="Calibri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286000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228600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EVM correctness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7860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94A3B8"/>
                </a:solidFill>
                <a:latin typeface="Calibri"/>
              </a:rPr>
              <a:t>All KPI rows satisfy CV, SV, CPI, SPI identities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03580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35808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End-to-end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28415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94A3B8"/>
                </a:solidFill>
                <a:latin typeface="Calibri"/>
              </a:rPr>
              <a:t>E2E verification passes (pipeline + views)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85615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785615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Self-healing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07822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94A3B8"/>
                </a:solidFill>
                <a:latin typeface="Calibri"/>
              </a:rPr>
              <a:t>Ingestion pod rescheduled in ~1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535424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535424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Autoscaling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82803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94A3B8"/>
                </a:solidFill>
                <a:latin typeface="Calibri"/>
              </a:rPr>
              <a:t>HPA 2–6 replicas on the ingestion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285232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5285232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Reproducible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557784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94A3B8"/>
                </a:solidFill>
                <a:latin typeface="Calibri"/>
              </a:rPr>
              <a:t>One-command launch, seeded dataset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08 —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Contributions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22C55E"/>
                </a:solidFill>
                <a:latin typeface="Calibri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4864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One reproducible, cloud-native platform unifying ingestion, storage, EVM analytics, ML risk, and visualization.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Genuine EVM and a valid delay-risk classifier — enabled by an activity-level dataset with real baselines.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Calibrated SVM achieving 0.969 ROC-AUC on delay prediction.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Self-healing Kubernetes deployment with autoscaling and validated failover.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Open, one-command launch across Linux, macOS, and Windows.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F59E0B"/>
                </a:solidFill>
                <a:latin typeface="Calibr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120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Live computer-vision progress feeds from site cameras.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Embed 4D BIM models directly within the dashboard canvas.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Validate on real historical project portfolios.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Extend the risk model with schedule-network graph features.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•  Role-based access control and multi-tenant support.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60720"/>
            <a:ext cx="10881360" cy="640080"/>
          </a:xfrm>
          <a:prstGeom prst="roundRect">
            <a:avLst>
              <a:gd name="adj" fmla="val 15000"/>
            </a:avLst>
          </a:prstGeom>
          <a:solidFill>
            <a:srgbClr val="162033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52160"/>
            <a:ext cx="10424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  <a:latin typeface="Calibri"/>
              </a:rPr>
              <a:t>From retrospective reporting → continuous, evidence-based project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38912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 spc="150">
                <a:solidFill>
                  <a:srgbClr val="38BDF8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FFFFFF"/>
                </a:solidFill>
                <a:latin typeface="Calibri"/>
              </a:rPr>
              <a:t>Selected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81328"/>
            <a:ext cx="1051560" cy="5486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[1]  Chiu &amp; Russell (2011). Design of a construction management data visualization environment. Automation in Construction, 20(4), 399–417.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[2]  Al-Sulaiti et al. (2021). Using data analytics and visualization dashboards for EPC performance assessment. IEEE ICIEA, 207–211.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[3]  Radman et al. (2022). Digital technologies and data-driven delay management. Frontiers in Built Environment, 8, 1029586.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[4]  Gajera (2023). Integrating Power BI with project control systems. IJSRCE, 7(5), 154–160.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[5]  Zhang &amp; Wang (2023). Quantifying schedule delay risk with BIM and probabilistic reliability. Advances in Civil Engineering, 5525655.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[6]  Radman et al. (2026). RealCONs: digital monitoring, delay detection and visualization framework. Automation in Construction, 183, 106781.</a:t>
            </a:r>
          </a:p>
          <a:p>
            <a:pPr>
              <a:spcAft>
                <a:spcPts val="1200"/>
              </a:spcAft>
            </a:pPr>
            <a:r>
              <a:rPr sz="1250">
                <a:solidFill>
                  <a:srgbClr val="E2E8F0"/>
                </a:solidFill>
                <a:latin typeface="Calibri"/>
              </a:rPr>
              <a:t>[7]  Ghosh et al. (2024). Use of visual dashboards in construction projects. ASC Intl. Conference, EPIC Series, 5, 486–494.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CCPIP — Final-Year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