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200">
                <a:solidFill>
                  <a:srgbClr val="38BDF8"/>
                </a:solidFill>
                <a:latin typeface="Calibri"/>
              </a:rPr>
              <a:t>FINAL-YEAR PROJECT  • 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Cloud-Native Construction Project
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94A3B8"/>
                </a:solidFill>
                <a:latin typeface="Calibri"/>
              </a:rPr>
              <a:t>Predictive Delay-Risk Scoring &amp; Real-Time Performance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67328"/>
            <a:ext cx="14630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38BDF8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Hasnain Makada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268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26MML0031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43159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Sahil 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6268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26MML0049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3159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Aryan Kishor Sao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6268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26MML0046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Dept. of Computer Science &amp; Engineering  ·  Vellore Institute of Technology, Vellore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928116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88236" y="5623560"/>
            <a:ext cx="1216152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1548" y="5623560"/>
            <a:ext cx="1408176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scikit-learn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86883" y="562356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Power 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8171" y="5623560"/>
            <a:ext cx="8321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Docker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7436" y="5623560"/>
            <a:ext cx="1216152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520440" cy="91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8528" y="2240280"/>
            <a:ext cx="914400" cy="9144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375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Hasnain Makada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033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26MML0031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520440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41848" y="2240280"/>
            <a:ext cx="914400" cy="9144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375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Sahil 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7033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26MML0049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9202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920240"/>
            <a:ext cx="352044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45167" y="2240280"/>
            <a:ext cx="914400" cy="9144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3375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Aryan Kishor Sao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7033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26MML0046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68112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The project spans data engineering, analytics, machine learning, visualization, and cloud-native deployment — delivered as one integrated 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013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305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Why construction control needs a deployable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157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Problem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449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Fragmentation, retrospection, and the analytics–deployment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301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593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What prior work covers — and leaves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445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Research Gap &amp;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737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The missing link and the seven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589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881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Ingestion → storage → analytics →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830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8013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Model &amp;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1305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Schema, EVM, ML risk, web UI, 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157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Platform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449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Screenshots of the working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118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6301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Deployment 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9593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Kubernetes, benchmarks,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2628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  <a:latin typeface="Calibr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445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87375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Contributions and 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01 —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Construction project control depends on the triple constraint: schedule, cost, and scope.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Despite tools like Primavera P6 and MS Project, cost overruns and schedule slippage remain endemic.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A root cause is delayed visibility: progress and cost data are collected through manual site logs, spreadsheets, and disconnected subcontractor reports.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–  Variances are identified only at periodic commercial meetings — long after corrective action could help.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Industry 4.0 (BIM, IoT, QR capture) and BI dashboards (Power BI) show value individually, but remain siloed.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–  The need: continuous, evidence-based monitoring — not retrospective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55504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Triple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584301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Schedule · Cost · Scope tracked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544068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544068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55504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Delayed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584301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Data fragmented and reported 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44068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5440680"/>
            <a:ext cx="54864" cy="7772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555040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Our 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584301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Continuous, predictive project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01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Three Systemic Deficiencies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1. Data Fragmentation &amp;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Site records, cost sheets, and baselines live in siloed applications with no unified schema. Teams manually rebuild reporting models every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56616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 Retrospective, Not 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718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CPI and SPI describe historical performance. They offer no probabilistic forecast to warn of activity-level delay before the critical path slips.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92024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920240"/>
            <a:ext cx="3566160" cy="91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1945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3. Analytics Disconnected from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9718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Advanced predictive models exist as isolated research scripts — not reproducible, containerized, auto-scaling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60"/>
            <a:ext cx="10927080" cy="960120"/>
          </a:xfrm>
          <a:prstGeom prst="roundRect">
            <a:avLst>
              <a:gd name="adj" fmla="val 12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21808"/>
            <a:ext cx="10378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Consequence: schedule and cost variances are discovered too late for preventive intervention — and there is no single reproducible system to fix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03 —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Related Work — Part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3017520"/>
                <a:gridCol w="2834640"/>
              </a:tblGrid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Key Observation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2E8F0"/>
                          </a:solidFill>
                          <a:latin typeface="Calibri"/>
                        </a:rPr>
                        <a:t>Chiu &amp; Russell (2011)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Construction data visualization environment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Visual frameworks improve schedule comprehension vs. Gantt charts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Schedule-only; no cost, resources, or prediction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2E8F0"/>
                          </a:solidFill>
                          <a:latin typeface="Calibri"/>
                        </a:rPr>
                        <a:t>Al-Sulaiti et al. (2021)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Power BI dashboards for EPC KPIs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Dynamic reporting elevates management visibility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Descriptive assessment; not predictive or cloud-native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2E8F0"/>
                          </a:solidFill>
                          <a:latin typeface="Calibri"/>
                        </a:rPr>
                        <a:t>Radman et al. (2022)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Digital delay-management lifecycle (DC → DA → DP)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Integrated data lifecycle is essential to cut latency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Conceptual architecture; no ML or containerization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Visualization and data-lifecycle work is mature — but stays descriptive and schedule-centric.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03 —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Related Work — Part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3017520"/>
                <a:gridCol w="2834640"/>
              </a:tblGrid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Key Observation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2E8F0"/>
                          </a:solidFill>
                          <a:latin typeface="Calibri"/>
                        </a:rPr>
                        <a:t>Gajera (2023)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Power BI integrated with project controls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Dynamic cost tracking; ~25% lower reporting latency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Descriptive visualization; no predictive model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2E8F0"/>
                          </a:solidFill>
                          <a:latin typeface="Calibri"/>
                        </a:rPr>
                        <a:t>Zhang &amp; Wang (2023)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Probabilistic schedule risk (SORM + softmax CPM)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Differentiable reliability finds most-probable failure point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Isolated numerical model; no ingestion or UI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2E8F0"/>
                          </a:solidFill>
                          <a:latin typeface="Calibri"/>
                        </a:rPr>
                        <a:t>Radman et al. / RealCONs (2026)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QR + BIM + SQL + Power BI field monitoring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Strong data continuity (SPI 1.01 vs 0.89)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2E8F0"/>
                          </a:solidFill>
                          <a:latin typeface="Calibri"/>
                        </a:rPr>
                        <a:t>Deterministic EV; no predictive ML or containers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Predictive and deployment techniques exist in isolation — never combined into one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04 —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The Missing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234440"/>
          </a:xfrm>
          <a:prstGeom prst="roundRect">
            <a:avLst>
              <a:gd name="adj" fmla="val 10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287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Calibri"/>
              </a:rPr>
              <a:t>No study presents a single, reproducible architecture that ingests heterogeneous project data, computes EVM, predicts delay risk with machine learning, visualizes results, and deploys reproducibly — all in one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54864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6301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92277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Predictive algorithms live apart from visual business intelligence.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520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520440"/>
            <a:ext cx="54864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6301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Fragile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92277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Manual, spreadsheet-bound data preparation.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3520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3520440"/>
            <a:ext cx="54864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36301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Reproducibility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392277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containerized, auto-scaling deployment architecture.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alibri"/>
              </a:rPr>
              <a:t>→ The platform we build closes all three gaps in one deployable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04 —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Seven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5681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Unified 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860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Project, activity, progress, cost, resource, KPI, risk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5681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Validated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860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FastAPI microservice rejecting malformed data (HTTP 422)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1089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5409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Automated EVM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832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CV, SV, CPI, SPI, EAC, TEAC computed in the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05409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Delay-Risk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3832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ML classifiers + probabilistic reliability formulation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206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15137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Multi-tier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80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Executive, cost, schedule, and risk 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2336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15137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Cloud-Native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480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Docker + Kubernetes with probes, HPA, persistence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20640"/>
            <a:ext cx="5349240" cy="93268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30352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248655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Evaluation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577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Analytical correctness, prediction quality, deployment repeatability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05 —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39319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659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38BDF8"/>
                </a:solidFill>
                <a:latin typeface="Calibri"/>
              </a:rPr>
              <a:t>INGESTION &amp; 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7919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Core language for all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00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56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Async REST layer +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9776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2336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Strict schema validation (422)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566160" cy="39319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659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22C55E"/>
                </a:solidFill>
                <a:latin typeface="Calibri"/>
              </a:rPr>
              <a:t>STORAGE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7919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3-tier relational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200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SQLAlchemy + Alembic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456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ORM +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9776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Pandas / 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2336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EVM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7548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50109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Delay-risk classifiers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1828800"/>
            <a:ext cx="3566160" cy="39319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9659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59E0B"/>
                </a:solidFill>
                <a:latin typeface="Calibri"/>
              </a:rPr>
              <a:t>PRESENTATION &amp;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Web UI (Jinja2 + Chart.js)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67919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Interactive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200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Microsoft 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456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DAX decision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9776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2336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Reproducible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7548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Kubernetes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50109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Orchestration, HPA, probes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05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627632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9748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Calibri"/>
              </a:rPr>
              <a:t>CSV / REST / site updates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6272" y="257860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1448" y="2011680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41448" y="2011680"/>
            <a:ext cx="1627632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21284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Ingestion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9748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Calibri"/>
              </a:rPr>
              <a:t>FastAPI + Pydantic validation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257860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9976" y="2011680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2011680"/>
            <a:ext cx="1627632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21284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69748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Calibri"/>
              </a:rPr>
              <a:t>3-tier schema + views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3328" y="257860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18504" y="2011680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2011680"/>
            <a:ext cx="1627632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221284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Analytics +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69748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Calibri"/>
              </a:rPr>
              <a:t>EVM + delay-risk scoring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91856" y="257860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57031" y="2011680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1" y="2011680"/>
            <a:ext cx="1627632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221284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Curated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269748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Calibri"/>
              </a:rPr>
              <a:t>Reporting-ready data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30384" y="257860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95559" y="2011680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59" y="2011680"/>
            <a:ext cx="162763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6999" y="2212848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Web UI / 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1" y="269748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94A3B8"/>
                </a:solidFill>
                <a:latin typeface="Calibri"/>
              </a:rPr>
              <a:t>Dashboards &amp;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749039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58768"/>
            <a:ext cx="10789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Calibri"/>
              </a:rPr>
              <a:t>Kubernetes orchestrates every backend service — health probes, autoscaling, persistent storage.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Separation of concerns: ingestion, storage, analytics, and presentation are independent.</a:t>
            </a:r>
          </a:p>
          <a:p>
            <a:pPr lvl="1">
              <a:spcAft>
                <a:spcPts val="300"/>
              </a:spcAft>
            </a:pPr>
            <a:r>
              <a:rPr sz="1000">
                <a:solidFill>
                  <a:srgbClr val="94A3B8"/>
                </a:solidFill>
                <a:latin typeface="Calibri"/>
              </a:rPr>
              <a:t>–  A dashboard outage never compromises data capture; analytics scales without redesign.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Power BI consumes curated views (not the live OLTP tables), keeping the BI model simple.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06 —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A Three-Tier Relational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38BDF8"/>
                </a:solidFill>
                <a:latin typeface="Calibri"/>
              </a:rPr>
              <a:t>MASTER 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" y="246888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529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id · name · contractor · BAC · baseline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356616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57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502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id · WBS · trade · planned dates · budget · float · criticality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22C55E"/>
                </a:solidFill>
                <a:latin typeface="Calibri"/>
              </a:rPr>
              <a:t>TIME-SERIES (append-only)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246888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ProgressUpdate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8529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activity · timestamp · % complete · PV · EV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9432" y="356616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3657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CostRecord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9502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activity · timestamp · actual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9432" y="46634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47548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ResourceRecord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504748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workers · equipment · material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874519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011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59E0B"/>
                </a:solidFill>
                <a:latin typeface="Calibri"/>
              </a:rPr>
              <a:t>COMPUTED OUTPUTS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246888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2560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KPIResult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28529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PV · EV · AC · CV · SV · CPI · SPI · EAC · TEAC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356616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3657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RiskResult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9502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94A3B8"/>
                </a:solidFill>
                <a:latin typeface="Calibri"/>
              </a:rPr>
              <a:t>delay probability · category · model version · top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Curated SQL views (v_activity_current, v_project_summary, v_progress_trend, v_cost_trend) expose reporting-ready fields to the UI and Power BI.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06 —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Validated Ingestion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•  FastAPI exposes async REST endpoints for projects, activities, progress, costs, and resources.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•  Every payload is validated against strict Pydantic schemas before touching the database.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–  Malformed data is rejected with HTTP 422 — bad records never reach storage.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–  Negative budgets, finish-before-start dates, naive timestamps, and out-of-range values are all caught.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•  Records are upserted idempotently (PostgreSQL ON CONFLICT), so re-running is safe.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•  Alembic migrations build the schema; curated views are re-applied idempotently.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EF4444"/>
                </a:solidFill>
                <a:latin typeface="Calibri"/>
              </a:rPr>
              <a:t>REJECTED (HTTP 422)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6811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percent_complete = 150  ·  naive timestamp  ·  budget = -5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0292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1389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22C55E"/>
                </a:solidFill>
                <a:latin typeface="Calibri"/>
              </a:rPr>
              <a:t>ACCEPTED &amp; STORED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46811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19,317 records ingested — 0 rejected in the verified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06 —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Earned Value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The analytics worker computes EVM as of a per-project status date (midpoint of each project's reporting window).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PV/EV come from the latest progress snapshot at or before the status date; AC is cumulative cost to that date.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Indicators are persisted to KPIResult for downstream UI and Power BI consumption.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3558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490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 −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9959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Cost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461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3558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 − PV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959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Schedule Variance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2461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33558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CPI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7490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 / 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9959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Cost Performance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805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5902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SPI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983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 / PV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230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Schedule Performance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4805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5902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EAC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BAC / CPI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30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Estimate At Completion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44805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45902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Calibri"/>
              </a:rPr>
              <a:t>TEAC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983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Duration / SPI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5230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Time Estimate At Completion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2C55E"/>
                </a:solidFill>
                <a:latin typeface="Calibri"/>
              </a:rPr>
              <a:t>Every KPI row is verified: CV = EV − AC, SV = EV − PV, CPI = EV / AC, SPI = EV / PV.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06 —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Predictive Delay-Risk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SUPERVISED BINARY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yᵢ = 1  if  (ActualFinishᵢ − PlannedFinishᵢ) &gt; 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τ = acceptable schedule buffer. Features: planned duration, total float, predecessor count, subcontractor delay rate, criticality, SPI trend.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16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PROBABILISTIC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Sᵢ = Softmax(Eⱼ)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 temperature-scaled softmax surrogate of the CPM max operator locates the most-probable failure point across the activity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38BDF8"/>
                </a:solidFill>
                <a:latin typeface="Calibri"/>
              </a:rPr>
              <a:t>MODEL SELECTION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4206240"/>
          <a:ext cx="74523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  <a:gridCol w="1005840"/>
                <a:gridCol w="1005840"/>
                <a:gridCol w="12344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Acc.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Rec.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0.880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0.713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2E8F0"/>
                          </a:solidFill>
                          <a:latin typeface="Calibri"/>
                        </a:rPr>
                        <a:t>SVM (selected)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0.920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0.811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138160" y="4343400"/>
            <a:ext cx="3474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Each activity gets a delay probability → Low / Medium / High category, surfaced as early-warning alerts.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07 — LIVE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Interactive Web Dashboard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0" y="1783080"/>
            <a:ext cx="3337560" cy="4572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1783080"/>
            <a:ext cx="333756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1984248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50">
                <a:solidFill>
                  <a:srgbClr val="FFFFFF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24414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4144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Portfolio KPIs: budget, EV, 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3008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08376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CPI and SPI with colour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35753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575304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High-risk activity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41422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14223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Per-project CPI / SPI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70916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Risk distribution doughnut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3" y="1746504"/>
            <a:ext cx="7388352" cy="464515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315200" cy="457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Live dashboard — Executive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07 — LIVE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Cost &amp; Schedule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3" y="1746504"/>
            <a:ext cx="5468112" cy="344500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94960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4637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Cost — cumulative actual-cost curve + overruns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1746504"/>
            <a:ext cx="5468112" cy="344500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783080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53912" y="524637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Schedule — planned vs earned value S-curve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12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50408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Both views recompute live from PostgreSQL — no manual refresh, no spreadsheet.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07 — LIVE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Delay-Risk &amp; Activity Explorer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3" y="1746504"/>
            <a:ext cx="5468112" cy="344500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94960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4637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Delay-Risk — probability histogram + top-risk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1746504"/>
            <a:ext cx="5468112" cy="344500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activ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783080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53912" y="524637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Activities — filterable explorer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12000"/>
            </a:avLst>
          </a:prstGeom>
          <a:solidFill>
            <a:srgbClr val="162033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50408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Every activity carries a delay probability and a Low / Medium / High risk badge.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07 — LIVE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Data &amp; Actions — Full Control from the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3" y="1746504"/>
            <a:ext cx="7388352" cy="464515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Data &amp; Actions — upload, recompute, retrain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783080"/>
            <a:ext cx="3337560" cy="457200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783080"/>
            <a:ext cx="333756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984248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50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4414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4144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Upload CSV (validated via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3008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08376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Recompute EVM +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5753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75304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Retrain the ML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1422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14223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See live row 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70916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E2E8F0"/>
                </a:solidFill>
                <a:latin typeface="Calibri"/>
              </a:rPr>
              <a:t>No CLI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07 —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Decision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Power BI connects to curated PostgreSQL views (import or DirectQuery) — not the raw OLTP tables.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DAX measures compute cumulative PV/EV/AC curves and portfolio-level CPI/SPI.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E2E8F0"/>
                </a:solidFill>
                <a:latin typeface="Calibri"/>
              </a:rPr>
              <a:t>•  Four report pages mirror the platform's decision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47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13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94A3B8"/>
                </a:solidFill>
                <a:latin typeface="Calibri"/>
              </a:rPr>
              <a:t>Budget vs. EV vs. AC · CPI · SPI · high-risk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3832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47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Cost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913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94A3B8"/>
                </a:solidFill>
                <a:latin typeface="Calibri"/>
              </a:rPr>
              <a:t>Budget/actual/earned curves · cost-variance trend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Schedule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56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94A3B8"/>
                </a:solidFill>
                <a:latin typeface="Calibri"/>
              </a:rPr>
              <a:t>Planned vs. actual · SV · SPI trend · delayed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526280"/>
            <a:ext cx="5349240" cy="987552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90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Delay-Risk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56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94A3B8"/>
                </a:solidFill>
                <a:latin typeface="Calibri"/>
              </a:rPr>
              <a:t>Risk probability · category · contributing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Reproducible even offline: curated views export to CSV for template import.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08 —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Cloud-Native on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72800" cy="3794760"/>
          </a:xfrm>
          <a:prstGeom prst="roundRect">
            <a:avLst>
              <a:gd name="adj" fmla="val 4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KUBERNETES CLUSTER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2331720" cy="7315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25146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StatefulSet: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92607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PostgreSQL + PVC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31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331720"/>
            <a:ext cx="23317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5146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Deployment: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7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2 replicas · HPA 2–6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33172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2331720"/>
            <a:ext cx="23317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5146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Deployment: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92607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1 replica · health probes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33172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2331720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514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Job: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926079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migrate → ingest → train → verify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886200"/>
            <a:ext cx="2570378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E2E8F0"/>
                </a:solidFill>
                <a:latin typeface="Calibri"/>
              </a:rPr>
              <a:t>Liveness / readiness probes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7074" y="3886200"/>
            <a:ext cx="2485339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E2E8F0"/>
                </a:solidFill>
                <a:latin typeface="Calibri"/>
              </a:rPr>
              <a:t>Horizontal Pod Autoscaling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0429" y="3886200"/>
            <a:ext cx="231526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E2E8F0"/>
                </a:solidFill>
                <a:latin typeface="Calibri"/>
              </a:rPr>
              <a:t>Persistent Volume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23706" y="3886200"/>
            <a:ext cx="1719986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E2E8F0"/>
                </a:solidFill>
                <a:latin typeface="Calibri"/>
              </a:rPr>
              <a:t>Secrets isolation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453128"/>
            <a:ext cx="3080613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0">
                <a:solidFill>
                  <a:srgbClr val="E2E8F0"/>
                </a:solidFill>
                <a:latin typeface="Calibri"/>
              </a:rPr>
              <a:t>Declarative manifests (kustomize)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Docker packages a single shared image; Kubernetes provides reproducible orchestration.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Self-healing verified: a deleted ingestion pod is rescheduled in ~1 second.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08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Model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38BDF8"/>
                </a:solidFill>
                <a:latin typeface="Calibri"/>
              </a:rPr>
              <a:t>TABLE II — DELAY-RISK CLASSIFIERS (5-FOLD CV)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71323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60120"/>
                <a:gridCol w="960120"/>
                <a:gridCol w="960120"/>
                <a:gridCol w="960120"/>
                <a:gridCol w="11887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Acc.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Rec.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82296" marR="54864" marT="18288" marB="18288" anchor="ctr">
                    <a:solidFill>
                      <a:srgbClr val="0B4F6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0.880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0.704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0.713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82296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2E8F0"/>
                          </a:solidFill>
                          <a:latin typeface="Calibri"/>
                        </a:rPr>
                        <a:t>SVM (selected)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0.920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0.811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82296" marR="54864" marT="18288" marB="18288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4340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2C55E"/>
                </a:solidFill>
                <a:latin typeface="Calibri"/>
              </a:rPr>
              <a:t>SVM selected by highest ROC-AUC (0.969).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38BDF8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774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•  Accuracy alone is misleading on imbalanced delay data.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•  ROC-AUC 0.969 means strong separation of delayed vs. on-time activities.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•  F1 0.811 balances precision and recall for actionable alerts.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•  Calibrated SVM probabilities feed the risk categories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08 —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Correctness, Reliability &amp;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4008" cy="12984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93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938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EVM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alibri"/>
              </a:rPr>
              <a:t>All KPI rows satisfy CV = EV − AC, SV = EV − PV, CPI = EV / AC, SPI = EV / PV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64008" cy="12984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93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End-to-end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alibri"/>
              </a:rPr>
              <a:t>Automated E2E check passes: row counts, identities, risk bounds, non-empty 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64408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64408"/>
            <a:ext cx="64008" cy="12984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10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1071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Self-healing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6732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alibri"/>
              </a:rPr>
              <a:t>A deleted ingestion pod is rescheduled by Kubernetes in ~1 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64408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264408"/>
            <a:ext cx="64008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10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1071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Autoscaling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76732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alibri"/>
              </a:rPr>
              <a:t>HPA scales the ingestion tier between 2 and 6 replicas on CPU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45736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45736"/>
            <a:ext cx="64008" cy="12984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920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Ingestion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48656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alibri"/>
              </a:rPr>
              <a:t>19,317 records ingested, 0 rejected; malformed payloads return HTTP 422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745736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745736"/>
            <a:ext cx="64008" cy="12984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8920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920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Reproducibility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48656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alibri"/>
              </a:rPr>
              <a:t>One-command launch; seeded synthetic dataset; identical results every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08 —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One Command to Run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27080" cy="1371600"/>
          </a:xfrm>
          <a:prstGeom prst="roundRect">
            <a:avLst>
              <a:gd name="adj" fmla="val 10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38BDF8"/>
                </a:solidFill>
                <a:latin typeface="Calibri"/>
              </a:rPr>
              <a:t>LINUX / macOS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./run.sh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38BDF8"/>
                </a:solidFill>
                <a:latin typeface="Calibri"/>
              </a:rPr>
              <a:t>WINDOWS (POWERSHELL)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128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.\run.ps1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→ builds image · starts DB + API + UI · runs pipeline · prints http://localhost:8080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033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" y="40690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seeded synthetic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67712" y="3977639"/>
            <a:ext cx="164592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59736" y="356616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37033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40690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validated via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87368" y="3977639"/>
            <a:ext cx="164592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9392" y="356616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7033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40690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PostgreSQL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07024" y="3977639"/>
            <a:ext cx="164592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99048" y="356616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37033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0690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EVM metrics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26680" y="3977639"/>
            <a:ext cx="164592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18704" y="356616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2" y="37033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40690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train + score risk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46336" y="3977639"/>
            <a:ext cx="164592" cy="2286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60" y="356616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37033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40690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E2E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834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16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093208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Deliverables: source code, Docker + Kubernetes manifests, web UI, Power BI layer, tests, and full documentation — all open and reproducible.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09 —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One reproducible, cloud-native platform unifying ingestion, storage, EVM analytics, ML risk, and visualization.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Genuine EVM and a valid delay-risk classifier — enabled by an activity-level dataset with real baselines.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Calibrated SVM achieving 0.969 ROC-AUC on delay prediction.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Self-healing Kubernetes deployment with autoscaling and validated failover.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An interactive web UI plus a Power BI decision layer over curated views.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Open, one-command launch across Linux, macOS, and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2356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162033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33288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From retrospective reporting → continuous, evidence-based project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09 —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Live Vision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Computer-vision progress capture from on-site cameras.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4D BIM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Embed 4D BIM models directly within the dashboard canvas.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649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Real-World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Validate on real historical project portfolios.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0040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649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Graph Risk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Extend the risk model with schedule-network graph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823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59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Role-based access control and multi-tenant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1772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7823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Cost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66359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Probabilistic cost-overrun forecasting alongside delay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8BDF8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Selected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[1]  Chiu &amp; Russell (2011). Design of a construction management data visualization environment. Automation in Construction, 20(4), 399–417.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[2]  Al-Sulaiti et al. (2021). Using data analytics and visualization dashboards for EPC performance assessment. IEEE ICIEA, 207–211.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[3]  Radman et al. (2022). Digital technologies and data-driven delay management. Frontiers in Built Environment, 8, 1029586.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[4]  Gajera (2023). Integrating Power BI with project control systems. IJSRCE, 7(5), 154–160.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[5]  Zhang &amp; Wang (2023). Quantifying schedule delay risk with BIM and probabilistic reliability. Advances in Civil Engineering, 5525655.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[6]  Radman et al. (2026). RealCONs: digital monitoring, delay detection and visualization framework. Automation in Construction, 183, 106781.</a:t>
            </a:r>
          </a:p>
          <a:p>
            <a:pPr>
              <a:spcAft>
                <a:spcPts val="12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[7]  Ghosh et al. (2024). Use of visual dashboards in construction projects. ASC Intl. Conference, EPIC Series, 5, 486–494.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CCPIP — Final-Year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