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83" r:id="rId34"/>
    <p:sldId id="284" r:id="rId35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85" r:id="rId36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6" r:id="rId37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Introduce the team and the one-line pitch: a working, cloud-native platform for construction project controls that predicts delay risk and visualizes cost/schedule health.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member's area: Hasnain (data/platform), Sahil (analytics/ML), Aryan (architecture/visualization). Stress that it was delivered as one integrated system, not three separate pieces.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audience through the flow: why (motivation) -&gt; what's missing (gap) -&gt; how we built it -&gt; proof it works (live screenshots + results) -&gt;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Plain-language summary. If someone remembers nothing else, they should remember: 'it turns scattered project data into early warnings on a dashboard.'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the jargon before using it. EVM, PV, EV, AC, CPI, SPI, EAC and delay-risk. Point out CPI and SPI rule of thumb: &gt;1 good, &lt;1 bad.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Construction runs on the triple constraint. Despite P6/MS Project, overruns persist because data is fragmented and reported late. Industry 4.0 tools exist but are siloed.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deficiencies: fragmentation, retrospection (EVM is backward-looking), and analytics disconnected from deployment. The consequence is reacting too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Prior visualization and lifecycle work is mature but descriptive and schedule-centric. Cite Chiu &amp; Russell, Al-Sulaiti, Radman.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Predictive and deployment techniques exist (Gajera, Zhang &amp; Wang, RealCONs) but never combined. That isolation is the opening for 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single reproducible system does all of: ingest, compute EVM, predict with ML, visualize, and deploy. We close all three gaps in one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 concrete objectives mapping to the system layers. Each is testable — see the validation slide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each tool: FastAPI for async validation, PostgreSQL for ACID + time series, scikit-learn for ML, Power BI for BI, Docker/K8s for reproducibility.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data-flow arrows left to right. Emphasize separation of concerns: a dashboard outage never stops data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tiers: master entities, append-only time series, computed outputs. Curated views keep the BI model simple.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validation is real: bad payloads get HTTP 422. In the verified run, 19,317 records were ingested with 0 rejected.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six formulas are the backbone. The worker computes them as of a per-project status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numbers. CPI 0.89 = over budget, SPI 0.80 = behind, EAC forecasts an overrun. This is exactly what the platform automates.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Delay label is defined by a finish-date threshold tau. Features are project-control signals. SVM won on ROC-AUC (0.969). Softmax/MPP adds a probabilistic reliability 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real dashboard, not a mockup. Point out CPI 0.982 and SPI 0.991 and the 57 high-risk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page shows cumulative actual cost; schedule page shows planned-vs-earned S-curve. Both recompute live from the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Risk page shows the probability distribution and the top-risk list with badges; the explorer lets you filter by project, risk, trade, criticality.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&amp; Actions page: upload CSV, recompute EVM+Risk, retrain the model — all from the browser, no CLI.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Power BI is the enterprise BI layer. It reads curated views, not raw tables, and reproduces the four decision tiers with DAX.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Kubernetes gives health probes, autoscaling, and persistent storage. Self-healing was verified: a deleted pod returns in ~1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II: SVM best at ROC-AUC 0.969, F1 0.811. Explain why ROC-AUC/F1 matter more than raw accuracy on imbalanced delay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checks passed: EVM identities, E2E verification, self-healing, autoscaling, ingestion integrity, reproducibility.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command on Linux/macOS (./run.sh) or Windows (._x000D_un.ps1). The six-stage flow runs automatically and prints the dashboard URL.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contributions. The headline: one reproducible platform that unifies the whole project-control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honest: synthetic data, correlational model, baseline dependency, single-node cluster, no auth, network dependency. Each has a path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Vision feeds, 4D BIM, real-world validation, graph features, access control, cost forecasting.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citations for the literature underpinning the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200">
                <a:solidFill>
                  <a:srgbClr val="38BDF8"/>
                </a:solidFill>
                <a:latin typeface="Calibri"/>
              </a:rPr>
              <a:t>FINAL-YEAR PROJECT  •  VISUAL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Cloud-Native Construction Project
Intelligence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0" i="0">
                <a:solidFill>
                  <a:srgbClr val="94A3B8"/>
                </a:solidFill>
                <a:latin typeface="Calibri"/>
              </a:rPr>
              <a:t>Predictive Delay-Risk Scoring &amp; Real-Time Performance Analytics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146304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023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38BDF8"/>
                </a:solidFill>
                <a:latin typeface="Calibri"/>
              </a:rPr>
              <a:t>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1596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Hasnain Makada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2686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26MML0031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431596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Sahil Mall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462686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26MML0049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31596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Aryan Kishor Sao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62686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26MML0046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0749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Dept. of Computer Science &amp; Engineering  ·  Vellore Institute of Technology, Vellore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623560"/>
            <a:ext cx="928116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FastAPI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88236" y="5623560"/>
            <a:ext cx="1216152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PostgreSQL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41548" y="5623560"/>
            <a:ext cx="1408176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scikit-learn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86883" y="5623560"/>
            <a:ext cx="1024128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Power BI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8171" y="5623560"/>
            <a:ext cx="8321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Docker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17436" y="5623560"/>
            <a:ext cx="1216152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Kubernetes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Project 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3520440" cy="9144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38528" y="2240280"/>
            <a:ext cx="914400" cy="914400"/>
          </a:xfrm>
          <a:prstGeom prst="ellipse">
            <a:avLst/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375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Hasnain Makada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7033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26MML0031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92024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920240"/>
            <a:ext cx="3520440" cy="914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41848" y="2240280"/>
            <a:ext cx="914400" cy="914400"/>
          </a:xfrm>
          <a:prstGeom prst="ellipse">
            <a:avLst/>
          </a:prstGeom>
          <a:solidFill>
            <a:srgbClr val="16203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3375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Sahil Mall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7033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26MML0049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920240"/>
            <a:ext cx="3520440" cy="32004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1920240"/>
            <a:ext cx="352044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45167" y="2240280"/>
            <a:ext cx="914400" cy="914400"/>
          </a:xfrm>
          <a:prstGeom prst="ellipse">
            <a:avLst/>
          </a:prstGeom>
          <a:solidFill>
            <a:srgbClr val="162033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33375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Aryan Kishor Sao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9" y="37033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94A3B8"/>
                </a:solidFill>
                <a:latin typeface="Calibri"/>
              </a:rPr>
              <a:t>26MML0046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49240"/>
            <a:ext cx="10927080" cy="86868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468112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The project spans data engineering, analytics, machine learning, visualization, and cloud-native deployment — delivered as one integrated system.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8013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Introduction &amp;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1305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Why construction control needs a deployable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7157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Problem 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0449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Fragmentation, retrospection, and the analytics–deployment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118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6301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Literature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593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What prior work covers — and leaves open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262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5445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Research Gap &amp; Objectives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8737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The missing link and the seven objectives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406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4589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7881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Ingestion → storage → analytics → visualization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7830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18013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Data Model &amp; Implementation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1305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Schema, EVM, ML risk, web UI, Power BI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6974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7157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Live Platform Walkthrough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0449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Screenshots of the working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6118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36301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Deployment &amp; Results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39593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Kubernetes, benchmarks, 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5262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38BDF8"/>
                </a:solidFill>
                <a:latin typeface="Calibri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54456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87375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Contributions and next steps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01 —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Construction project control depends on the triple constraint: schedule, cost, and scope.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Despite tools like Primavera P6 and MS Project, cost overruns and schedule slippage remain endemic.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A root cause is delayed visibility: progress and cost data are collected through manual site logs, spreadsheets, and disconnected subcontractor reports.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94A3B8"/>
                </a:solidFill>
                <a:latin typeface="Calibri"/>
              </a:rPr>
              <a:t>–  Variances are identified only at periodic commercial meetings — long after corrective action could help.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Industry 4.0 (BIM, IoT, QR capture) and BI dashboards (Power BI) show value individually, but remain siloed.</a:t>
            </a:r>
          </a:p>
          <a:p>
            <a:pPr lvl="1">
              <a:spcAft>
                <a:spcPts val="300"/>
              </a:spcAft>
            </a:pPr>
            <a:r>
              <a:rPr sz="1300">
                <a:solidFill>
                  <a:srgbClr val="94A3B8"/>
                </a:solidFill>
                <a:latin typeface="Calibri"/>
              </a:rPr>
              <a:t>–  The need: continuous, evidence-based monitoring — not retrospective reporting.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347472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5440680"/>
            <a:ext cx="54864" cy="77724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55504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Triple Constraint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5843016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Schedule · Cost · Scope tracked together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5440680"/>
            <a:ext cx="347472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5440680"/>
            <a:ext cx="54864" cy="777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55504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Delayed Visibility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5843016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Data fragmented and reported late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5440680"/>
            <a:ext cx="3520440" cy="7772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5440680"/>
            <a:ext cx="54864" cy="7772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5550408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Our Aim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5843016"/>
            <a:ext cx="3246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Continuous, predictive project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01 —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Three Systemic Deficiencies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66160" cy="2926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356616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1. Data Fragmentation &amp; Latency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Calibri"/>
              </a:rPr>
              <a:t>Site records, cost sheets, and baselines live in siloed applications with no unified schema. Teams manually rebuild reporting models every cycle.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566160" cy="2926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920240"/>
            <a:ext cx="3566160" cy="914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1945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2. Retrospective, Not Predictive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97180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Calibri"/>
              </a:rPr>
              <a:t>CPI and SPI describe historical performance. They offer no probabilistic forecast to warn of activity-level delay before the critical path slips.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1920240"/>
            <a:ext cx="3566160" cy="2926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59" y="1920240"/>
            <a:ext cx="3566160" cy="9144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59" y="21945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3. Analytics Disconnected from Deployment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297180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Calibri"/>
              </a:rPr>
              <a:t>Advanced predictive models exist as isolated research scripts — not reproducible, containerized, auto-scaling systems.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166360"/>
            <a:ext cx="10927080" cy="96012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321808"/>
            <a:ext cx="103784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  <a:latin typeface="Calibri"/>
              </a:rPr>
              <a:t>Consequence: schedule and cost variances are discovered too late for preventive intervention — and there is no single reproducible system to fix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03 — LITERATURE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Related Work — Part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834640"/>
                <a:gridCol w="3017520"/>
                <a:gridCol w="2834640"/>
              </a:tblGrid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Key Observation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Limitation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Chiu &amp; Russell (2011)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Construction data visualization environment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Visual frameworks improve schedule comprehension vs. Gantt charts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Schedule-only; no cost, resources, or prediction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Al-Sulaiti et al. (2021)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Power BI dashboards for EPC KPIs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Dynamic reporting elevates management visibility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Descriptive assessment; not predictive or cloud-native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Radman et al. (2022)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Digital delay-management lifecycle (DC → DA → DP)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Integrated data lifecycle is essential to cut latency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Conceptual architecture; no ML or containerization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Visualization and data-lifecycle work is mature — but stays descriptive and schedule-centric.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03 — LITERATURE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Related Work — Part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834640"/>
                <a:gridCol w="3017520"/>
                <a:gridCol w="2834640"/>
              </a:tblGrid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Key Observation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Limitation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Gajera (2023)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Power BI integrated with project controls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Dynamic cost tracking; ~25% lower reporting latency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Descriptive visualization; no predictive model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Zhang &amp; Wang (2023)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Probabilistic schedule risk (SORM + softmax CPM)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Differentiable reliability finds most-probable failure point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Isolated numerical model; no ingestion or UI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Radman et al. / RealCONs (2026)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QR + BIM + SQL + Power BI field monitoring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Strong data continuity (SPI 1.01 vs 0.89)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Deterministic EV; no predictive ML or containers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Predictive and deployment techniques exist in isolation — never combined into one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04 — RESEARCH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The Missing Link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27080" cy="1234440"/>
          </a:xfrm>
          <a:prstGeom prst="roundRect">
            <a:avLst>
              <a:gd name="adj" fmla="val 10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57400"/>
            <a:ext cx="10287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  <a:latin typeface="Calibri"/>
              </a:rPr>
              <a:t>No study presents a single, reproducible architecture that ingests heterogeneous project data, computes EVM, predicts delay risk with machine learning, visualizes results, and deploys reproducibly — all in one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204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520440"/>
            <a:ext cx="54864" cy="13716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3630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3922776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Predictive algorithms live apart from visual business intelligence.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5204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3520440"/>
            <a:ext cx="54864" cy="13716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3630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Fragile Pipelines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3922776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Manual, spreadsheet-bound data preparation.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35204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59" y="3520440"/>
            <a:ext cx="54864" cy="13716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1" y="3630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No Reproducibility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1" y="3922776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No containerized, auto-scaling deployment architecture.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  <a:latin typeface="Calibri"/>
              </a:rPr>
              <a:t>→ The platform we build closes all three gaps in one deployable system.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04 —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Seven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1168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95681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Unified Data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28600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Project, activity, progress, cost, resource, KPI, risk entities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95681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Validated Ingestion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28600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FastAPI microservice rejecting malformed data (HTTP 422)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2608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1089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05409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Automated EVM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38328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CV, SV, CPI, SPI, EAC, TEAC computed in the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92608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05409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Delay-Risk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338328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ML classifiers + probabilistic reliability formulation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02336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420624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15137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Multi-tier 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48056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Executive, cost, schedule, and risk 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02336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420624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415137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Cloud-Native Deploy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48056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Docker + Kubernetes with probes, HPA, persistence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12064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59" y="530352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5248655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Evaluation Method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57784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Analytical correctness, prediction quality, deployment repeatability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05 —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566160" cy="39319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659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38BDF8"/>
                </a:solidFill>
                <a:latin typeface="Calibri"/>
              </a:rPr>
              <a:t>INGESTION &amp; COMPUTE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423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679191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Core language for all services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004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FastAPI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45643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Async REST layer +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9776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Pydantic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2336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Strict schema validation (422)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828800"/>
            <a:ext cx="3566160" cy="39319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9659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22C55E"/>
                </a:solidFill>
                <a:latin typeface="Calibri"/>
              </a:rPr>
              <a:t>STORAGE &amp;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423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2679191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3-tier relational store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32004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SQLAlchemy + Alembic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345643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ORM + migrations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39776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Pandas / NumPy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42336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EVM computation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475487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scikit-learn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501091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Delay-risk classifiers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59" y="1828800"/>
            <a:ext cx="3566160" cy="393192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7" y="19659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F59E0B"/>
                </a:solidFill>
                <a:latin typeface="Calibri"/>
              </a:rPr>
              <a:t>PRESENTATION &amp; DEPLOY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2423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Web UI (Jinja2 + Chart.js)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2679191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Interactive 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320040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Microsoft Power BI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345643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DAX decision layer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39776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9327" y="42336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Reproducible images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327" y="475487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Kubernetes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7" y="501091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Orchestration, HPA, probes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05 —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End-to-End Data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1627632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Data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CSV / REST / site updates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76272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41448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41448" y="2011680"/>
            <a:ext cx="1627632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32888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Ingestion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FastAPI + Pydantic validation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14800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79976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2011680"/>
            <a:ext cx="1627632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1416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8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3-tier schema + views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053328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18504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18504" y="2011680"/>
            <a:ext cx="1627632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9944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Analytics + 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1656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EVM + delay-risk scoring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991856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57031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57031" y="2011680"/>
            <a:ext cx="1627632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8471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Curated Views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0183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Reporting-ready data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930384" y="2578608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195559" y="2011680"/>
            <a:ext cx="1627632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95559" y="2011680"/>
            <a:ext cx="162763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86999" y="2212848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Web UI / Power BI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8711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Dashboards &amp; alerts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3749039"/>
            <a:ext cx="11155680" cy="731520"/>
          </a:xfrm>
          <a:prstGeom prst="roundRect">
            <a:avLst>
              <a:gd name="adj" fmla="val 15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858768"/>
            <a:ext cx="10789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E2E8F0"/>
                </a:solidFill>
                <a:latin typeface="Calibri"/>
              </a:rPr>
              <a:t>Kubernetes orchestrates every backend service — health probes, autoscaling, persistent storage.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7548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Separation of concerns: ingestion, storage, analytics, and presentation are independent.</a:t>
            </a:r>
          </a:p>
          <a:p>
            <a:pPr lvl="1">
              <a:spcAft>
                <a:spcPts val="300"/>
              </a:spcAft>
            </a:pPr>
            <a:r>
              <a:rPr sz="1000">
                <a:solidFill>
                  <a:srgbClr val="94A3B8"/>
                </a:solidFill>
                <a:latin typeface="Calibri"/>
              </a:rPr>
              <a:t>–  A dashboard outage never compromises data capture; analytics scales without redesign.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Power BI consumes curated views (not the live OLTP tables), keeping the BI model simple.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DATA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A Three-Tier Relational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116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38BDF8"/>
                </a:solidFill>
                <a:latin typeface="Calibri"/>
              </a:rPr>
              <a:t>MASTER ENTITIES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" y="246888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560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8529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id · name · contractor · BAC · baseline dates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" y="356616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6576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9502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id · WBS · trade · planned dates · budget · float · criticality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874519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0116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22C55E"/>
                </a:solidFill>
                <a:latin typeface="Calibri"/>
              </a:rPr>
              <a:t>TIME-SERIES (append-only)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99432" y="246888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2560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ProgressUpdate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28529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activity · timestamp · % complete · PV · EV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99432" y="356616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27448" y="36576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CostRecord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27448" y="39502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activity · timestamp · actual cost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99432" y="466344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47548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ResourceRecord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7448" y="504748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workers · equipment · material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1874519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20116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F59E0B"/>
                </a:solidFill>
                <a:latin typeface="Calibri"/>
              </a:rPr>
              <a:t>COMPUTED OUTPUTS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94192" y="246888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22208" y="2560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KPIResult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2208" y="28529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PV · EV · AC · CV · SV · CPI · SPI · EAC · TEAC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94192" y="356616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22208" y="36576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RiskResult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39502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delay probability · category · model version · top features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Curated SQL views (v_activity_current, v_project_summary, v_progress_trend, v_cost_trend) expose reporting-ready fields to the UI and Power BI.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Validated Ingestion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E2E8F0"/>
                </a:solidFill>
                <a:latin typeface="Calibri"/>
              </a:rPr>
              <a:t>•  FastAPI exposes async REST endpoints for projects, activities, progress, costs, and resources.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2E8F0"/>
                </a:solidFill>
                <a:latin typeface="Calibri"/>
              </a:rPr>
              <a:t>•  Every payload is validated against strict Pydantic schemas before touching the database.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94A3B8"/>
                </a:solidFill>
                <a:latin typeface="Calibri"/>
              </a:rPr>
              <a:t>–  Malformed data is rejected with HTTP 422 — bad records never reach storage.</a:t>
            </a:r>
          </a:p>
          <a:p>
            <a:pPr lvl="1">
              <a:spcAft>
                <a:spcPts val="300"/>
              </a:spcAft>
            </a:pPr>
            <a:r>
              <a:rPr sz="1200">
                <a:solidFill>
                  <a:srgbClr val="94A3B8"/>
                </a:solidFill>
                <a:latin typeface="Calibri"/>
              </a:rPr>
              <a:t>–  Negative budgets, finish-before-start dates, naive timestamps, and out-of-range values are all caught.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2E8F0"/>
                </a:solidFill>
                <a:latin typeface="Calibri"/>
              </a:rPr>
              <a:t>•  Records are upserted idempotently (PostgreSQL ON CONFLICT), so re-running is safe.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E2E8F0"/>
                </a:solidFill>
                <a:latin typeface="Calibri"/>
              </a:rPr>
              <a:t>•  Alembic migrations build the schema; curated views are re-applied idempotently.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029200"/>
            <a:ext cx="5303520" cy="1097280"/>
          </a:xfrm>
          <a:prstGeom prst="roundRect">
            <a:avLst>
              <a:gd name="adj" fmla="val 8000"/>
            </a:avLst>
          </a:prstGeom>
          <a:solidFill>
            <a:srgbClr val="162033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13892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EF4444"/>
                </a:solidFill>
                <a:latin typeface="Calibri"/>
              </a:rPr>
              <a:t>REJECTED (HTTP 422)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468112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percent_complete = 150  ·  naive timestamp  ·  budget = -5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5029200"/>
            <a:ext cx="5303520" cy="1097280"/>
          </a:xfrm>
          <a:prstGeom prst="roundRect">
            <a:avLst>
              <a:gd name="adj" fmla="val 8000"/>
            </a:avLst>
          </a:prstGeom>
          <a:solidFill>
            <a:srgbClr val="16203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5138928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22C55E"/>
                </a:solidFill>
                <a:latin typeface="Calibri"/>
              </a:rPr>
              <a:t>ACCEPTED &amp; STORED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5468112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19,317 records ingested — 0 rejected in the verified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Earned Value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The analytics worker computes EVM as of a per-project status date (midpoint of each project's reporting window).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PV/EV come from the latest progress snapshot at or before the status date; AC is cumulative cost to that date.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Indicators are persisted to KPIResult for downstream UI and Power BI consumption.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24612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35584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CV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7490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−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99592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Cost Variance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24612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35584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7490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− PV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99592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Schedule Variance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59" y="324612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39" y="335584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CPI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39" y="374903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/ 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39" y="399592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Cost Performance Index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8056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45902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SPI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9834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/ PV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2303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Schedule Performance Index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448056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5902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EAC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9834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BAC / CPI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2303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Estimate At Completion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59" y="448056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39" y="45902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TEAC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39" y="498348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Duration / SPI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39" y="52303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Time Estimate At Completion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22C55E"/>
                </a:solidFill>
                <a:latin typeface="Calibri"/>
              </a:rPr>
              <a:t>Every KPI row is verified: CV = EV − AC, SV = EV − PV, CPI = EV / AC, SPI = EV / PV.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Predictive Delay-Risk Modeling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303520" cy="1874519"/>
          </a:xfrm>
          <a:prstGeom prst="roundRect">
            <a:avLst>
              <a:gd name="adj" fmla="val 8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SUPERVISED BINARY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yᵢ = 1  if  (ActualFinishᵢ − PlannedFinishᵢ) &gt; 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τ = acceptable schedule buffer. Features: planned duration, total float, predecessor count, subcontractor delay rate, criticality, SPI trend.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37360"/>
            <a:ext cx="5303520" cy="1874519"/>
          </a:xfrm>
          <a:prstGeom prst="roundRect">
            <a:avLst>
              <a:gd name="adj" fmla="val 8000"/>
            </a:avLst>
          </a:prstGeom>
          <a:solidFill>
            <a:srgbClr val="16203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19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PROBABILISTIC RELIABILITY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4028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Sᵢ = Softmax(Eⱼ)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43200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 temperature-scaled softmax surrogate of the CPM max operator locates the most-probable failure point across the activity network.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4048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38BDF8"/>
                </a:solidFill>
                <a:latin typeface="Calibri"/>
              </a:rPr>
              <a:t>MODEL SELECTION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4206240"/>
          <a:ext cx="7452360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05840"/>
                <a:gridCol w="1005840"/>
                <a:gridCol w="1005840"/>
                <a:gridCol w="1005840"/>
                <a:gridCol w="123444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2E8F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0.880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0.704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0.805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0.746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0.955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2E8F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0.903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0.820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0.713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0.762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0.943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2E8F0"/>
                          </a:solidFill>
                          <a:latin typeface="Calibri"/>
                        </a:rPr>
                        <a:t>SVM (selected)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0.920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0.849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0.791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0.811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2E8F0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8138160" y="4343400"/>
            <a:ext cx="3474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Each activity gets a delay probability → Low / Medium / High category, surfaced as early-warning alerts.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LIVE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Interactive Web Dashboard —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0" y="1783080"/>
            <a:ext cx="3337560" cy="4572000"/>
          </a:xfrm>
          <a:prstGeom prst="roundRect">
            <a:avLst>
              <a:gd name="adj" fmla="val 4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0" y="1783080"/>
            <a:ext cx="3337560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0768" y="1984248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50">
                <a:solidFill>
                  <a:srgbClr val="FFFFFF"/>
                </a:solidFill>
                <a:latin typeface="Calibri"/>
              </a:rPr>
              <a:t>WHAT IT SHOWS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30768" y="244144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441448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Portfolio KPIs: budget, EV, 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0768" y="3008376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3008376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CPI and SPI with colour 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8" y="3575304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575304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High-risk activity 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0768" y="4142232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142232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Per-project CPI / SPI chart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470916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4709160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Risk distribution doughnut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3" y="1746504"/>
            <a:ext cx="7388352" cy="464515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01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7315200" cy="4572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Live dashboard — Executive Overview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LIVE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Cost &amp; Schedule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3" y="1746504"/>
            <a:ext cx="5468112" cy="344500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-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5394960" cy="33718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24637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Cost — cumulative actual-cost curve + overruns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17336" y="1746504"/>
            <a:ext cx="5468112" cy="344500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-sched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912" y="1783080"/>
            <a:ext cx="5394960" cy="33718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53912" y="524637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Schedule — planned vs earned value S-curve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440680"/>
            <a:ext cx="10908792" cy="7772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50408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Both views recompute live from PostgreSQL — no manual refresh, no spreadsheet.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LIVE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Delay-Risk &amp; Activity Explorer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3" y="1746504"/>
            <a:ext cx="5468112" cy="344500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5394960" cy="33718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24637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Delay-Risk — probability histogram + top-risk list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17336" y="1746504"/>
            <a:ext cx="5468112" cy="344500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5-activi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912" y="1783080"/>
            <a:ext cx="5394960" cy="33718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53912" y="524637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Activities — filterable explorer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440680"/>
            <a:ext cx="10908792" cy="7772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50408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Every activity carries a delay probability and a Low / Medium / High risk badge.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LIVE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Data &amp; Actions — Full Control from the UI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3" y="1746504"/>
            <a:ext cx="7388352" cy="4645152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73152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94A3B8"/>
                </a:solidFill>
                <a:latin typeface="Calibri"/>
              </a:rPr>
              <a:t>Data &amp; Actions — upload, recompute, retrain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783080"/>
            <a:ext cx="3337560" cy="4572000"/>
          </a:xfrm>
          <a:prstGeom prst="roundRect">
            <a:avLst>
              <a:gd name="adj" fmla="val 4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0" y="1783080"/>
            <a:ext cx="3337560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0768" y="1984248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50">
                <a:solidFill>
                  <a:srgbClr val="FFFFFF"/>
                </a:solidFill>
                <a:latin typeface="Calibri"/>
              </a:rPr>
              <a:t>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0768" y="244144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441448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Upload CSV (validated via 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3008376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008376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Recompute EVM +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0768" y="3575304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3575304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Retrain the ML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4142232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142232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See live row counts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8" y="4709160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709160"/>
            <a:ext cx="2697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E2E8F0"/>
                </a:solidFill>
                <a:latin typeface="Calibri"/>
              </a:rPr>
              <a:t>No CLI required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Decision Layer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Power BI connects to curated PostgreSQL views (import or DirectQuery) — not the raw OLTP tables.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DAX measures compute cumulative PV/EV/AC curves and portfolio-level CPI/SPI.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Four report pages mirror the platform's decision tiers.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83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47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Executive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913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Budget vs. EV vs. AC · CPI · SPI · high-risk count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383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547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Cost Performance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913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Budget/actual/earned curves · cost-variance trend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526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690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Schedule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56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Planned vs. actual · SV · SPI trend · delayed list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526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690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Delay-Risk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056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Risk probability · category · contributing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94A3B8"/>
                </a:solidFill>
                <a:latin typeface="Calibri"/>
              </a:rPr>
              <a:t>Reproducible even offline: curated views export to CSV for template import.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08 —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Cloud-Native on Kubernetes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72800" cy="3794760"/>
          </a:xfrm>
          <a:prstGeom prst="roundRect">
            <a:avLst>
              <a:gd name="adj" fmla="val 4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KUBERNETES CLUSTER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331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331720"/>
            <a:ext cx="2331720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39" y="25146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StatefulSet: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39" y="2926079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PostgreSQL + PVC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2331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2331720"/>
            <a:ext cx="2331720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5146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Deployment: ingestion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926079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2 replicas · HPA 2–6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97880" y="2331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97880" y="2331720"/>
            <a:ext cx="2331720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Deployment: web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926079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1 replica · health probes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2331720"/>
            <a:ext cx="292608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0" y="2331720"/>
            <a:ext cx="292608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2514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Job: pipeline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926079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migrate → ingest → train → verify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3886200"/>
            <a:ext cx="2570378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Liveness / readiness probes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7074" y="3886200"/>
            <a:ext cx="2485339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Horizontal Pod Autoscaling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0429" y="3886200"/>
            <a:ext cx="2315260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Persistent Volume Claims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23706" y="3886200"/>
            <a:ext cx="1719986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Secrets isolation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4453128"/>
            <a:ext cx="3080613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Declarative manifests (kustomize)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669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Docker packages a single shared image; Kubernetes provides reproducible orchestration.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Self-healing verified: a deleted ingestion pod is rescheduled in ~1 second.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08 —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Model Benchmark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38BDF8"/>
                </a:solidFill>
                <a:latin typeface="Calibri"/>
              </a:rPr>
              <a:t>TABLE II — DELAY-RISK CLASSIFIERS (5-FOLD CV)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713232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960120"/>
                <a:gridCol w="960120"/>
                <a:gridCol w="960120"/>
                <a:gridCol w="960120"/>
                <a:gridCol w="118872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E2E8F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0.880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0.704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0.805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0.746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0.955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E2E8F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0.903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0.820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0.713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0.762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0.943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E2E8F0"/>
                          </a:solidFill>
                          <a:latin typeface="Calibri"/>
                        </a:rPr>
                        <a:t>SVM (selected)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0.920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0.849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0.791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0.811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34340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22C55E"/>
                </a:solidFill>
                <a:latin typeface="Calibri"/>
              </a:rPr>
              <a:t>SVM selected by highest ROC-AUC (0.969).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737360"/>
            <a:ext cx="5120640" cy="420624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92024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38BDF8"/>
                </a:solidFill>
                <a:latin typeface="Calibri"/>
              </a:rPr>
              <a:t>WHY IT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377440"/>
            <a:ext cx="4663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Accuracy alone is misleading on imbalanced delay data.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ROC-AUC 0.969 means strong separation of delayed vs. on-time activities.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F1 0.811 balances precision and recall for actionable alerts.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Calibrated SVM probabilities feed the risk categories directly.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08 —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Correctness, Reliability &amp; Reproducibility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64008" cy="12984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938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38BDF8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29384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EVM correctness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8600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All KPI rows satisfy CV = EV − AC, SV = EV − PV, CPI = EV / AC, SPI = EV / PV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64008" cy="129844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92938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929384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End-to-end verification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28600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Automated E2E check passes: row counts, identities, risk bounds, non-empty views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64408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264408"/>
            <a:ext cx="64008" cy="129844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41071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41071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Self-healing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76732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A deleted ingestion pod is rescheduled by Kubernetes in ~1 second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264408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264408"/>
            <a:ext cx="64008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41071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59E0B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410712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Autoscaling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76732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HPA scales the ingestion tier between 2 and 6 replicas on CPU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745736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45736"/>
            <a:ext cx="64008" cy="12984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89204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38BDF8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48920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Ingestion integrity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248656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19,317 records ingested, 0 rejected; malformed payloads return HTTP 422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745736"/>
            <a:ext cx="5349240" cy="129844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745736"/>
            <a:ext cx="64008" cy="129844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892040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48920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Reproducibility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5248656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One-command launch; seeded synthetic dataset; identical results every run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08 —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One Command to Run Everything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27080" cy="1371600"/>
          </a:xfrm>
          <a:prstGeom prst="roundRect">
            <a:avLst>
              <a:gd name="adj" fmla="val 10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38BDF8"/>
                </a:solidFill>
                <a:latin typeface="Calibri"/>
              </a:rPr>
              <a:t>LINUX / macOS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onsolas"/>
              </a:rPr>
              <a:t>./run.sh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92024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00">
                <a:solidFill>
                  <a:srgbClr val="38BDF8"/>
                </a:solidFill>
                <a:latin typeface="Calibri"/>
              </a:rPr>
              <a:t>WINDOWS (POWERSHELL)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128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onsolas"/>
              </a:rPr>
              <a:t>.\run.ps1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→ builds image · starts DB + API + UI · runs pipeline · prints http://localhost:8080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Generate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1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seeded synthetic data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267712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59736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9464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Ingest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32888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validated via API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087368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279392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Store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2544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PostgreSQL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07024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99048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08776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Analyse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EVM metrics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726680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18704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28432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Predict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91856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train + score risk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546336" y="3977639"/>
            <a:ext cx="164592" cy="22860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38360" y="3566160"/>
            <a:ext cx="160020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48088" y="370332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Calibri"/>
              </a:rPr>
              <a:t>Verify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1512" y="406908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E2E checks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983480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093208"/>
            <a:ext cx="104241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Deliverables: source code, Docker + Kubernetes manifests, web UI, Power BI layer, tests, and full documentation — all open and reproducible.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09 —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One reproducible, cloud-native platform unifying ingestion, storage, EVM analytics, ML risk, and visualization.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Genuine EVM and a valid delay-risk classifier — enabled by an activity-level dataset with real baselines.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Calibrated SVM achieving 0.969 ROC-AUC on delay prediction.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Self-healing Kubernetes deployment with autoscaling and validated failover.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An interactive web UI plus a Power BI decision layer over curated views.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E2E8F0"/>
                </a:solidFill>
                <a:latin typeface="Calibri"/>
              </a:rPr>
              <a:t>•  Open, one-command launch across Linux, macOS, and Windows.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623560"/>
            <a:ext cx="10927080" cy="731520"/>
          </a:xfrm>
          <a:prstGeom prst="roundRect">
            <a:avLst>
              <a:gd name="adj" fmla="val 15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733288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  <a:latin typeface="Calibri"/>
              </a:rPr>
              <a:t>From retrospective reporting → continuous, evidence-based project control.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09 —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476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Live Vision Feeds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Computer-vision progress capture from on-site cameras.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8308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476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4D BIM 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3172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Embed 4D BIM models directly within the dashboard canvas.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0040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3649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Real-World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49039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Validate on real historical project portfolios.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20040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6499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Graph Risk 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49039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Extend the risk model with schedule-network graph features.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61772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78231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Access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166359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Role-based access control and multi-tenant support.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617720"/>
            <a:ext cx="5349240" cy="1207008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78231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Cost Forecasting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166359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Probabilistic cost-overrun forecasting alongside delay risk.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Selected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[1]  Chiu &amp; Russell (2011). Design of a construction management data visualization environment. Automation in Construction, 20(4), 399–417.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[2]  Al-Sulaiti et al. (2021). Using data analytics and visualization dashboards for EPC performance assessment. IEEE ICIEA, 207–211.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[3]  Radman et al. (2022). Digital technologies and data-driven delay management. Frontiers in Built Environment, 8, 1029586.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[4]  Gajera (2023). Integrating Power BI with project control systems. IJSRCE, 7(5), 154–160.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[5]  Zhang &amp; Wang (2023). Quantifying schedule delay risk with BIM and probabilistic reliability. Advances in Civil Engineering, 5525655.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[6]  Radman et al. (2026). RealCONs: digital monitoring, delay detection and visualization framework. Automation in Construction, 183, 106781.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[7]  Ghosh et al. (2024). Use of visual dashboards in construction projects. ASC Intl. Conference, EPIC Series, 5, 486–494.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Project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2E8F0"/>
                </a:solidFill>
                <a:latin typeface="Calibri"/>
              </a:rPr>
              <a:t>In one sentence: we built a working web platform that watches a construction project's cost and schedule in near real time, predicts which activities will run late, and shows it all on a dashboard.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146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514600"/>
            <a:ext cx="73152" cy="105156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42616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EF4444"/>
                </a:solidFill>
                <a:latin typeface="Calibri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642616"/>
            <a:ext cx="8138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Project teams learn about cost overruns and delays too late — data lives in spreadsheets, and analytics is disconnected from the tools people actually use.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0332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703320"/>
            <a:ext cx="73152" cy="105156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831335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38BDF8"/>
                </a:solidFill>
                <a:latin typeface="Calibri"/>
              </a:rPr>
              <a:t>WHAT WE BUILT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831335"/>
            <a:ext cx="8138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A containerized system: a validated API ingests project data, a database stores it, analytics compute standard project-control metrics, a model predicts delay risk, and a web dashboard (plus Power BI) presents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9204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892040"/>
            <a:ext cx="73152" cy="105156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20055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22C55E"/>
                </a:solidFill>
                <a:latin typeface="Calibri"/>
              </a:rPr>
              <a:t>WHY IT MATTERS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5020055"/>
            <a:ext cx="8138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E2E8F0"/>
                </a:solidFill>
                <a:latin typeface="Calibri"/>
              </a:rPr>
              <a:t>Managers get an early warning and a single, trustworthy view — instead of reconstructing reports by hand every cycle.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8BDF8"/>
                </a:solidFill>
                <a:latin typeface="Calibri"/>
              </a:rPr>
              <a:t>Everything is reproducible: one command builds and runs the whole platform, on Linux, macOS, or Windows.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Key Concepts (Plain Language)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984248"/>
            <a:ext cx="822960" cy="5486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EVM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9019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Earned Value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194560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 standard way to measure project health by comparing planned work, work actually done, and money spent.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1984248"/>
            <a:ext cx="822960" cy="5486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PV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019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Planned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2194560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The budgeted cost of the work that should be done by a given date.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880360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7240" y="3081528"/>
            <a:ext cx="822960" cy="5486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EV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99923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Earned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291840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The budgeted cost of the work actually completed by that date.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880360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0" y="3081528"/>
            <a:ext cx="822960" cy="5486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AC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99923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Actual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3291840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The real money spent so far.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977639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178807"/>
            <a:ext cx="822960" cy="5486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CPI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096511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Cost Performance Index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389120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EV / AC. Above 1 = under budget; below 1 = over budget.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977639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0" y="4178807"/>
            <a:ext cx="822960" cy="5486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SPI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20" y="4096511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Schedule Performance Index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4389120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EV / PV. Above 1 = ahead of schedule; below 1 = behind.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074920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7240" y="5276088"/>
            <a:ext cx="822960" cy="5486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EAC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51937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Estimate At Completion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7360" y="5486400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 forecast of the final project cost based on current performance.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5074920"/>
            <a:ext cx="5349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400800" y="5276088"/>
            <a:ext cx="822960" cy="54864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>
                <a:solidFill>
                  <a:srgbClr val="38BDF8"/>
                </a:solidFill>
                <a:latin typeface="Calibri"/>
              </a:rPr>
              <a:t>Delay Risk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0920" y="51937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Predictive score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5486400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 model's probability (0–1) that an activity will finish later than planned.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Worked Example: Reading the Metrics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  <a:latin typeface="Calibri"/>
              </a:rPr>
              <a:t>Suppose one activity has a budget (BAC) of ₹100,000 and is planned to be 50% done today.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349240" cy="2011680"/>
          </a:xfrm>
          <a:prstGeom prst="roundRect">
            <a:avLst>
              <a:gd name="adj" fmla="val 6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38BDF8"/>
                </a:solidFill>
                <a:latin typeface="Calibri"/>
              </a:rPr>
              <a:t>THE INPUTS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PV (planned value)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69748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38BDF8"/>
                </a:solidFill>
                <a:latin typeface="Calibri"/>
              </a:rPr>
              <a:t>₹50,000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5351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half the budget should be earned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EV (earned value)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2004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38BDF8"/>
                </a:solidFill>
                <a:latin typeface="Calibri"/>
              </a:rPr>
              <a:t>₹40,000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45643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only 40% actually completed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703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AC (actual cost)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70332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38BDF8"/>
                </a:solidFill>
                <a:latin typeface="Calibri"/>
              </a:rPr>
              <a:t>₹45,000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we have spent ₹45k so far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194560"/>
            <a:ext cx="5303520" cy="2011680"/>
          </a:xfrm>
          <a:prstGeom prst="roundRect">
            <a:avLst>
              <a:gd name="adj" fmla="val 6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33172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22C55E"/>
                </a:solidFill>
                <a:latin typeface="Calibri"/>
              </a:rPr>
              <a:t>THE INTERPRETATION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E2E8F0"/>
                </a:solidFill>
                <a:latin typeface="Calibri"/>
              </a:rPr>
              <a:t>CPI = 40,000 / 45,000 = 0.89  →  over budget
SPI = 40,000 / 50,000 = 0.80  →  behind schedule
SV  = 40,000 − 50,000 = −10,000  →  ₹10k of work behind
EAC = 100,000 / 0.89 ≈ ₹112,000  →  forecast overrun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34840"/>
            <a:ext cx="10927080" cy="12344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57200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F59E0B"/>
                </a:solidFill>
                <a:latin typeface="Calibri"/>
              </a:rPr>
              <a:t>WHAT A MANAGER SEES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892040"/>
            <a:ext cx="104241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  <a:latin typeface="Calibri"/>
              </a:rPr>
              <a:t>Two red flags on one activity: cost is trending ~12% over, and work is ~20% behind. The platform surfaces exactly this, per activity and rolled up per project.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85216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  <a:latin typeface="Calibri"/>
              </a:rPr>
              <a:t>This is the manual arithmetic the platform automates for every activity, every time data changes.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09 —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Honest Boundaries of the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12344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202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Synthetic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258568"/>
            <a:ext cx="4937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The bundled data is generated, not real. It has realistic structure and a valid delay label, but real megaprojects may need model recalibration.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83080"/>
            <a:ext cx="5349240" cy="12344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9202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Model, not causality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2258568"/>
            <a:ext cx="4937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The classifier predicts delay probability from features; it does not prove why an activity is late.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00400"/>
            <a:ext cx="5349240" cy="12344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33375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EVM needs baselines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675887"/>
            <a:ext cx="4937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Genuine EVM requires planned values and budgets. The original source CSVs lacked these — hence the generator.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200400"/>
            <a:ext cx="5349240" cy="12344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33375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Single-node scope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3675887"/>
            <a:ext cx="4937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Kubernetes was validated on a local (minikube) cluster, not a production multi-node cloud.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617720"/>
            <a:ext cx="5349240" cy="12344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47548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No authentication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" y="5093208"/>
            <a:ext cx="4937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The web UI is open by design for demonstration; production needs role-based access control.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617720"/>
            <a:ext cx="5349240" cy="12344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47548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  <a:latin typeface="Calibri"/>
              </a:rPr>
              <a:t>Network dependency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5093208"/>
            <a:ext cx="4937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Live sync assumes connectivity; remote sites would need offline queuing.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190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