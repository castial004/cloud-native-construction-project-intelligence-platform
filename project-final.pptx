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200">
                <a:solidFill>
                  <a:srgbClr val="38BDF8"/>
                </a:solidFill>
                <a:latin typeface="Calibri"/>
              </a:rPr>
              <a:t>FINAL-YEAR PROJECT  •  VISUAL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Cloud-Native Construction Project
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94A3B8"/>
                </a:solidFill>
                <a:latin typeface="Calibri"/>
              </a:rPr>
              <a:t>Predictive Delay-Risk Scoring &amp; Real-Time Performance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146304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38BDF8"/>
                </a:solidFill>
                <a:latin typeface="Calibri"/>
              </a:rP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Hasnain Makada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Sahil Mall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Aryan Kishor Sao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074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Dept. of Computer Science &amp; Engineering  ·  Bhilati Institute of Technology, Durg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623560"/>
            <a:ext cx="928116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FastAPI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8236" y="5623560"/>
            <a:ext cx="1216152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PostgreSQL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1548" y="5623560"/>
            <a:ext cx="1408176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86883" y="5623560"/>
            <a:ext cx="102412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Power BI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8171" y="5623560"/>
            <a:ext cx="8321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Docker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17436" y="5623560"/>
            <a:ext cx="1216152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Kubernetes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Project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520440" cy="914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38528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Hasnain Makada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20240"/>
            <a:ext cx="3520440" cy="914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41848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Sahil Mall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26MML0049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920240"/>
            <a:ext cx="352044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45167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Aryan Kishor Sao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26MML0046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49240"/>
            <a:ext cx="10927080" cy="86868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46811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The project spans data engineering, analytics, machine learning, visualization, and cloud-native deployment — delivered as one integrated system.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013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Introduction &amp;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305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Why construction control needs a deployable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157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Problem 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449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Fragmentation, retrospection, and the analytics–deployment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301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Literature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593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What prior work covers — and leaves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445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Research Gap &amp; Objectives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8737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The missing link and the seven objectives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406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4589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7881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Ingestion → storage → analytics → visualization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7830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18013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Data Model &amp; Implementation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1305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Schema, EVM, ML risk, web UI, Power BI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6974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7157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Live Platform Walkthrough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0449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Screenshots of the working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6118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6301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Deployment &amp;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9593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Kubernetes, benchmarks,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5262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445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8737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Contributions and next steps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01 —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Construction project control depends on the triple constraint: schedule, cost, and scope.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Despite tools like Primavera P6 and MS Project, cost overruns and schedule slippage remain endemic.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A root cause is delayed visibility: progress and cost data are collected through manual site logs, spreadsheets, and disconnected subcontractor reports.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94A3B8"/>
                </a:solidFill>
                <a:latin typeface="Calibri"/>
              </a:rPr>
              <a:t>–  Variances are identified only at periodic commercial meetings — long after corrective action could help.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Industry 4.0 (BIM, IoT, QR capture) and BI dashboards (Power BI) show value individually, but remain siloed.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94A3B8"/>
                </a:solidFill>
                <a:latin typeface="Calibri"/>
              </a:rPr>
              <a:t>–  The need: continuous, evidence-based monitoring — not retrospective reporting.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34747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5440680"/>
            <a:ext cx="54864" cy="7772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55504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Triple 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5843016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Schedule · Cost · Scope tracked together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5440680"/>
            <a:ext cx="34747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5440680"/>
            <a:ext cx="54864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55504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Delayed Visibility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5843016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Data fragmented and reported late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5440680"/>
            <a:ext cx="352044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5440680"/>
            <a:ext cx="54864" cy="7772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555040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Our Aim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5843016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Continuous, predictive project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01 —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Three Systemic Deficiencies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56616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1. Data Fragmentation &amp; Latency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Site records, cost sheets, and baselines live in siloed applications with no unified schema. Teams manually rebuild reporting models every cycle.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920240"/>
            <a:ext cx="3566160" cy="914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 Retrospective, Not Predictive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CPI and SPI describe historical performance. They offer no probabilistic forecast to warn of activity-level delay before the critical path slips.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59" y="1920240"/>
            <a:ext cx="3566160" cy="914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59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3. Analytics Disconnected from 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Advanced predictive models exist as isolated research scripts — not reproducible, containerized, auto-scaling systems.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66360"/>
            <a:ext cx="10927080" cy="96012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21808"/>
            <a:ext cx="10378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Consequence: schedule and cost variances are discovered too late for preventive intervention — and there is no single reproducible system to fix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03 —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Related Work — Part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017520"/>
                <a:gridCol w="283464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Key Observation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Chiu &amp; Russell (2011)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Construction data visualization environment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Visual frameworks improve schedule comprehension vs. Gantt charts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Schedule-only; no cost, resources, or prediction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Al-Sulaiti et al. (2021)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Power BI dashboards for EPC KPIs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Dynamic reporting elevates management visibility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Descriptive assessment; not predictive or cloud-native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Radman et al. (2022)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Digital delay-management lifecycle (DC → DA → DP)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Integrated data lifecycle is essential to cut latency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Conceptual architecture; no ML or containerization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Visualization and data-lifecycle work is mature — but stays descriptive and schedule-centric.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03 —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Related Work — Part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017520"/>
                <a:gridCol w="283464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Key Observation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Gajera (2023)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Power BI integrated with project controls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Dynamic cost tracking; ~25% lower reporting latency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Descriptive visualization; no predictive model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Zhang &amp; Wang (2023)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Probabilistic schedule risk (SORM + softmax CPM)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Differentiable reliability finds most-probable failure point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Isolated numerical model; no ingestion or UI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Radman et al. / RealCONs (2026)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QR + BIM + SQL + Power BI field monitoring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Strong data continuity (SPI 1.01 vs 0.89)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Deterministic EV; no predictive ML or containers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Predictive and deployment techniques exist in isolation — never combined into one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04 —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The Missing Link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27080" cy="1234440"/>
          </a:xfrm>
          <a:prstGeom prst="roundRect">
            <a:avLst>
              <a:gd name="adj" fmla="val 10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10287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  <a:latin typeface="Calibri"/>
              </a:rPr>
              <a:t>No study presents a single, reproducible architecture that ingests heterogeneous project data, computes EVM, predicts delay risk with machine learning, visualizes results, and deploys reproducibly — all in one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Predictive algorithms live apart from visual business intelligence.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Fragile Pipelines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Manual, spreadsheet-bound data preparation.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1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No Reproducibility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1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No containerized, auto-scaling deployment architecture.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Calibri"/>
              </a:rPr>
              <a:t>→ The platform we build closes all three gaps in one deployable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04 —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Seven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5681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Unified Data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860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Project, activity, progress, cost, resource, KPI, risk entities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5681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Validated 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2860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FastAPI microservice rejecting malformed data (HTTP 422)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2608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1089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5409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Automated EVM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832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CV, SV, CPI, SPI, EAC, TEAC computed in the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92608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05409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Delay-Risk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3832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ML classifiers + probabilistic reliability formulation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02336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420624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15137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Multi-tier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4805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Executive, cost, schedule, and risk 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02336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20624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15137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Cloud-Native 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4805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Docker + Kubernetes with probes, HPA, persistence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12064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530352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248655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Evaluation Method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57784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Analytical correctness, prediction quality, deployment repeatability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05 —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INGESTION &amp; COMPUTE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Core language for all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Async REST layer +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Pydantic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Strict schema validation (422)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22C55E"/>
                </a:solidFill>
                <a:latin typeface="Calibri"/>
              </a:rPr>
              <a:t>STORAGE &amp;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3-tier relational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SQLAlchemy + Alembic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ORM + migrations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Pandas / NumPy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EVM computation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475487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scikit-learn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50109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Delay-risk classifiers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59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F59E0B"/>
                </a:solidFill>
                <a:latin typeface="Calibri"/>
              </a:rPr>
              <a:t>PRESENTATION &amp; 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Web UI (Jinja2 + Chart.js)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Interactive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Microsoft Power BI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DAX decision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Reproducible images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7" y="475487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Kubernetes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7" y="50109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Orchestration, HPA, probes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05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End-to-End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Data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CSV / REST / site updates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76272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41448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41448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32888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Ingestion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FastAPI + Pydantic validation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9976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1416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3-tier schema + views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53328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18504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2011680"/>
            <a:ext cx="1627632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9944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Analytics + 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EVM + delay-risk scoring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91856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57031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57031" y="2011680"/>
            <a:ext cx="1627632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8471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Curated Views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3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Reporting-ready data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930384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195559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95559" y="2011680"/>
            <a:ext cx="162763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86999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Web UI / Power BI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8711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Dashboards &amp; alerts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3749039"/>
            <a:ext cx="11155680" cy="731520"/>
          </a:xfrm>
          <a:prstGeom prst="roundRect">
            <a:avLst>
              <a:gd name="adj" fmla="val 15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858768"/>
            <a:ext cx="10789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E2E8F0"/>
                </a:solidFill>
                <a:latin typeface="Calibri"/>
              </a:rPr>
              <a:t>Kubernetes orchestrates every backend service — health probes, autoscaling, persistent storage.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Separation of concerns: ingestion, storage, analytics, and presentation are independent.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94A3B8"/>
                </a:solidFill>
                <a:latin typeface="Calibri"/>
              </a:rPr>
              <a:t>–  A dashboard outage never compromises data capture; analytics scales without redesign.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Power BI consumes curated views (not the live OLTP tables), keeping the BI model simple.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A Three-Tier Relational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MASTER ENTITIES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id · name · contractor · BAC · baseline dates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id · WBS · trade · planned dates · budget · float · criticality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22C55E"/>
                </a:solidFill>
                <a:latin typeface="Calibri"/>
              </a:rPr>
              <a:t>TIME-SERIES (append-only)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99432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ProgressUpdate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activity · timestamp · % complete · PV · EV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99432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744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CostRecord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744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activity · timestamp · actual cost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99432" y="466344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47548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ResourceRecord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504748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workers · equipment · material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F59E0B"/>
                </a:solidFill>
                <a:latin typeface="Calibri"/>
              </a:rPr>
              <a:t>COMPUTED OUTPUTS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94192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2220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KPIResult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PV · EV · AC · CV · SV · CPI · SPI · EAC · TEAC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94192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RiskResult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delay probability · category · model version · top features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Curated SQL views (v_activity_current, v_project_summary, v_progress_trend, v_cost_trend) expose reporting-ready fields to the UI and Power BI.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Validated Ingestion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FastAPI exposes async REST endpoints for projects, activities, progress, costs, and resources.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Every payload is validated against strict Pydantic schemas before touching the database.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94A3B8"/>
                </a:solidFill>
                <a:latin typeface="Calibri"/>
              </a:rPr>
              <a:t>–  Malformed data is rejected with HTTP 422 — bad records never reach storage.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94A3B8"/>
                </a:solidFill>
                <a:latin typeface="Calibri"/>
              </a:rPr>
              <a:t>–  Negative budgets, finish-before-start dates, naive timestamps, and out-of-range values are all caught.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Records are upserted idempotently (PostgreSQL ON CONFLICT), so re-running is safe.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Alembic migrations build the schema; curated views are re-applied idempotently.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1389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EF4444"/>
                </a:solidFill>
                <a:latin typeface="Calibri"/>
              </a:rPr>
              <a:t>REJECTED (HTTP 422)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6811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percent_complete = 150  ·  naive timestamp  ·  budget = -5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502920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51389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22C55E"/>
                </a:solidFill>
                <a:latin typeface="Calibri"/>
              </a:rPr>
              <a:t>ACCEPTED &amp; STORED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546811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19,317 records ingested — 0 rejected in the verified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Earned Value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The analytics worker computes EVM as of a per-project status date (midpoint of each project's reporting window).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PV/EV come from the latest progress snapshot at or before the status date; AC is cumulative cost to that date.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Indicators are persisted to KPIResult for downstream UI and Power BI consumption.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CV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−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Cost Variance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− PV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Schedule Variance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39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CPI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39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/ 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9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Cost Performance Index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SPI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/ PV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Schedule Performance Index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EAC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BAC / CPI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Estimate At Completion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59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39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TEAC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9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Duration / SPI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39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Time Estimate At Completion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22C55E"/>
                </a:solidFill>
                <a:latin typeface="Calibri"/>
              </a:rPr>
              <a:t>Every KPI row is verified: CV = EV − AC, SV = EV − PV, CPI = EV / AC, SPI = EV / PV.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Predictive Delay-Risk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03520" cy="1874519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SUPERVISED BINARY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yᵢ = 1  if  (ActualFinishᵢ − PlannedFinishᵢ) &gt; 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τ = acceptable schedule buffer. Features: planned duration, total float, predecessor count, subcontractor delay rate, criticality, SPI trend.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37360"/>
            <a:ext cx="5303520" cy="1874519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PROBABILISTIC RELIABILITY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Sᵢ = Softmax(Eⱼ)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 temperature-scaled softmax surrogate of the CPM max operator locates the most-probable failure point across the activity network.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38BDF8"/>
                </a:solidFill>
                <a:latin typeface="Calibri"/>
              </a:rPr>
              <a:t>MODEL SELECTION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4206240"/>
          <a:ext cx="745236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005840"/>
                <a:gridCol w="1005840"/>
                <a:gridCol w="1005840"/>
                <a:gridCol w="123444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0.704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0.805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0.746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0.955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0.903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0.820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0.713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SVM (selected)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0.920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0.849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0.811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8138160" y="4343400"/>
            <a:ext cx="3474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Each activity gets a delay probability → Low / Medium / High category, surfaced as early-warning alerts.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Interactive Web Dashboard —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0" y="1783080"/>
            <a:ext cx="3337560" cy="457200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1783080"/>
            <a:ext cx="333756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0768" y="1984248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50">
                <a:solidFill>
                  <a:srgbClr val="FFFFFF"/>
                </a:solidFill>
                <a:latin typeface="Calibri"/>
              </a:rPr>
              <a:t>WHAT IT SHOWS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30768" y="244144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441448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Portfolio KPIs: budget, EV, 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3008376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008376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CPI and SPI with colour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3575304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575304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High-risk activity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4142232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142232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Per-project CPI / SPI 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47091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709160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Risk distribution doughnut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3" y="1746504"/>
            <a:ext cx="7388352" cy="464515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1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7315200" cy="4572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Live dashboard — Executive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Cost &amp; Schedule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-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394960" cy="3371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Cost — cumulative actual-cost curve + overruns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17336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783080"/>
            <a:ext cx="5394960" cy="3371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53912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Schedule — planned vs earned value S-curve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440680"/>
            <a:ext cx="10908792" cy="7772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Both views recompute live from PostgreSQL — no manual refresh, no spreadsheet.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Delay-Risk &amp; Activity Explorer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394960" cy="3371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Delay-Risk — probability histogram + top-risk 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17336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-activ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783080"/>
            <a:ext cx="5394960" cy="3371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53912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Activities — filterable explorer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440680"/>
            <a:ext cx="10908792" cy="7772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Every activity carries a delay probability and a Low / Medium / High risk badge.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Data &amp; Actions — Full Control from the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7388352" cy="464515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73152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Data &amp; Actions — upload, recompute, retrain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783080"/>
            <a:ext cx="3337560" cy="457200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0" y="1783080"/>
            <a:ext cx="3337560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984248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50">
                <a:solidFill>
                  <a:srgbClr val="FFFFFF"/>
                </a:solidFill>
                <a:latin typeface="Calibri"/>
              </a:rPr>
              <a:t>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244144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41448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Upload CSV (validated via 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3008376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008376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Recompute EVM +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3575304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575304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Retrain the ML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4142232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142232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See live row counts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47091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709160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No CLI required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Decision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Power BI connects to curated PostgreSQL views (import or DirectQuery) — not the raw OLTP tables.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DAX measures compute cumulative PV/EV/AC curves and portfolio-level CPI/SPI.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Four report pages mirror the platform's decision tiers.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47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Executive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13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Budget vs. EV vs. AC · CPI · SPI · high-risk count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383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547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Cost 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913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Budget/actual/earned curves · cost-variance trend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90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Schedule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Planned vs. actual · SV · SPI trend · delayed 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526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690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Delay-Risk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056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Risk probability · category · contributing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94A3B8"/>
                </a:solidFill>
                <a:latin typeface="Calibri"/>
              </a:rPr>
              <a:t>Reproducible even offline: curated views export to CSV for template import.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Cloud-Native on Kubernetes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72800" cy="379476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KUBERNETES CLUSTER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331720"/>
            <a:ext cx="2331720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39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StatefulSet: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39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PostgreSQL + PVC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2331720"/>
            <a:ext cx="233172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Deployment: ingestion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2 replicas · HPA 2–6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97880" y="2331720"/>
            <a:ext cx="233172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Deployment: 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1 replica · health probes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2331720"/>
            <a:ext cx="292608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2331720"/>
            <a:ext cx="292608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514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Job: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926079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migrate → ingest → train → verify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3886200"/>
            <a:ext cx="2570378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Liveness / readiness probes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7074" y="3886200"/>
            <a:ext cx="2485339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Horizontal Pod Autoscaling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0429" y="3886200"/>
            <a:ext cx="2315260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Persistent Volume 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23706" y="3886200"/>
            <a:ext cx="1719986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Secrets isolation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4453128"/>
            <a:ext cx="3080613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Declarative manifests (kustomize)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Docker packages a single shared image; Kubernetes provides reproducible orchestration.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Self-healing verified: a deleted ingestion pod is rescheduled in ~1 second.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Model Benchmark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38BDF8"/>
                </a:solidFill>
                <a:latin typeface="Calibri"/>
              </a:rPr>
              <a:t>TABLE II — DELAY-RISK CLASSIFIERS (5-FOLD CV)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713232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60120"/>
                <a:gridCol w="960120"/>
                <a:gridCol w="960120"/>
                <a:gridCol w="960120"/>
                <a:gridCol w="118872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0.704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0.805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0.746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0.955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0.903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0.820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0.713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SVM (selected)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0.920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0.849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0.811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34340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22C55E"/>
                </a:solidFill>
                <a:latin typeface="Calibri"/>
              </a:rPr>
              <a:t>SVM selected by highest ROC-AUC (0.969).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120640" cy="42062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92024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37744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Accuracy alone is misleading on imbalanced delay data.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ROC-AUC 0.969 means strong separation of delayed vs. on-time activities.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F1 0.811 balances precision and recall for actionable alerts.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Calibrated SVM probabilities feed the risk categories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Correctness, Reliability &amp; Reproducibility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64008" cy="12984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9384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EVM 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8600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All KPI rows satisfy CV = EV − AC, SV = EV − PV, CPI = EV / AC, SPI = EV / PV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293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929384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End-to-end verification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28600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Automated E2E check passes: row counts, identities, risk bounds, non-empty views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64408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264408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410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41071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Self-healing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76732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 deleted ingestion pod is rescheduled by Kubernetes in ~1 second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264408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264408"/>
            <a:ext cx="64008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410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41071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Autoscaling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76732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HPA scales the ingestion tier between 2 and 6 replicas on CPU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45736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45736"/>
            <a:ext cx="64008" cy="12984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9204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8920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Ingestion integrity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248656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19,317 records ingested, 0 rejected; malformed payloads return HTTP 422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745736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745736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89204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8920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Reproducibility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248656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One-command launch; seeded synthetic dataset; identical results every run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One Command to Run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27080" cy="1371600"/>
          </a:xfrm>
          <a:prstGeom prst="roundRect">
            <a:avLst>
              <a:gd name="adj" fmla="val 10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38BDF8"/>
                </a:solidFill>
                <a:latin typeface="Calibri"/>
              </a:rPr>
              <a:t>LINUX / macOS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nsolas"/>
              </a:rPr>
              <a:t>./run.sh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202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38BDF8"/>
                </a:solidFill>
                <a:latin typeface="Calibri"/>
              </a:rPr>
              <a:t>WINDOWS (POWERSHELL)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128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nsolas"/>
              </a:rPr>
              <a:t>._x000D_un.ps1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→ builds image · starts DB + API + UI · runs pipeline · prints http://localhost:8080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Generate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1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seeded synthetic data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267712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59736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9464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Ingest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2888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validated via API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087368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79392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PostgreSQL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07024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99048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08776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Analyse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EVM metrics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726680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18704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2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Predict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1856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train + score risk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46336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38360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48088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Verify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1512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E2E checks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9834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093208"/>
            <a:ext cx="10424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Deliverables: source code, Docker + Kubernetes manifests, web UI, Power BI layer, tests, and full documentation — all open and reproducible.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09 —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One reproducible, cloud-native platform unifying ingestion, storage, EVM analytics, ML risk, and visualization.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Genuine EVM and a valid delay-risk classifier — enabled by an activity-level dataset with real baselines.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Calibrated SVM achieving 0.969 ROC-AUC on delay prediction.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Self-healing Kubernetes deployment with autoscaling and validated failover.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An interactive web UI plus a Power BI decision layer over curated views.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Open, one-command launch across Linux, macOS, and Windows.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62356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733288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  <a:latin typeface="Calibri"/>
              </a:rPr>
              <a:t>From retrospective reporting → continuous, evidence-based project control.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09 —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476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Live Vision Feeds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Computer-vision progress capture from on-site cameras.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476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4D BIM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Embed 4D BIM models directly within the dashboard canvas.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649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Real-World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Validate on real historical project portfolios.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20040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649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Graph Risk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4903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Extend the risk model with schedule-network graph features.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823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Access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16635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Role-based access control and multi-tenant support.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61772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7823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Cost Forecasting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16635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Probabilistic cost-overrun forecasting alongside delay risk.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Selected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[1]  Chiu &amp; Russell (2011). Design of a construction management data visualization environment. Automation in Construction, 20(4), 399–417.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[2]  Al-Sulaiti et al. (2021). Using data analytics and visualization dashboards for EPC performance assessment. IEEE ICIEA, 207–211.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[3]  Radman et al. (2022). Digital technologies and data-driven delay management. Frontiers in Built Environment, 8, 1029586.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[4]  Gajera (2023). Integrating Power BI with project control systems. IJSRCE, 7(5), 154–160.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[5]  Zhang &amp; Wang (2023). Quantifying schedule delay risk with BIM and probabilistic reliability. Advances in Civil Engineering, 5525655.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[6]  Radman et al. (2026). RealCONs: digital monitoring, delay detection and visualization framework. Automation in Construction, 183, 106781.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[7]  Ghosh et al. (2024). Use of visual dashboards in construction projects. ASC Intl. Conference, EPIC Series, 5, 486–494.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